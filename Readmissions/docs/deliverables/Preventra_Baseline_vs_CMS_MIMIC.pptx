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282B"/>
                </a:solidFill>
                <a:latin typeface="Calibri"/>
              </a:defRPr>
            </a:pPr>
            <a:r>
              <a:rPr sz="1200" b="0" i="0" u="none" strike="noStrike">
                <a:solidFill>
                  <a:srgbClr val="16282B"/>
                </a:solidFill>
                <a:latin typeface="Calibri"/>
              </a:rPr>
              <a:t>30-day readmission rate by subgroup  (cohort 19.7%)</a:t>
            </a:r>
          </a:p>
        </c:rich>
      </c:tx>
      <c:layout/>
      <c:overlay val="0"/>
    </c:title>
    <c:autoTitleDeleted val="0"/>
    <c:plotArea>
      <c:layout/>
      <c:barChart>
        <c:barDir val="bar"/>
        <c:grouping val="clustered"/>
        <c:varyColors val="0"/>
        <c:ser>
          <c:idx val="0"/>
          <c:order val="0"/>
          <c:tx>
            <c:strRef>
              <c:f>Sheet1!$B$1</c:f>
              <c:strCache>
                <c:ptCount val="1"/>
                <c:pt idx="0">
                  <c:v>30-day readmission rate</c:v>
                </c:pt>
              </c:strCache>
            </c:strRef>
          </c:tx>
          <c:spPr>
            <a:solidFill>
              <a:srgbClr val="028090"/>
            </a:solidFill>
            <a:effectLst/>
          </c:spPr>
          <c:invertIfNegative val="0"/>
          <c:dLbls>
            <c:numFmt formatCode="0.0&quot;%&quot;" sourceLinked="0"/>
            <c:txPr>
              <a:bodyPr/>
              <a:lstStyle/>
              <a:p>
                <a:pPr>
                  <a:defRPr b="0" i="0" strike="noStrike" sz="1000" u="none">
                    <a:solidFill>
                      <a:srgbClr val="16282B"/>
                    </a:solidFill>
                    <a:latin typeface="Calibri"/>
                  </a:defRPr>
                </a:pPr>
              </a:p>
            </c:txPr>
            <c:dLblPos val="outEnd"/>
            <c:showLegendKey val="0"/>
            <c:showVal val="1"/>
            <c:showCatName val="0"/>
            <c:showSerName val="0"/>
            <c:showPercent val="0"/>
            <c:showBubbleSize val="0"/>
            <c:showLeaderLines val="0"/>
          </c:dLbls>
          <c:cat>
            <c:multiLvlStrRef>
              <c:f>Sheet1!$A$2:$A$10</c:f>
              <c:multiLvlStrCache>
                <c:ptCount val="9"/>
                <c:lvl>
                  <c:pt idx="0">
                    <c:v>APR-DRG severity 1</c:v>
                  </c:pt>
                  <c:pt idx="1">
                    <c:v>Prior stays 0</c:v>
                  </c:pt>
                  <c:pt idx="2">
                    <c:v>Discharged home</c:v>
                  </c:pt>
                  <c:pt idx="3">
                    <c:v>Home health care</c:v>
                  </c:pt>
                  <c:pt idx="4">
                    <c:v>APR-DRG severity 4</c:v>
                  </c:pt>
                  <c:pt idx="5">
                    <c:v>LOS 14 days+</c:v>
                  </c:pt>
                  <c:pt idx="6">
                    <c:v>Left against advice</c:v>
                  </c:pt>
                  <c:pt idx="7">
                    <c:v>Prior stays 6+</c:v>
                  </c:pt>
                  <c:pt idx="8">
                    <c:v>Psych facility</c:v>
                  </c:pt>
                </c:lvl>
              </c:multiLvlStrCache>
            </c:multiLvlStrRef>
          </c:cat>
          <c:val>
            <c:numRef>
              <c:f>Sheet1!$B$2:$B$10</c:f>
              <c:numCache>
                <c:formatCode>General</c:formatCode>
                <c:ptCount val="9"/>
                <c:pt idx="0">
                  <c:v>10.6</c:v>
                </c:pt>
                <c:pt idx="1">
                  <c:v>13.7</c:v>
                </c:pt>
                <c:pt idx="2">
                  <c:v>15.9</c:v>
                </c:pt>
                <c:pt idx="3">
                  <c:v>24</c:v>
                </c:pt>
                <c:pt idx="4">
                  <c:v>27.4</c:v>
                </c:pt>
                <c:pt idx="5">
                  <c:v>28.5</c:v>
                </c:pt>
                <c:pt idx="6">
                  <c:v>34.3</c:v>
                </c:pt>
                <c:pt idx="7">
                  <c:v>36.5</c:v>
                </c:pt>
                <c:pt idx="8">
                  <c:v>51.6</c:v>
                </c:pt>
              </c:numCache>
            </c:numRef>
          </c:val>
        </c:ser>
        <c:dLbls>
          <c:numFmt formatCode="0.0&quot;%&quot;" sourceLinked="0"/>
          <c:txPr>
            <a:bodyPr/>
            <a:lstStyle/>
            <a:p>
              <a:pPr>
                <a:defRPr b="0" i="0" strike="noStrike" sz="1000" u="none">
                  <a:solidFill>
                    <a:srgbClr val="16282B"/>
                  </a:solidFill>
                  <a:latin typeface="Calibri"/>
                </a:defRPr>
              </a:pPr>
            </a:p>
          </c:txPr>
          <c:dLblPos val="outEnd"/>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E7175"/>
                </a:solidFill>
                <a:latin typeface="Calibri"/>
              </a:defRPr>
            </a:pPr>
            <a:endParaRPr lang="en-US"/>
          </a:p>
        </c:txPr>
        <c:crossAx val="2094734552"/>
        <c:crosses val="autoZero"/>
        <c:auto val="1"/>
        <c:lblAlgn val="ctr"/>
        <c:noMultiLvlLbl val="1"/>
      </c:catAx>
      <c:valAx>
        <c:axId val="2094734552"/>
        <c:scaling>
          <c:orientation val="minMax"/>
          <c:max val="60"/>
        </c:scaling>
        <c:delete val="0"/>
        <c:axPos val="b"/>
        <c:majorGridlines>
          <c:spPr>
            <a:ln w="12700" cap="flat">
              <a:solidFill>
                <a:srgbClr val="E3EA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E7175"/>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82B"/>
                </a:solidFill>
                <a:latin typeface="Calibri"/>
              </a:defRPr>
            </a:pPr>
            <a:r>
              <a:rPr sz="1300" b="0" i="0" u="none" strike="noStrike">
                <a:solidFill>
                  <a:srgbClr val="16282B"/>
                </a:solidFill>
                <a:latin typeface="Calibri"/>
              </a:rPr>
              <a:t>AUC-ROC by evaluation cohort</a:t>
            </a:r>
          </a:p>
        </c:rich>
      </c:tx>
      <c:layout/>
      <c:overlay val="0"/>
    </c:title>
    <c:autoTitleDeleted val="0"/>
    <c:plotArea>
      <c:layout/>
      <c:barChart>
        <c:barDir val="col"/>
        <c:grouping val="clustered"/>
        <c:varyColors val="0"/>
        <c:ser>
          <c:idx val="0"/>
          <c:order val="0"/>
          <c:tx>
            <c:strRef>
              <c:f>Sheet1!$B$1</c:f>
              <c:strCache>
                <c:ptCount val="1"/>
                <c:pt idx="0">
                  <c:v>AUC-ROC</c:v>
                </c:pt>
              </c:strCache>
            </c:strRef>
          </c:tx>
          <c:spPr>
            <a:solidFill>
              <a:srgbClr val="00A896"/>
            </a:solidFill>
            <a:effectLst/>
          </c:spPr>
          <c:invertIfNegative val="0"/>
          <c:dLbls>
            <c:numFmt formatCode="0.000" sourceLinked="0"/>
            <c:txPr>
              <a:bodyPr/>
              <a:lstStyle/>
              <a:p>
                <a:pPr>
                  <a:defRPr b="0" i="0" strike="noStrike" sz="1100" u="none">
                    <a:solidFill>
                      <a:srgbClr val="16282B"/>
                    </a:solidFill>
                    <a:latin typeface="Calibri"/>
                  </a:defRPr>
                </a:pPr>
              </a:p>
            </c:txPr>
            <c:showLegendKey val="0"/>
            <c:showVal val="1"/>
            <c:showCatName val="0"/>
            <c:showSerName val="0"/>
            <c:showPercent val="0"/>
            <c:showBubbleSize val="0"/>
            <c:showLeaderLines val="0"/>
          </c:dLbls>
          <c:dPt>
            <c:idx val="0"/>
            <c:invertIfNegative val="0"/>
            <c:bubble3D val="0"/>
            <c:spPr>
              <a:solidFill>
                <a:srgbClr val="00A896"/>
              </a:solidFill>
              <a:effectLst/>
            </c:spPr>
          </c:dPt>
          <c:dPt>
            <c:idx val="1"/>
            <c:invertIfNegative val="0"/>
            <c:bubble3D val="0"/>
            <c:spPr>
              <a:solidFill>
                <a:srgbClr val="028090"/>
              </a:solidFill>
              <a:effectLst/>
            </c:spPr>
          </c:dPt>
          <c:dPt>
            <c:idx val="2"/>
            <c:invertIfNegative val="0"/>
            <c:bubble3D val="0"/>
            <c:spPr>
              <a:solidFill>
                <a:srgbClr val="00A896"/>
              </a:solidFill>
              <a:effectLst/>
            </c:spPr>
          </c:dPt>
          <c:dPt>
            <c:idx val="3"/>
            <c:invertIfNegative val="0"/>
            <c:bubble3D val="0"/>
            <c:spPr>
              <a:solidFill>
                <a:srgbClr val="00A896"/>
              </a:solidFill>
              <a:effectLst/>
            </c:spPr>
          </c:dPt>
          <c:dPt>
            <c:idx val="4"/>
            <c:invertIfNegative val="0"/>
            <c:bubble3D val="0"/>
            <c:spPr>
              <a:solidFill>
                <a:srgbClr val="00A896"/>
              </a:solidFill>
              <a:effectLst/>
            </c:spPr>
          </c:dPt>
          <c:cat>
            <c:multiLvlStrRef>
              <c:f>Sheet1!$A$2:$A$6</c:f>
              <c:multiLvlStrCache>
                <c:ptCount val="5"/>
                <c:lvl>
                  <c:pt idx="0">
                    <c:v>Baseline UCI
DecisionTree</c:v>
                  </c:pt>
                  <c:pt idx="1">
                    <c:v>MIMIC test fold
all 94 features</c:v>
                  </c:pt>
                  <c:pt idx="2">
                    <c:v>Control retrain
39 mapped features</c:v>
                  </c:pt>
                  <c:pt idx="3">
                    <c:v>Shared feature
subset</c:v>
                  </c:pt>
                  <c:pt idx="4">
                    <c:v>New population,
as-is</c:v>
                  </c:pt>
                </c:lvl>
              </c:multiLvlStrCache>
            </c:multiLvlStrRef>
          </c:cat>
          <c:val>
            <c:numRef>
              <c:f>Sheet1!$B$2:$B$6</c:f>
              <c:numCache>
                <c:formatCode>General</c:formatCode>
                <c:ptCount val="5"/>
                <c:pt idx="0">
                  <c:v>0.706</c:v>
                </c:pt>
                <c:pt idx="1">
                  <c:v>0.723</c:v>
                </c:pt>
                <c:pt idx="2">
                  <c:v>0.67</c:v>
                </c:pt>
                <c:pt idx="3">
                  <c:v>0.662</c:v>
                </c:pt>
                <c:pt idx="4">
                  <c:v>0.544</c:v>
                </c:pt>
              </c:numCache>
            </c:numRef>
          </c:val>
        </c:ser>
        <c:dLbls>
          <c:numFmt formatCode="0.000" sourceLinked="0"/>
          <c:txPr>
            <a:bodyPr/>
            <a:lstStyle/>
            <a:p>
              <a:pPr>
                <a:defRPr b="0" i="0" strike="noStrike" sz="1100" u="none">
                  <a:solidFill>
                    <a:srgbClr val="16282B"/>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7175"/>
                </a:solidFill>
                <a:latin typeface="Calibri"/>
              </a:defRPr>
            </a:pPr>
            <a:endParaRPr lang="en-US"/>
          </a:p>
        </c:txPr>
        <c:crossAx val="2094734552"/>
        <c:crosses val="autoZero"/>
        <c:auto val="1"/>
        <c:lblAlgn val="ctr"/>
        <c:noMultiLvlLbl val="1"/>
      </c:catAx>
      <c:valAx>
        <c:axId val="2094734552"/>
        <c:scaling>
          <c:orientation val="minMax"/>
          <c:max val="0.78"/>
          <c:min val="0.5"/>
        </c:scaling>
        <c:delete val="0"/>
        <c:axPos val="l"/>
        <c:majorGridlines>
          <c:spPr>
            <a:ln w="12700" cap="flat">
              <a:solidFill>
                <a:srgbClr val="E3EA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7175"/>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compares the Preventra-Readmission-Denovonet repository (the handover state) with the current Preventra-CMS-MIMIC project. Every figure was read from the two working trees, their git histories, and the model artefacts on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Calibration ratio 1.01 means mean predicted risk matches observed rate almost exactly. The logistic baseline in the same run scored 2.37, which is why calibration was made an explicit training metric rather than an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api/main.py shed 292 lines of superseded scoring code in this phase, replaced by two focused modules: api/mimic_scoring.py and models/mimic_drivers.py.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behind this slide, including the full observation-cadence measurements, is in data/Mimic_samples/mimic_eda_findings.md.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E36"/>
        </a:solidFill>
      </p:bgPr>
    </p:bg>
    <p:spTree>
      <p:nvGrpSpPr>
        <p:cNvPr id="1" name=""/>
        <p:cNvGrpSpPr/>
        <p:nvPr/>
      </p:nvGrpSpPr>
      <p:grpSpPr>
        <a:xfrm>
          <a:off x="0" y="0"/>
          <a:ext cx="0" cy="0"/>
          <a:chOff x="0" y="0"/>
          <a:chExt cx="0" cy="0"/>
        </a:xfrm>
      </p:grpSpPr>
      <p:sp>
        <p:nvSpPr>
          <p:cNvPr id="2" name="Shape 0"/>
          <p:cNvSpPr/>
          <p:nvPr/>
        </p:nvSpPr>
        <p:spPr>
          <a:xfrm>
            <a:off x="8686800" y="-1371600"/>
            <a:ext cx="5120640" cy="5120640"/>
          </a:xfrm>
          <a:prstGeom prst="ellipse">
            <a:avLst/>
          </a:prstGeom>
          <a:solidFill>
            <a:srgbClr val="12414A"/>
          </a:solidFill>
          <a:ln/>
        </p:spPr>
      </p:sp>
      <p:sp>
        <p:nvSpPr>
          <p:cNvPr id="3" name="Shape 1"/>
          <p:cNvSpPr/>
          <p:nvPr/>
        </p:nvSpPr>
        <p:spPr>
          <a:xfrm>
            <a:off x="10149840" y="4023360"/>
            <a:ext cx="3108960" cy="3108960"/>
          </a:xfrm>
          <a:prstGeom prst="ellipse">
            <a:avLst/>
          </a:prstGeom>
          <a:solidFill>
            <a:srgbClr val="0F3A42"/>
          </a:solidFill>
          <a:ln/>
        </p:spPr>
      </p:sp>
      <p:sp>
        <p:nvSpPr>
          <p:cNvPr id="4" name="Text 2"/>
          <p:cNvSpPr txBox="1"/>
          <p:nvPr/>
        </p:nvSpPr>
        <p:spPr>
          <a:xfrm>
            <a:off x="566928" y="1371600"/>
            <a:ext cx="7863840" cy="274320"/>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PROJECT COMPARISON  ·  01 SEPTEMBER 2026</a:t>
            </a:r>
            <a:endParaRPr lang="en-US" sz="1200" dirty="0"/>
          </a:p>
        </p:txBody>
      </p:sp>
      <p:sp>
        <p:nvSpPr>
          <p:cNvPr id="5" name="Text 3"/>
          <p:cNvSpPr txBox="1"/>
          <p:nvPr/>
        </p:nvSpPr>
        <p:spPr>
          <a:xfrm>
            <a:off x="566928" y="1783080"/>
            <a:ext cx="7863840" cy="8686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Preventra</a:t>
            </a:r>
            <a:endParaRPr lang="en-US" sz="5400" dirty="0"/>
          </a:p>
        </p:txBody>
      </p:sp>
      <p:sp>
        <p:nvSpPr>
          <p:cNvPr id="6" name="Text 4"/>
          <p:cNvSpPr txBox="1"/>
          <p:nvPr/>
        </p:nvSpPr>
        <p:spPr>
          <a:xfrm>
            <a:off x="566928" y="2697480"/>
            <a:ext cx="8503920" cy="457200"/>
          </a:xfrm>
          <a:prstGeom prst="rect">
            <a:avLst/>
          </a:prstGeom>
          <a:noFill/>
          <a:ln/>
        </p:spPr>
        <p:txBody>
          <a:bodyPr wrap="square" lIns="0" tIns="0" rIns="0" bIns="0" rtlCol="0" anchor="ctr"/>
          <a:lstStyle/>
          <a:p>
            <a:pPr indent="0" marL="0">
              <a:buNone/>
            </a:pPr>
            <a:r>
              <a:rPr lang="en-US" sz="2200" dirty="0">
                <a:solidFill>
                  <a:srgbClr val="02C39A"/>
                </a:solidFill>
                <a:latin typeface="Cambria" pitchFamily="34" charset="0"/>
                <a:ea typeface="Cambria" pitchFamily="34" charset="-122"/>
                <a:cs typeface="Cambria" pitchFamily="34" charset="-120"/>
              </a:rPr>
              <a:t>From the Denovonet baseline to the MIMIC-IV rebuild</a:t>
            </a:r>
            <a:endParaRPr lang="en-US" sz="2200" dirty="0"/>
          </a:p>
        </p:txBody>
      </p:sp>
      <p:sp>
        <p:nvSpPr>
          <p:cNvPr id="7" name="Text 5"/>
          <p:cNvSpPr txBox="1"/>
          <p:nvPr/>
        </p:nvSpPr>
        <p:spPr>
          <a:xfrm>
            <a:off x="566928" y="3291840"/>
            <a:ext cx="7498080" cy="731520"/>
          </a:xfrm>
          <a:prstGeom prst="rect">
            <a:avLst/>
          </a:prstGeom>
          <a:noFill/>
          <a:ln/>
        </p:spPr>
        <p:txBody>
          <a:bodyPr wrap="square" lIns="0" tIns="0" rIns="0" bIns="0" rtlCol="0" anchor="ctr"/>
          <a:lstStyle/>
          <a:p>
            <a:pPr indent="0" marL="0">
              <a:lnSpc>
                <a:spcPts val="2100"/>
              </a:lnSpc>
              <a:buNone/>
            </a:pPr>
            <a:r>
              <a:rPr lang="en-US" sz="1400" dirty="0">
                <a:solidFill>
                  <a:srgbClr val="AECFD1"/>
                </a:solidFill>
                <a:latin typeface="Calibri" pitchFamily="34" charset="0"/>
                <a:ea typeface="Calibri" pitchFamily="34" charset="-122"/>
                <a:cs typeface="Calibri" pitchFamily="34" charset="-120"/>
              </a:rPr>
              <a:t>What the handed-over project delivered, what has been built on top of it, and what the evidence says about both.</a:t>
            </a:r>
            <a:endParaRPr lang="en-US" sz="1400" dirty="0"/>
          </a:p>
        </p:txBody>
      </p:sp>
      <p:sp>
        <p:nvSpPr>
          <p:cNvPr id="8" name="Text 6"/>
          <p:cNvSpPr txBox="1"/>
          <p:nvPr/>
        </p:nvSpPr>
        <p:spPr>
          <a:xfrm>
            <a:off x="566928" y="4709160"/>
            <a:ext cx="868680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Baseline   </a:t>
            </a:r>
            <a:pPr indent="0" marL="0">
              <a:buNone/>
            </a:pPr>
            <a:r>
              <a:rPr lang="en-US" sz="1200" dirty="0">
                <a:solidFill>
                  <a:srgbClr val="8FB3B5"/>
                </a:solidFill>
                <a:latin typeface="Calibri" pitchFamily="34" charset="0"/>
                <a:ea typeface="Calibri" pitchFamily="34" charset="-122"/>
                <a:cs typeface="Calibri" pitchFamily="34" charset="-120"/>
              </a:rPr>
              <a:t>denovonet/Preventra-Readmission  ·  28 commits  ·  Mar–Aug 2026</a:t>
            </a:r>
            <a:endParaRPr lang="en-US" sz="1200" dirty="0"/>
          </a:p>
        </p:txBody>
      </p:sp>
      <p:sp>
        <p:nvSpPr>
          <p:cNvPr id="9" name="Text 7"/>
          <p:cNvSpPr txBox="1"/>
          <p:nvPr/>
        </p:nvSpPr>
        <p:spPr>
          <a:xfrm>
            <a:off x="566928" y="5074920"/>
            <a:ext cx="868680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Current    </a:t>
            </a:r>
            <a:pPr indent="0" marL="0">
              <a:buNone/>
            </a:pPr>
            <a:r>
              <a:rPr lang="en-US" sz="1200" dirty="0">
                <a:solidFill>
                  <a:srgbClr val="8FB3B5"/>
                </a:solidFill>
                <a:latin typeface="Calibri" pitchFamily="34" charset="0"/>
                <a:ea typeface="Calibri" pitchFamily="34" charset="-122"/>
                <a:cs typeface="Calibri" pitchFamily="34" charset="-120"/>
              </a:rPr>
              <a:t>Ibtehaj778/Preventra-CMS-MIMIC  ·  4 commits  ·  Aug–Sep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AT A GLANCE</a:t>
            </a:r>
            <a:endParaRPr lang="en-US" sz="1100" dirty="0"/>
          </a:p>
        </p:txBody>
      </p:sp>
      <p:sp>
        <p:nvSpPr>
          <p:cNvPr id="3" name="Text 1"/>
          <p:cNvSpPr txBox="1"/>
          <p:nvPr/>
        </p:nvSpPr>
        <p:spPr>
          <a:xfrm>
            <a:off x="566928" y="566928"/>
            <a:ext cx="11057839" cy="658368"/>
          </a:xfrm>
          <a:prstGeom prst="rect">
            <a:avLst/>
          </a:prstGeom>
          <a:noFill/>
          <a:ln/>
        </p:spPr>
        <p:txBody>
          <a:bodyPr wrap="square" lIns="0" tIns="0" rIns="0" bIns="0" rtlCol="0" anchor="ctr"/>
          <a:lstStyle/>
          <a:p>
            <a:pPr indent="0" marL="0">
              <a:buNone/>
            </a:pPr>
            <a:r>
              <a:rPr lang="en-US" sz="3200" b="1" dirty="0">
                <a:solidFill>
                  <a:srgbClr val="16282B"/>
                </a:solidFill>
                <a:latin typeface="Cambria" pitchFamily="34" charset="0"/>
                <a:ea typeface="Cambria" pitchFamily="34" charset="-122"/>
                <a:cs typeface="Cambria" pitchFamily="34" charset="-120"/>
              </a:rPr>
              <a:t>Where the project started, where it is now</a:t>
            </a:r>
            <a:endParaRPr lang="en-US" sz="3200" dirty="0"/>
          </a:p>
        </p:txBody>
      </p:sp>
      <p:sp>
        <p:nvSpPr>
          <p:cNvPr id="4" name="Shape 2"/>
          <p:cNvSpPr/>
          <p:nvPr/>
        </p:nvSpPr>
        <p:spPr>
          <a:xfrm>
            <a:off x="566928" y="1481328"/>
            <a:ext cx="5486400" cy="3977640"/>
          </a:xfrm>
          <a:prstGeom prst="roundRect">
            <a:avLst>
              <a:gd name="adj" fmla="val 1839"/>
            </a:avLst>
          </a:prstGeom>
          <a:solidFill>
            <a:srgbClr val="F6EBE7"/>
          </a:solidFill>
          <a:ln w="12700">
            <a:solidFill>
              <a:srgbClr val="F6EBE7"/>
            </a:solidFill>
            <a:prstDash val="solid"/>
          </a:ln>
        </p:spPr>
      </p:sp>
      <p:sp>
        <p:nvSpPr>
          <p:cNvPr id="5" name="Shape 3"/>
          <p:cNvSpPr/>
          <p:nvPr/>
        </p:nvSpPr>
        <p:spPr>
          <a:xfrm>
            <a:off x="886968" y="1773936"/>
            <a:ext cx="457200" cy="457200"/>
          </a:xfrm>
          <a:prstGeom prst="ellipse">
            <a:avLst/>
          </a:prstGeom>
          <a:solidFill>
            <a:srgbClr val="B85042"/>
          </a:solidFill>
          <a:ln/>
        </p:spPr>
      </p:sp>
      <p:sp>
        <p:nvSpPr>
          <p:cNvPr id="6" name="Text 4"/>
          <p:cNvSpPr txBox="1"/>
          <p:nvPr/>
        </p:nvSpPr>
        <p:spPr>
          <a:xfrm>
            <a:off x="886968" y="17739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7" name="Text 5"/>
          <p:cNvSpPr txBox="1"/>
          <p:nvPr/>
        </p:nvSpPr>
        <p:spPr>
          <a:xfrm>
            <a:off x="1481328" y="1792224"/>
            <a:ext cx="4297680" cy="384048"/>
          </a:xfrm>
          <a:prstGeom prst="rect">
            <a:avLst/>
          </a:prstGeom>
          <a:noFill/>
          <a:ln/>
        </p:spPr>
        <p:txBody>
          <a:bodyPr wrap="square" lIns="0" tIns="0" rIns="0" bIns="0" rtlCol="0" anchor="ctr"/>
          <a:lstStyle/>
          <a:p>
            <a:pPr indent="0" marL="0">
              <a:buNone/>
            </a:pPr>
            <a:r>
              <a:rPr lang="en-US" sz="2100" b="1" dirty="0">
                <a:solidFill>
                  <a:srgbClr val="B85042"/>
                </a:solidFill>
                <a:latin typeface="Cambria" pitchFamily="34" charset="0"/>
                <a:ea typeface="Cambria" pitchFamily="34" charset="-122"/>
                <a:cs typeface="Cambria" pitchFamily="34" charset="-120"/>
              </a:rPr>
              <a:t>Baseline — Denovonet</a:t>
            </a:r>
            <a:endParaRPr lang="en-US" sz="2100" dirty="0"/>
          </a:p>
        </p:txBody>
      </p:sp>
      <p:sp>
        <p:nvSpPr>
          <p:cNvPr id="8" name="Text 6"/>
          <p:cNvSpPr txBox="1"/>
          <p:nvPr/>
        </p:nvSpPr>
        <p:spPr>
          <a:xfrm>
            <a:off x="886968" y="2441448"/>
            <a:ext cx="4846320" cy="283464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300" dirty="0">
                <a:solidFill>
                  <a:srgbClr val="16282B"/>
                </a:solidFill>
                <a:latin typeface="Calibri" pitchFamily="34" charset="0"/>
                <a:ea typeface="Calibri" pitchFamily="34" charset="-122"/>
                <a:cs typeface="Calibri" pitchFamily="34" charset="-120"/>
              </a:rPr>
              <a:t>UCI Diabetes 130-US-Hospitals — 101,766 diabetic encounters</a:t>
            </a:r>
            <a:endParaRPr lang="en-US" sz="1300" dirty="0"/>
          </a:p>
          <a:p>
            <a:pPr marL="342900" indent="-342900">
              <a:lnSpc>
                <a:spcPts val="1700"/>
              </a:lnSpc>
              <a:spcAft>
                <a:spcPts val="700"/>
              </a:spcAft>
              <a:buSzPct val="100000"/>
              <a:buChar char="•"/>
            </a:pPr>
            <a:r>
              <a:rPr lang="en-US" sz="1300" dirty="0">
                <a:solidFill>
                  <a:srgbClr val="16282B"/>
                </a:solidFill>
                <a:latin typeface="Calibri" pitchFamily="34" charset="0"/>
                <a:ea typeface="Calibri" pitchFamily="34" charset="-122"/>
                <a:cs typeface="Calibri" pitchFamily="34" charset="-120"/>
              </a:rPr>
              <a:t>DecisionTree, balanced + importance weighting, registered in MLflow</a:t>
            </a:r>
            <a:endParaRPr lang="en-US" sz="1300" dirty="0"/>
          </a:p>
          <a:p>
            <a:pPr marL="342900" indent="-342900">
              <a:lnSpc>
                <a:spcPts val="1700"/>
              </a:lnSpc>
              <a:spcAft>
                <a:spcPts val="700"/>
              </a:spcAft>
              <a:buSzPct val="100000"/>
              <a:buChar char="•"/>
            </a:pPr>
            <a:r>
              <a:rPr lang="en-US" sz="1300" dirty="0">
                <a:solidFill>
                  <a:srgbClr val="16282B"/>
                </a:solidFill>
                <a:latin typeface="Calibri" pitchFamily="34" charset="0"/>
                <a:ea typeface="Calibri" pitchFamily="34" charset="-122"/>
                <a:cs typeface="Calibri" pitchFamily="34" charset="-120"/>
              </a:rPr>
              <a:t>Full working product: batch pipeline, API, dashboard, chatbot</a:t>
            </a:r>
            <a:endParaRPr lang="en-US" sz="1300" dirty="0"/>
          </a:p>
          <a:p>
            <a:pPr marL="342900" indent="-342900">
              <a:lnSpc>
                <a:spcPts val="1700"/>
              </a:lnSpc>
              <a:spcAft>
                <a:spcPts val="700"/>
              </a:spcAft>
              <a:buSzPct val="100000"/>
              <a:buChar char="•"/>
            </a:pPr>
            <a:r>
              <a:rPr lang="en-US" sz="1300" dirty="0">
                <a:solidFill>
                  <a:srgbClr val="16282B"/>
                </a:solidFill>
                <a:latin typeface="Calibri" pitchFamily="34" charset="0"/>
                <a:ea typeface="Calibri" pitchFamily="34" charset="-122"/>
                <a:cs typeface="Calibri" pitchFamily="34" charset="-120"/>
              </a:rPr>
              <a:t>api/main.py 1,159 lines · 20 endpoints</a:t>
            </a:r>
            <a:endParaRPr lang="en-US" sz="1300" dirty="0"/>
          </a:p>
          <a:p>
            <a:pPr marL="342900" indent="-342900">
              <a:lnSpc>
                <a:spcPts val="1700"/>
              </a:lnSpc>
              <a:spcAft>
                <a:spcPts val="700"/>
              </a:spcAft>
              <a:buSzPct val="100000"/>
              <a:buChar char="•"/>
            </a:pPr>
            <a:r>
              <a:rPr lang="en-US" sz="1300" dirty="0">
                <a:solidFill>
                  <a:srgbClr val="16282B"/>
                </a:solidFill>
                <a:latin typeface="Calibri" pitchFamily="34" charset="0"/>
                <a:ea typeface="Calibri" pitchFamily="34" charset="-122"/>
                <a:cs typeface="Calibri" pitchFamily="34" charset="-120"/>
              </a:rPr>
              <a:t>Handed over with 638 lines of architecture documentation</a:t>
            </a:r>
            <a:endParaRPr lang="en-US" sz="1300" dirty="0"/>
          </a:p>
        </p:txBody>
      </p:sp>
      <p:sp>
        <p:nvSpPr>
          <p:cNvPr id="9" name="Shape 7"/>
          <p:cNvSpPr/>
          <p:nvPr/>
        </p:nvSpPr>
        <p:spPr>
          <a:xfrm>
            <a:off x="6464808" y="1481328"/>
            <a:ext cx="5486400" cy="3977640"/>
          </a:xfrm>
          <a:prstGeom prst="roundRect">
            <a:avLst>
              <a:gd name="adj" fmla="val 1839"/>
            </a:avLst>
          </a:prstGeom>
          <a:solidFill>
            <a:srgbClr val="F1F6F5"/>
          </a:solidFill>
          <a:ln w="12700">
            <a:solidFill>
              <a:srgbClr val="F1F6F5"/>
            </a:solidFill>
            <a:prstDash val="solid"/>
          </a:ln>
        </p:spPr>
      </p:sp>
      <p:sp>
        <p:nvSpPr>
          <p:cNvPr id="10" name="Shape 8"/>
          <p:cNvSpPr/>
          <p:nvPr/>
        </p:nvSpPr>
        <p:spPr>
          <a:xfrm>
            <a:off x="6784848" y="1773936"/>
            <a:ext cx="457200" cy="457200"/>
          </a:xfrm>
          <a:prstGeom prst="ellipse">
            <a:avLst/>
          </a:prstGeom>
          <a:solidFill>
            <a:srgbClr val="028090"/>
          </a:solidFill>
          <a:ln/>
        </p:spPr>
      </p:sp>
      <p:sp>
        <p:nvSpPr>
          <p:cNvPr id="11" name="Text 9"/>
          <p:cNvSpPr txBox="1"/>
          <p:nvPr/>
        </p:nvSpPr>
        <p:spPr>
          <a:xfrm>
            <a:off x="6784848" y="17739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2" name="Text 10"/>
          <p:cNvSpPr txBox="1"/>
          <p:nvPr/>
        </p:nvSpPr>
        <p:spPr>
          <a:xfrm>
            <a:off x="7379208" y="1792224"/>
            <a:ext cx="4297680" cy="384048"/>
          </a:xfrm>
          <a:prstGeom prst="rect">
            <a:avLst/>
          </a:prstGeom>
          <a:noFill/>
          <a:ln/>
        </p:spPr>
        <p:txBody>
          <a:bodyPr wrap="square" lIns="0" tIns="0" rIns="0" bIns="0" rtlCol="0" anchor="ctr"/>
          <a:lstStyle/>
          <a:p>
            <a:pPr indent="0" marL="0">
              <a:buNone/>
            </a:pPr>
            <a:r>
              <a:rPr lang="en-US" sz="2100" b="1" dirty="0">
                <a:solidFill>
                  <a:srgbClr val="028090"/>
                </a:solidFill>
                <a:latin typeface="Cambria" pitchFamily="34" charset="0"/>
                <a:ea typeface="Cambria" pitchFamily="34" charset="-122"/>
                <a:cs typeface="Cambria" pitchFamily="34" charset="-120"/>
              </a:rPr>
              <a:t>Current — CMS-MIMIC</a:t>
            </a:r>
            <a:endParaRPr lang="en-US" sz="2100" dirty="0"/>
          </a:p>
        </p:txBody>
      </p:sp>
      <p:sp>
        <p:nvSpPr>
          <p:cNvPr id="13" name="Text 11"/>
          <p:cNvSpPr txBox="1"/>
          <p:nvPr/>
        </p:nvSpPr>
        <p:spPr>
          <a:xfrm>
            <a:off x="6784848" y="2441448"/>
            <a:ext cx="4846320" cy="283464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300" dirty="0">
                <a:solidFill>
                  <a:srgbClr val="16282B"/>
                </a:solidFill>
                <a:latin typeface="Calibri" pitchFamily="34" charset="0"/>
                <a:ea typeface="Calibri" pitchFamily="34" charset="-122"/>
                <a:cs typeface="Calibri" pitchFamily="34" charset="-120"/>
              </a:rPr>
              <a:t>MIMIC-IV hosp — 296,760 index stays across 148,669 patients</a:t>
            </a:r>
            <a:endParaRPr lang="en-US" sz="1300" dirty="0"/>
          </a:p>
          <a:p>
            <a:pPr marL="342900" indent="-342900">
              <a:lnSpc>
                <a:spcPts val="1700"/>
              </a:lnSpc>
              <a:spcAft>
                <a:spcPts val="700"/>
              </a:spcAft>
              <a:buSzPct val="100000"/>
              <a:buChar char="•"/>
            </a:pPr>
            <a:r>
              <a:rPr lang="en-US" sz="1300" dirty="0">
                <a:solidFill>
                  <a:srgbClr val="16282B"/>
                </a:solidFill>
                <a:latin typeface="Calibri" pitchFamily="34" charset="0"/>
                <a:ea typeface="Calibri" pitchFamily="34" charset="-122"/>
                <a:cs typeface="Calibri" pitchFamily="34" charset="-120"/>
              </a:rPr>
              <a:t>HistGradientBoosting + isotonic calibration, AUC 0.723, calibrated 1.01</a:t>
            </a:r>
            <a:endParaRPr lang="en-US" sz="1300" dirty="0"/>
          </a:p>
          <a:p>
            <a:pPr marL="342900" indent="-342900">
              <a:lnSpc>
                <a:spcPts val="1700"/>
              </a:lnSpc>
              <a:spcAft>
                <a:spcPts val="700"/>
              </a:spcAft>
              <a:buSzPct val="100000"/>
              <a:buChar char="•"/>
            </a:pPr>
            <a:r>
              <a:rPr lang="en-US" sz="1300" dirty="0">
                <a:solidFill>
                  <a:srgbClr val="16282B"/>
                </a:solidFill>
                <a:latin typeface="Calibri" pitchFamily="34" charset="0"/>
                <a:ea typeface="Calibri" pitchFamily="34" charset="-122"/>
                <a:cs typeface="Calibri" pitchFamily="34" charset="-120"/>
              </a:rPr>
              <a:t>All-cause adult inpatient, with real admission history per patient</a:t>
            </a:r>
            <a:endParaRPr lang="en-US" sz="1300" dirty="0"/>
          </a:p>
          <a:p>
            <a:pPr marL="342900" indent="-342900">
              <a:lnSpc>
                <a:spcPts val="1700"/>
              </a:lnSpc>
              <a:spcAft>
                <a:spcPts val="700"/>
              </a:spcAft>
              <a:buSzPct val="100000"/>
              <a:buChar char="•"/>
            </a:pPr>
            <a:r>
              <a:rPr lang="en-US" sz="1300" dirty="0">
                <a:solidFill>
                  <a:srgbClr val="16282B"/>
                </a:solidFill>
                <a:latin typeface="Calibri" pitchFamily="34" charset="0"/>
                <a:ea typeface="Calibri" pitchFamily="34" charset="-122"/>
                <a:cs typeface="Calibri" pitchFamily="34" charset="-120"/>
              </a:rPr>
              <a:t>api/main.py 1,520 lines · 24 endpoints · SHAP explainability</a:t>
            </a:r>
            <a:endParaRPr lang="en-US" sz="1300" dirty="0"/>
          </a:p>
          <a:p>
            <a:pPr marL="342900" indent="-342900">
              <a:lnSpc>
                <a:spcPts val="1700"/>
              </a:lnSpc>
              <a:spcAft>
                <a:spcPts val="700"/>
              </a:spcAft>
              <a:buSzPct val="100000"/>
              <a:buChar char="•"/>
            </a:pPr>
            <a:r>
              <a:rPr lang="en-US" sz="1300" dirty="0">
                <a:solidFill>
                  <a:srgbClr val="16282B"/>
                </a:solidFill>
                <a:latin typeface="Calibri" pitchFamily="34" charset="0"/>
                <a:ea typeface="Calibri" pitchFamily="34" charset="-122"/>
                <a:cs typeface="Calibri" pitchFamily="34" charset="-120"/>
              </a:rPr>
              <a:t>Same product, rebuilt on a clinical-grade data foundation</a:t>
            </a:r>
            <a:endParaRPr lang="en-US" sz="1300" dirty="0"/>
          </a:p>
        </p:txBody>
      </p:sp>
      <p:sp>
        <p:nvSpPr>
          <p:cNvPr id="14" name="Text 12"/>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1000" i="1" dirty="0">
                <a:solidFill>
                  <a:srgbClr val="5E7175"/>
                </a:solidFill>
                <a:latin typeface="Calibri" pitchFamily="34" charset="0"/>
                <a:ea typeface="Calibri" pitchFamily="34" charset="-122"/>
                <a:cs typeface="Calibri" pitchFamily="34" charset="-120"/>
              </a:rPr>
              <a:t>The architecture carried forward intact — FastAPI + MongoDB + Prefect + React. The data foundation, the model and the explainability engine were rebuilt on top of it.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STARTING POINT</a:t>
            </a:r>
            <a:endParaRPr lang="en-US" sz="1100" dirty="0"/>
          </a:p>
        </p:txBody>
      </p:sp>
      <p:sp>
        <p:nvSpPr>
          <p:cNvPr id="3" name="Text 1"/>
          <p:cNvSpPr txBox="1"/>
          <p:nvPr/>
        </p:nvSpPr>
        <p:spPr>
          <a:xfrm>
            <a:off x="566928" y="566928"/>
            <a:ext cx="11057839" cy="658368"/>
          </a:xfrm>
          <a:prstGeom prst="rect">
            <a:avLst/>
          </a:prstGeom>
          <a:noFill/>
          <a:ln/>
        </p:spPr>
        <p:txBody>
          <a:bodyPr wrap="square" lIns="0" tIns="0" rIns="0" bIns="0" rtlCol="0" anchor="ctr"/>
          <a:lstStyle/>
          <a:p>
            <a:pPr indent="0" marL="0">
              <a:buNone/>
            </a:pPr>
            <a:r>
              <a:rPr lang="en-US" sz="3200" b="1" dirty="0">
                <a:solidFill>
                  <a:srgbClr val="16282B"/>
                </a:solidFill>
                <a:latin typeface="Cambria" pitchFamily="34" charset="0"/>
                <a:ea typeface="Cambria" pitchFamily="34" charset="-122"/>
                <a:cs typeface="Cambria" pitchFamily="34" charset="-120"/>
              </a:rPr>
              <a:t>What the Denovonet baseline delivered</a:t>
            </a:r>
            <a:endParaRPr lang="en-US" sz="3200" dirty="0"/>
          </a:p>
        </p:txBody>
      </p:sp>
      <p:sp>
        <p:nvSpPr>
          <p:cNvPr id="4" name="Shape 2"/>
          <p:cNvSpPr/>
          <p:nvPr/>
        </p:nvSpPr>
        <p:spPr>
          <a:xfrm>
            <a:off x="566928" y="1499616"/>
            <a:ext cx="11057839" cy="1078992"/>
          </a:xfrm>
          <a:prstGeom prst="roundRect">
            <a:avLst>
              <a:gd name="adj" fmla="val 6780"/>
            </a:avLst>
          </a:prstGeom>
          <a:solidFill>
            <a:srgbClr val="F1F6F5"/>
          </a:solidFill>
          <a:ln w="12700">
            <a:solidFill>
              <a:srgbClr val="F1F6F5"/>
            </a:solidFill>
            <a:prstDash val="solid"/>
          </a:ln>
        </p:spPr>
      </p:sp>
      <p:sp>
        <p:nvSpPr>
          <p:cNvPr id="5" name="Shape 3"/>
          <p:cNvSpPr/>
          <p:nvPr/>
        </p:nvSpPr>
        <p:spPr>
          <a:xfrm>
            <a:off x="841248" y="1783080"/>
            <a:ext cx="512064" cy="512064"/>
          </a:xfrm>
          <a:prstGeom prst="ellipse">
            <a:avLst/>
          </a:prstGeom>
          <a:solidFill>
            <a:srgbClr val="028090"/>
          </a:solidFill>
          <a:ln/>
        </p:spPr>
      </p:sp>
      <p:sp>
        <p:nvSpPr>
          <p:cNvPr id="6" name="Text 4"/>
          <p:cNvSpPr txBox="1"/>
          <p:nvPr/>
        </p:nvSpPr>
        <p:spPr>
          <a:xfrm>
            <a:off x="841248" y="178308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ML</a:t>
            </a:r>
            <a:endParaRPr lang="en-US" sz="1500" dirty="0"/>
          </a:p>
        </p:txBody>
      </p:sp>
      <p:sp>
        <p:nvSpPr>
          <p:cNvPr id="7" name="Text 5"/>
          <p:cNvSpPr txBox="1"/>
          <p:nvPr/>
        </p:nvSpPr>
        <p:spPr>
          <a:xfrm>
            <a:off x="1527048" y="1645920"/>
            <a:ext cx="3200400" cy="365760"/>
          </a:xfrm>
          <a:prstGeom prst="rect">
            <a:avLst/>
          </a:prstGeom>
          <a:noFill/>
          <a:ln/>
        </p:spPr>
        <p:txBody>
          <a:bodyPr wrap="square" lIns="0" tIns="0" rIns="0" bIns="0" rtlCol="0" anchor="ctr"/>
          <a:lstStyle/>
          <a:p>
            <a:pPr indent="0" marL="0">
              <a:buNone/>
            </a:pPr>
            <a:r>
              <a:rPr lang="en-US" sz="1500" b="1" dirty="0">
                <a:solidFill>
                  <a:srgbClr val="16282B"/>
                </a:solidFill>
                <a:latin typeface="Calibri" pitchFamily="34" charset="0"/>
                <a:ea typeface="Calibri" pitchFamily="34" charset="-122"/>
                <a:cs typeface="Calibri" pitchFamily="34" charset="-120"/>
              </a:rPr>
              <a:t>ML pipeline</a:t>
            </a:r>
            <a:endParaRPr lang="en-US" sz="1500" dirty="0"/>
          </a:p>
        </p:txBody>
      </p:sp>
      <p:sp>
        <p:nvSpPr>
          <p:cNvPr id="8" name="Text 6"/>
          <p:cNvSpPr txBox="1"/>
          <p:nvPr/>
        </p:nvSpPr>
        <p:spPr>
          <a:xfrm>
            <a:off x="1527048" y="2011680"/>
            <a:ext cx="9731959" cy="502920"/>
          </a:xfrm>
          <a:prstGeom prst="rect">
            <a:avLst/>
          </a:prstGeom>
          <a:noFill/>
          <a:ln/>
        </p:spPr>
        <p:txBody>
          <a:bodyPr wrap="square" lIns="0" tIns="0" rIns="0" bIns="0" rtlCol="0" anchor="ctr"/>
          <a:lstStyle/>
          <a:p>
            <a:pPr indent="0" marL="0">
              <a:lnSpc>
                <a:spcPts val="1500"/>
              </a:lnSpc>
              <a:buNone/>
            </a:pPr>
            <a:r>
              <a:rPr lang="en-US" sz="1200" dirty="0">
                <a:solidFill>
                  <a:srgbClr val="5E7175"/>
                </a:solidFill>
                <a:latin typeface="Calibri" pitchFamily="34" charset="0"/>
                <a:ea typeface="Calibri" pitchFamily="34" charset="-122"/>
                <a:cs typeface="Calibri" pitchFamily="34" charset="-120"/>
              </a:rPr>
              <a:t>clean · label · engineer · CCI from ICD-9. Four training tracks; production track AUC 0.706, calibrated into High/Medium/Low bands.</a:t>
            </a:r>
            <a:endParaRPr lang="en-US" sz="1200" dirty="0"/>
          </a:p>
        </p:txBody>
      </p:sp>
      <p:sp>
        <p:nvSpPr>
          <p:cNvPr id="9" name="Shape 7"/>
          <p:cNvSpPr/>
          <p:nvPr/>
        </p:nvSpPr>
        <p:spPr>
          <a:xfrm>
            <a:off x="566928" y="2679192"/>
            <a:ext cx="11057839" cy="1078992"/>
          </a:xfrm>
          <a:prstGeom prst="roundRect">
            <a:avLst>
              <a:gd name="adj" fmla="val 6780"/>
            </a:avLst>
          </a:prstGeom>
          <a:solidFill>
            <a:srgbClr val="F1F6F5"/>
          </a:solidFill>
          <a:ln w="12700">
            <a:solidFill>
              <a:srgbClr val="F1F6F5"/>
            </a:solidFill>
            <a:prstDash val="solid"/>
          </a:ln>
        </p:spPr>
      </p:sp>
      <p:sp>
        <p:nvSpPr>
          <p:cNvPr id="10" name="Shape 8"/>
          <p:cNvSpPr/>
          <p:nvPr/>
        </p:nvSpPr>
        <p:spPr>
          <a:xfrm>
            <a:off x="841248" y="2962656"/>
            <a:ext cx="512064" cy="512064"/>
          </a:xfrm>
          <a:prstGeom prst="ellipse">
            <a:avLst/>
          </a:prstGeom>
          <a:solidFill>
            <a:srgbClr val="028090"/>
          </a:solidFill>
          <a:ln/>
        </p:spPr>
      </p:sp>
      <p:sp>
        <p:nvSpPr>
          <p:cNvPr id="11" name="Text 9"/>
          <p:cNvSpPr txBox="1"/>
          <p:nvPr/>
        </p:nvSpPr>
        <p:spPr>
          <a:xfrm>
            <a:off x="841248" y="296265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API</a:t>
            </a:r>
            <a:endParaRPr lang="en-US" sz="1500" dirty="0"/>
          </a:p>
        </p:txBody>
      </p:sp>
      <p:sp>
        <p:nvSpPr>
          <p:cNvPr id="12" name="Text 10"/>
          <p:cNvSpPr txBox="1"/>
          <p:nvPr/>
        </p:nvSpPr>
        <p:spPr>
          <a:xfrm>
            <a:off x="1527048" y="2825496"/>
            <a:ext cx="3200400" cy="365760"/>
          </a:xfrm>
          <a:prstGeom prst="rect">
            <a:avLst/>
          </a:prstGeom>
          <a:noFill/>
          <a:ln/>
        </p:spPr>
        <p:txBody>
          <a:bodyPr wrap="square" lIns="0" tIns="0" rIns="0" bIns="0" rtlCol="0" anchor="ctr"/>
          <a:lstStyle/>
          <a:p>
            <a:pPr indent="0" marL="0">
              <a:buNone/>
            </a:pPr>
            <a:r>
              <a:rPr lang="en-US" sz="1500" b="1" dirty="0">
                <a:solidFill>
                  <a:srgbClr val="16282B"/>
                </a:solidFill>
                <a:latin typeface="Calibri" pitchFamily="34" charset="0"/>
                <a:ea typeface="Calibri" pitchFamily="34" charset="-122"/>
                <a:cs typeface="Calibri" pitchFamily="34" charset="-120"/>
              </a:rPr>
              <a:t>Batch scoring + serving</a:t>
            </a:r>
            <a:endParaRPr lang="en-US" sz="1500" dirty="0"/>
          </a:p>
        </p:txBody>
      </p:sp>
      <p:sp>
        <p:nvSpPr>
          <p:cNvPr id="13" name="Text 11"/>
          <p:cNvSpPr txBox="1"/>
          <p:nvPr/>
        </p:nvSpPr>
        <p:spPr>
          <a:xfrm>
            <a:off x="1527048" y="3191256"/>
            <a:ext cx="9731959" cy="502920"/>
          </a:xfrm>
          <a:prstGeom prst="rect">
            <a:avLst/>
          </a:prstGeom>
          <a:noFill/>
          <a:ln/>
        </p:spPr>
        <p:txBody>
          <a:bodyPr wrap="square" lIns="0" tIns="0" rIns="0" bIns="0" rtlCol="0" anchor="ctr"/>
          <a:lstStyle/>
          <a:p>
            <a:pPr indent="0" marL="0">
              <a:lnSpc>
                <a:spcPts val="1500"/>
              </a:lnSpc>
              <a:buNone/>
            </a:pPr>
            <a:r>
              <a:rPr lang="en-US" sz="1200" dirty="0">
                <a:solidFill>
                  <a:srgbClr val="5E7175"/>
                </a:solidFill>
                <a:latin typeface="Calibri" pitchFamily="34" charset="0"/>
                <a:ea typeface="Calibri" pitchFamily="34" charset="-122"/>
                <a:cs typeface="Calibri" pitchFamily="34" charset="-120"/>
              </a:rPr>
              <a:t>Prefect flow to MongoDB (worklist, registry, summary, alerts, care actions). 20 FastAPI endpoints. Gemini chatbot restricted to 6 pre-written queries.</a:t>
            </a:r>
            <a:endParaRPr lang="en-US" sz="1200" dirty="0"/>
          </a:p>
        </p:txBody>
      </p:sp>
      <p:sp>
        <p:nvSpPr>
          <p:cNvPr id="14" name="Shape 12"/>
          <p:cNvSpPr/>
          <p:nvPr/>
        </p:nvSpPr>
        <p:spPr>
          <a:xfrm>
            <a:off x="566928" y="3858768"/>
            <a:ext cx="11057839" cy="1078992"/>
          </a:xfrm>
          <a:prstGeom prst="roundRect">
            <a:avLst>
              <a:gd name="adj" fmla="val 6780"/>
            </a:avLst>
          </a:prstGeom>
          <a:solidFill>
            <a:srgbClr val="F1F6F5"/>
          </a:solidFill>
          <a:ln w="12700">
            <a:solidFill>
              <a:srgbClr val="F1F6F5"/>
            </a:solidFill>
            <a:prstDash val="solid"/>
          </a:ln>
        </p:spPr>
      </p:sp>
      <p:sp>
        <p:nvSpPr>
          <p:cNvPr id="15" name="Shape 13"/>
          <p:cNvSpPr/>
          <p:nvPr/>
        </p:nvSpPr>
        <p:spPr>
          <a:xfrm>
            <a:off x="841248" y="4142232"/>
            <a:ext cx="512064" cy="512064"/>
          </a:xfrm>
          <a:prstGeom prst="ellipse">
            <a:avLst/>
          </a:prstGeom>
          <a:solidFill>
            <a:srgbClr val="028090"/>
          </a:solidFill>
          <a:ln/>
        </p:spPr>
      </p:sp>
      <p:sp>
        <p:nvSpPr>
          <p:cNvPr id="16" name="Text 14"/>
          <p:cNvSpPr txBox="1"/>
          <p:nvPr/>
        </p:nvSpPr>
        <p:spPr>
          <a:xfrm>
            <a:off x="841248" y="414223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UI</a:t>
            </a:r>
            <a:endParaRPr lang="en-US" sz="1500" dirty="0"/>
          </a:p>
        </p:txBody>
      </p:sp>
      <p:sp>
        <p:nvSpPr>
          <p:cNvPr id="17" name="Text 15"/>
          <p:cNvSpPr txBox="1"/>
          <p:nvPr/>
        </p:nvSpPr>
        <p:spPr>
          <a:xfrm>
            <a:off x="1527048" y="4005072"/>
            <a:ext cx="3200400" cy="365760"/>
          </a:xfrm>
          <a:prstGeom prst="rect">
            <a:avLst/>
          </a:prstGeom>
          <a:noFill/>
          <a:ln/>
        </p:spPr>
        <p:txBody>
          <a:bodyPr wrap="square" lIns="0" tIns="0" rIns="0" bIns="0" rtlCol="0" anchor="ctr"/>
          <a:lstStyle/>
          <a:p>
            <a:pPr indent="0" marL="0">
              <a:buNone/>
            </a:pPr>
            <a:r>
              <a:rPr lang="en-US" sz="1500" b="1" dirty="0">
                <a:solidFill>
                  <a:srgbClr val="16282B"/>
                </a:solidFill>
                <a:latin typeface="Calibri" pitchFamily="34" charset="0"/>
                <a:ea typeface="Calibri" pitchFamily="34" charset="-122"/>
                <a:cs typeface="Calibri" pitchFamily="34" charset="-120"/>
              </a:rPr>
              <a:t>React dashboard</a:t>
            </a:r>
            <a:endParaRPr lang="en-US" sz="1500" dirty="0"/>
          </a:p>
        </p:txBody>
      </p:sp>
      <p:sp>
        <p:nvSpPr>
          <p:cNvPr id="18" name="Text 16"/>
          <p:cNvSpPr txBox="1"/>
          <p:nvPr/>
        </p:nvSpPr>
        <p:spPr>
          <a:xfrm>
            <a:off x="1527048" y="4370832"/>
            <a:ext cx="9731959" cy="502920"/>
          </a:xfrm>
          <a:prstGeom prst="rect">
            <a:avLst/>
          </a:prstGeom>
          <a:noFill/>
          <a:ln/>
        </p:spPr>
        <p:txBody>
          <a:bodyPr wrap="square" lIns="0" tIns="0" rIns="0" bIns="0" rtlCol="0" anchor="ctr"/>
          <a:lstStyle/>
          <a:p>
            <a:pPr indent="0" marL="0">
              <a:lnSpc>
                <a:spcPts val="1500"/>
              </a:lnSpc>
              <a:buNone/>
            </a:pPr>
            <a:r>
              <a:rPr lang="en-US" sz="1200" dirty="0">
                <a:solidFill>
                  <a:srgbClr val="5E7175"/>
                </a:solidFill>
                <a:latin typeface="Calibri" pitchFamily="34" charset="0"/>
                <a:ea typeface="Calibri" pitchFamily="34" charset="-122"/>
                <a:cs typeface="Calibri" pitchFamily="34" charset="-120"/>
              </a:rPr>
              <a:t>Worklist, patient detail page and slide-over, manual entry, update-and-re-score, 15-point jump alerts, care coordination.</a:t>
            </a:r>
            <a:endParaRPr lang="en-US" sz="1200" dirty="0"/>
          </a:p>
        </p:txBody>
      </p:sp>
      <p:sp>
        <p:nvSpPr>
          <p:cNvPr id="19" name="Shape 17"/>
          <p:cNvSpPr/>
          <p:nvPr/>
        </p:nvSpPr>
        <p:spPr>
          <a:xfrm>
            <a:off x="566928" y="5038344"/>
            <a:ext cx="11057839" cy="1078992"/>
          </a:xfrm>
          <a:prstGeom prst="roundRect">
            <a:avLst>
              <a:gd name="adj" fmla="val 6780"/>
            </a:avLst>
          </a:prstGeom>
          <a:solidFill>
            <a:srgbClr val="F1F6F5"/>
          </a:solidFill>
          <a:ln w="12700">
            <a:solidFill>
              <a:srgbClr val="F1F6F5"/>
            </a:solidFill>
            <a:prstDash val="solid"/>
          </a:ln>
        </p:spPr>
      </p:sp>
      <p:sp>
        <p:nvSpPr>
          <p:cNvPr id="20" name="Shape 18"/>
          <p:cNvSpPr/>
          <p:nvPr/>
        </p:nvSpPr>
        <p:spPr>
          <a:xfrm>
            <a:off x="841248" y="5321808"/>
            <a:ext cx="512064" cy="512064"/>
          </a:xfrm>
          <a:prstGeom prst="ellipse">
            <a:avLst/>
          </a:prstGeom>
          <a:solidFill>
            <a:srgbClr val="028090"/>
          </a:solidFill>
          <a:ln/>
        </p:spPr>
      </p:sp>
      <p:sp>
        <p:nvSpPr>
          <p:cNvPr id="21" name="Text 19"/>
          <p:cNvSpPr txBox="1"/>
          <p:nvPr/>
        </p:nvSpPr>
        <p:spPr>
          <a:xfrm>
            <a:off x="841248" y="532180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DOC</a:t>
            </a:r>
            <a:endParaRPr lang="en-US" sz="1500" dirty="0"/>
          </a:p>
        </p:txBody>
      </p:sp>
      <p:sp>
        <p:nvSpPr>
          <p:cNvPr id="22" name="Text 20"/>
          <p:cNvSpPr txBox="1"/>
          <p:nvPr/>
        </p:nvSpPr>
        <p:spPr>
          <a:xfrm>
            <a:off x="1527048" y="5184648"/>
            <a:ext cx="3200400" cy="365760"/>
          </a:xfrm>
          <a:prstGeom prst="rect">
            <a:avLst/>
          </a:prstGeom>
          <a:noFill/>
          <a:ln/>
        </p:spPr>
        <p:txBody>
          <a:bodyPr wrap="square" lIns="0" tIns="0" rIns="0" bIns="0" rtlCol="0" anchor="ctr"/>
          <a:lstStyle/>
          <a:p>
            <a:pPr indent="0" marL="0">
              <a:buNone/>
            </a:pPr>
            <a:r>
              <a:rPr lang="en-US" sz="1500" b="1" dirty="0">
                <a:solidFill>
                  <a:srgbClr val="16282B"/>
                </a:solidFill>
                <a:latin typeface="Calibri" pitchFamily="34" charset="0"/>
                <a:ea typeface="Calibri" pitchFamily="34" charset="-122"/>
                <a:cs typeface="Calibri" pitchFamily="34" charset="-120"/>
              </a:rPr>
              <a:t>Handover documentation</a:t>
            </a:r>
            <a:endParaRPr lang="en-US" sz="1500" dirty="0"/>
          </a:p>
        </p:txBody>
      </p:sp>
      <p:sp>
        <p:nvSpPr>
          <p:cNvPr id="23" name="Text 21"/>
          <p:cNvSpPr txBox="1"/>
          <p:nvPr/>
        </p:nvSpPr>
        <p:spPr>
          <a:xfrm>
            <a:off x="1527048" y="5550408"/>
            <a:ext cx="9731959" cy="502920"/>
          </a:xfrm>
          <a:prstGeom prst="rect">
            <a:avLst/>
          </a:prstGeom>
          <a:noFill/>
          <a:ln/>
        </p:spPr>
        <p:txBody>
          <a:bodyPr wrap="square" lIns="0" tIns="0" rIns="0" bIns="0" rtlCol="0" anchor="ctr"/>
          <a:lstStyle/>
          <a:p>
            <a:pPr indent="0" marL="0">
              <a:lnSpc>
                <a:spcPts val="1500"/>
              </a:lnSpc>
              <a:buNone/>
            </a:pPr>
            <a:r>
              <a:rPr lang="en-US" sz="1200" dirty="0">
                <a:solidFill>
                  <a:srgbClr val="5E7175"/>
                </a:solidFill>
                <a:latin typeface="Calibri" pitchFamily="34" charset="0"/>
                <a:ea typeface="Calibri" pitchFamily="34" charset="-122"/>
                <a:cs typeface="Calibri" pitchFamily="34" charset="-120"/>
              </a:rPr>
              <a:t>HANDOVER.md (339 lines) and ROADMAP.md (299 lines) — architecture, file-by-file reference, and a scoped feature catalogue.</a:t>
            </a:r>
            <a:endParaRPr lang="en-US" sz="1200" dirty="0"/>
          </a:p>
        </p:txBody>
      </p:sp>
      <p:sp>
        <p:nvSpPr>
          <p:cNvPr id="24" name="Text 22"/>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1000" i="1" dirty="0">
                <a:solidFill>
                  <a:srgbClr val="5E7175"/>
                </a:solidFill>
                <a:latin typeface="Calibri" pitchFamily="34" charset="0"/>
                <a:ea typeface="Calibri" pitchFamily="34" charset="-122"/>
                <a:cs typeface="Calibri" pitchFamily="34" charset="-120"/>
              </a:rPr>
              <a:t>A complete, working product, and the platform every phase since has built 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THE DATA FOUNDATION</a:t>
            </a:r>
            <a:endParaRPr lang="en-US" sz="1100" dirty="0"/>
          </a:p>
        </p:txBody>
      </p:sp>
      <p:sp>
        <p:nvSpPr>
          <p:cNvPr id="3" name="Text 1"/>
          <p:cNvSpPr txBox="1"/>
          <p:nvPr/>
        </p:nvSpPr>
        <p:spPr>
          <a:xfrm>
            <a:off x="566928" y="566928"/>
            <a:ext cx="11057839" cy="658368"/>
          </a:xfrm>
          <a:prstGeom prst="rect">
            <a:avLst/>
          </a:prstGeom>
          <a:noFill/>
          <a:ln/>
        </p:spPr>
        <p:txBody>
          <a:bodyPr wrap="square" lIns="0" tIns="0" rIns="0" bIns="0" rtlCol="0" anchor="ctr"/>
          <a:lstStyle/>
          <a:p>
            <a:pPr indent="0" marL="0">
              <a:buNone/>
            </a:pPr>
            <a:r>
              <a:rPr lang="en-US" sz="3200" b="1" dirty="0">
                <a:solidFill>
                  <a:srgbClr val="16282B"/>
                </a:solidFill>
                <a:latin typeface="Cambria" pitchFamily="34" charset="0"/>
                <a:ea typeface="Cambria" pitchFamily="34" charset="-122"/>
                <a:cs typeface="Cambria" pitchFamily="34" charset="-120"/>
              </a:rPr>
              <a:t>MIMIC-IV selected on measured criteria</a:t>
            </a:r>
            <a:endParaRPr lang="en-US" sz="3200" dirty="0"/>
          </a:p>
        </p:txBody>
      </p:sp>
      <p:sp>
        <p:nvSpPr>
          <p:cNvPr id="4" name="Shape 2"/>
          <p:cNvSpPr/>
          <p:nvPr/>
        </p:nvSpPr>
        <p:spPr>
          <a:xfrm>
            <a:off x="566928" y="1481328"/>
            <a:ext cx="5486400" cy="2057400"/>
          </a:xfrm>
          <a:prstGeom prst="roundRect">
            <a:avLst>
              <a:gd name="adj" fmla="val 3556"/>
            </a:avLst>
          </a:prstGeom>
          <a:solidFill>
            <a:srgbClr val="F1F6F5"/>
          </a:solidFill>
          <a:ln w="12700">
            <a:solidFill>
              <a:srgbClr val="F1F6F5"/>
            </a:solidFill>
            <a:prstDash val="solid"/>
          </a:ln>
        </p:spPr>
      </p:sp>
      <p:sp>
        <p:nvSpPr>
          <p:cNvPr id="5" name="Shape 3"/>
          <p:cNvSpPr/>
          <p:nvPr/>
        </p:nvSpPr>
        <p:spPr>
          <a:xfrm>
            <a:off x="859536" y="1737360"/>
            <a:ext cx="457200" cy="457200"/>
          </a:xfrm>
          <a:prstGeom prst="ellipse">
            <a:avLst/>
          </a:prstGeom>
          <a:solidFill>
            <a:srgbClr val="00A896"/>
          </a:solidFill>
          <a:ln/>
        </p:spPr>
      </p:sp>
      <p:sp>
        <p:nvSpPr>
          <p:cNvPr id="6" name="Text 4"/>
          <p:cNvSpPr txBox="1"/>
          <p:nvPr/>
        </p:nvSpPr>
        <p:spPr>
          <a:xfrm>
            <a:off x="859536" y="17373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481328" y="1764792"/>
            <a:ext cx="4206240" cy="365760"/>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Candidates assessed against source docs</a:t>
            </a:r>
            <a:endParaRPr lang="en-US" sz="1600" dirty="0"/>
          </a:p>
        </p:txBody>
      </p:sp>
      <p:sp>
        <p:nvSpPr>
          <p:cNvPr id="8" name="Text 6"/>
          <p:cNvSpPr txBox="1"/>
          <p:nvPr/>
        </p:nvSpPr>
        <p:spPr>
          <a:xfrm>
            <a:off x="859536" y="2286000"/>
            <a:ext cx="4901184" cy="1143000"/>
          </a:xfrm>
          <a:prstGeom prst="rect">
            <a:avLst/>
          </a:prstGeom>
          <a:noFill/>
          <a:ln/>
        </p:spPr>
        <p:txBody>
          <a:bodyPr wrap="square" lIns="0" tIns="0" rIns="0" bIns="0" rtlCol="0" anchor="ctr"/>
          <a:lstStyle/>
          <a:p>
            <a:pPr indent="0" marL="0">
              <a:lnSpc>
                <a:spcPts val="1600"/>
              </a:lnSpc>
              <a:buNone/>
            </a:pPr>
            <a:r>
              <a:rPr lang="en-US" sz="1200" dirty="0">
                <a:solidFill>
                  <a:srgbClr val="16282B"/>
                </a:solidFill>
                <a:latin typeface="Calibri" pitchFamily="34" charset="0"/>
                <a:ea typeface="Calibri" pitchFamily="34" charset="-122"/>
                <a:cs typeface="Calibri" pitchFamily="34" charset="-120"/>
              </a:rPr>
              <a:t>Four candidates were reviewed — MIMIC-IV, All of Us, CMS LDS via ResDAC and CMS DE-SynPUF — each against its own data user's guide. The criterion was whether the file preserves the real relationships a supervised model has to learn. MIMIC-IV is the one that does.</a:t>
            </a:r>
            <a:endParaRPr lang="en-US" sz="1200" dirty="0"/>
          </a:p>
        </p:txBody>
      </p:sp>
      <p:sp>
        <p:nvSpPr>
          <p:cNvPr id="9" name="Shape 7"/>
          <p:cNvSpPr/>
          <p:nvPr/>
        </p:nvSpPr>
        <p:spPr>
          <a:xfrm>
            <a:off x="6464808" y="1481328"/>
            <a:ext cx="5166360" cy="2057400"/>
          </a:xfrm>
          <a:prstGeom prst="roundRect">
            <a:avLst>
              <a:gd name="adj" fmla="val 3556"/>
            </a:avLst>
          </a:prstGeom>
          <a:solidFill>
            <a:srgbClr val="F1F6F5"/>
          </a:solidFill>
          <a:ln w="12700">
            <a:solidFill>
              <a:srgbClr val="F1F6F5"/>
            </a:solidFill>
            <a:prstDash val="solid"/>
          </a:ln>
        </p:spPr>
      </p:sp>
      <p:sp>
        <p:nvSpPr>
          <p:cNvPr id="10" name="Shape 8"/>
          <p:cNvSpPr/>
          <p:nvPr/>
        </p:nvSpPr>
        <p:spPr>
          <a:xfrm>
            <a:off x="6757416" y="1737360"/>
            <a:ext cx="457200" cy="457200"/>
          </a:xfrm>
          <a:prstGeom prst="ellipse">
            <a:avLst/>
          </a:prstGeom>
          <a:solidFill>
            <a:srgbClr val="028090"/>
          </a:solidFill>
          <a:ln/>
        </p:spPr>
      </p:sp>
      <p:sp>
        <p:nvSpPr>
          <p:cNvPr id="11" name="Text 9"/>
          <p:cNvSpPr txBox="1"/>
          <p:nvPr/>
        </p:nvSpPr>
        <p:spPr>
          <a:xfrm>
            <a:off x="6757416" y="17373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7379208" y="1764792"/>
            <a:ext cx="3931920" cy="365760"/>
          </a:xfrm>
          <a:prstGeom prst="rect">
            <a:avLst/>
          </a:prstGeom>
          <a:noFill/>
          <a:ln/>
        </p:spPr>
        <p:txBody>
          <a:bodyPr wrap="square" lIns="0" tIns="0" rIns="0" bIns="0"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MIMIC-IV — go for discharge risk</a:t>
            </a:r>
            <a:endParaRPr lang="en-US" sz="1600" dirty="0"/>
          </a:p>
        </p:txBody>
      </p:sp>
      <p:sp>
        <p:nvSpPr>
          <p:cNvPr id="13" name="Text 11"/>
          <p:cNvSpPr txBox="1"/>
          <p:nvPr/>
        </p:nvSpPr>
        <p:spPr>
          <a:xfrm>
            <a:off x="6757416" y="2286000"/>
            <a:ext cx="4572000" cy="1143000"/>
          </a:xfrm>
          <a:prstGeom prst="rect">
            <a:avLst/>
          </a:prstGeom>
          <a:noFill/>
          <a:ln/>
        </p:spPr>
        <p:txBody>
          <a:bodyPr wrap="square" lIns="0" tIns="0" rIns="0" bIns="0" rtlCol="0" anchor="ctr"/>
          <a:lstStyle/>
          <a:p>
            <a:pPr indent="0" marL="0">
              <a:lnSpc>
                <a:spcPts val="1600"/>
              </a:lnSpc>
              <a:buNone/>
            </a:pPr>
            <a:r>
              <a:rPr lang="en-US" sz="1200" dirty="0">
                <a:solidFill>
                  <a:srgbClr val="16282B"/>
                </a:solidFill>
                <a:latin typeface="Calibri" pitchFamily="34" charset="0"/>
                <a:ea typeface="Calibri" pitchFamily="34" charset="-122"/>
                <a:cs typeface="Calibri" pitchFamily="34" charset="-120"/>
              </a:rPr>
              <a:t>The 30-day label constructs cleanly, the cohort is large enough to train at full scale, and real admission histories give the longitudinal view the product needs. Continuous monitoring is scoped separately, on the evidence below.</a:t>
            </a:r>
            <a:endParaRPr lang="en-US" sz="1200" dirty="0"/>
          </a:p>
        </p:txBody>
      </p:sp>
      <p:sp>
        <p:nvSpPr>
          <p:cNvPr id="14" name="Text 12"/>
          <p:cNvSpPr txBox="1"/>
          <p:nvPr/>
        </p:nvSpPr>
        <p:spPr>
          <a:xfrm>
            <a:off x="566928" y="3803904"/>
            <a:ext cx="11057839" cy="320040"/>
          </a:xfrm>
          <a:prstGeom prst="rect">
            <a:avLst/>
          </a:prstGeom>
          <a:noFill/>
          <a:ln/>
        </p:spPr>
        <p:txBody>
          <a:bodyPr wrap="square" lIns="0" tIns="0" rIns="0" bIns="0" rtlCol="0" anchor="ctr"/>
          <a:lstStyle/>
          <a:p>
            <a:pPr indent="0" marL="0">
              <a:buNone/>
            </a:pPr>
            <a:r>
              <a:rPr lang="en-US" sz="1400" b="1" dirty="0">
                <a:solidFill>
                  <a:srgbClr val="16282B"/>
                </a:solidFill>
                <a:latin typeface="Calibri" pitchFamily="34" charset="0"/>
                <a:ea typeface="Calibri" pitchFamily="34" charset="-122"/>
                <a:cs typeface="Calibri" pitchFamily="34" charset="-120"/>
              </a:rPr>
              <a:t>What the assessment established, measured rather than assumed</a:t>
            </a:r>
            <a:endParaRPr lang="en-US" sz="1400" dirty="0"/>
          </a:p>
        </p:txBody>
      </p:sp>
      <p:sp>
        <p:nvSpPr>
          <p:cNvPr id="15" name="Text 13"/>
          <p:cNvSpPr txBox="1"/>
          <p:nvPr/>
        </p:nvSpPr>
        <p:spPr>
          <a:xfrm>
            <a:off x="566928" y="4206240"/>
            <a:ext cx="3291840" cy="777240"/>
          </a:xfrm>
          <a:prstGeom prst="rect">
            <a:avLst/>
          </a:prstGeom>
          <a:noFill/>
          <a:ln/>
        </p:spPr>
        <p:txBody>
          <a:bodyPr wrap="square" lIns="0" tIns="0" rIns="0" bIns="0" rtlCol="0" anchor="ctr"/>
          <a:lstStyle/>
          <a:p>
            <a:pPr indent="0" marL="0">
              <a:buNone/>
            </a:pPr>
            <a:r>
              <a:rPr lang="en-US" sz="4400" b="1" dirty="0">
                <a:solidFill>
                  <a:srgbClr val="028090"/>
                </a:solidFill>
                <a:latin typeface="Cambria" pitchFamily="34" charset="0"/>
                <a:ea typeface="Cambria" pitchFamily="34" charset="-122"/>
                <a:cs typeface="Cambria" pitchFamily="34" charset="-120"/>
              </a:rPr>
              <a:t>296,760</a:t>
            </a:r>
            <a:endParaRPr lang="en-US" sz="4400" dirty="0"/>
          </a:p>
        </p:txBody>
      </p:sp>
      <p:sp>
        <p:nvSpPr>
          <p:cNvPr id="16" name="Text 14"/>
          <p:cNvSpPr txBox="1"/>
          <p:nvPr/>
        </p:nvSpPr>
        <p:spPr>
          <a:xfrm>
            <a:off x="566928" y="4983480"/>
            <a:ext cx="3291840" cy="292608"/>
          </a:xfrm>
          <a:prstGeom prst="rect">
            <a:avLst/>
          </a:prstGeom>
          <a:noFill/>
          <a:ln/>
        </p:spPr>
        <p:txBody>
          <a:bodyPr wrap="square" lIns="0" tIns="0" rIns="0" bIns="0" rtlCol="0" anchor="ctr"/>
          <a:lstStyle/>
          <a:p>
            <a:pPr indent="0" marL="0">
              <a:buNone/>
            </a:pPr>
            <a:r>
              <a:rPr lang="en-US" sz="1300" b="1" dirty="0">
                <a:solidFill>
                  <a:srgbClr val="16282B"/>
                </a:solidFill>
                <a:latin typeface="Calibri" pitchFamily="34" charset="0"/>
                <a:ea typeface="Calibri" pitchFamily="34" charset="-122"/>
                <a:cs typeface="Calibri" pitchFamily="34" charset="-120"/>
              </a:rPr>
              <a:t>index stays available</a:t>
            </a:r>
            <a:endParaRPr lang="en-US" sz="1300" dirty="0"/>
          </a:p>
        </p:txBody>
      </p:sp>
      <p:sp>
        <p:nvSpPr>
          <p:cNvPr id="17" name="Text 15"/>
          <p:cNvSpPr txBox="1"/>
          <p:nvPr/>
        </p:nvSpPr>
        <p:spPr>
          <a:xfrm>
            <a:off x="566928" y="5266944"/>
            <a:ext cx="3291840" cy="548640"/>
          </a:xfrm>
          <a:prstGeom prst="rect">
            <a:avLst/>
          </a:prstGeom>
          <a:noFill/>
          <a:ln/>
        </p:spPr>
        <p:txBody>
          <a:bodyPr wrap="square" lIns="0" tIns="0" rIns="0" bIns="0" rtlCol="0" anchor="ctr"/>
          <a:lstStyle/>
          <a:p>
            <a:pPr indent="0" marL="0">
              <a:buNone/>
            </a:pPr>
            <a:r>
              <a:rPr lang="en-US" sz="1100" dirty="0">
                <a:solidFill>
                  <a:srgbClr val="5E7175"/>
                </a:solidFill>
                <a:latin typeface="Calibri" pitchFamily="34" charset="0"/>
                <a:ea typeface="Calibri" pitchFamily="34" charset="-122"/>
                <a:cs typeface="Calibri" pitchFamily="34" charset="-120"/>
              </a:rPr>
              <a:t>across 148,669 patients at a 19.66% readmission rate — ample to train at full scale</a:t>
            </a:r>
            <a:endParaRPr lang="en-US" sz="1100" dirty="0"/>
          </a:p>
        </p:txBody>
      </p:sp>
      <p:sp>
        <p:nvSpPr>
          <p:cNvPr id="18" name="Text 16"/>
          <p:cNvSpPr txBox="1"/>
          <p:nvPr/>
        </p:nvSpPr>
        <p:spPr>
          <a:xfrm>
            <a:off x="4224528" y="4206240"/>
            <a:ext cx="3291840" cy="777240"/>
          </a:xfrm>
          <a:prstGeom prst="rect">
            <a:avLst/>
          </a:prstGeom>
          <a:noFill/>
          <a:ln/>
        </p:spPr>
        <p:txBody>
          <a:bodyPr wrap="square" lIns="0" tIns="0" rIns="0" bIns="0" rtlCol="0" anchor="ctr"/>
          <a:lstStyle/>
          <a:p>
            <a:pPr indent="0" marL="0">
              <a:buNone/>
            </a:pPr>
            <a:r>
              <a:rPr lang="en-US" sz="4400" b="1" dirty="0">
                <a:solidFill>
                  <a:srgbClr val="028090"/>
                </a:solidFill>
                <a:latin typeface="Cambria" pitchFamily="34" charset="0"/>
                <a:ea typeface="Cambria" pitchFamily="34" charset="-122"/>
                <a:cs typeface="Cambria" pitchFamily="34" charset="-120"/>
              </a:rPr>
              <a:t>62 / 38</a:t>
            </a:r>
            <a:endParaRPr lang="en-US" sz="4400" dirty="0"/>
          </a:p>
        </p:txBody>
      </p:sp>
      <p:sp>
        <p:nvSpPr>
          <p:cNvPr id="19" name="Text 17"/>
          <p:cNvSpPr txBox="1"/>
          <p:nvPr/>
        </p:nvSpPr>
        <p:spPr>
          <a:xfrm>
            <a:off x="4224528" y="4983480"/>
            <a:ext cx="3291840" cy="292608"/>
          </a:xfrm>
          <a:prstGeom prst="rect">
            <a:avLst/>
          </a:prstGeom>
          <a:noFill/>
          <a:ln/>
        </p:spPr>
        <p:txBody>
          <a:bodyPr wrap="square" lIns="0" tIns="0" rIns="0" bIns="0" rtlCol="0" anchor="ctr"/>
          <a:lstStyle/>
          <a:p>
            <a:pPr indent="0" marL="0">
              <a:buNone/>
            </a:pPr>
            <a:r>
              <a:rPr lang="en-US" sz="1300" b="1" dirty="0">
                <a:solidFill>
                  <a:srgbClr val="16282B"/>
                </a:solidFill>
                <a:latin typeface="Calibri" pitchFamily="34" charset="0"/>
                <a:ea typeface="Calibri" pitchFamily="34" charset="-122"/>
                <a:cs typeface="Calibri" pitchFamily="34" charset="-120"/>
              </a:rPr>
              <a:t>ICD-9 vs ICD-10 split</a:t>
            </a:r>
            <a:endParaRPr lang="en-US" sz="1300" dirty="0"/>
          </a:p>
        </p:txBody>
      </p:sp>
      <p:sp>
        <p:nvSpPr>
          <p:cNvPr id="20" name="Text 18"/>
          <p:cNvSpPr txBox="1"/>
          <p:nvPr/>
        </p:nvSpPr>
        <p:spPr>
          <a:xfrm>
            <a:off x="4224528" y="5266944"/>
            <a:ext cx="3291840" cy="548640"/>
          </a:xfrm>
          <a:prstGeom prst="rect">
            <a:avLst/>
          </a:prstGeom>
          <a:noFill/>
          <a:ln/>
        </p:spPr>
        <p:txBody>
          <a:bodyPr wrap="square" lIns="0" tIns="0" rIns="0" bIns="0" rtlCol="0" anchor="ctr"/>
          <a:lstStyle/>
          <a:p>
            <a:pPr indent="0" marL="0">
              <a:buNone/>
            </a:pPr>
            <a:r>
              <a:rPr lang="en-US" sz="1100" dirty="0">
                <a:solidFill>
                  <a:srgbClr val="5E7175"/>
                </a:solidFill>
                <a:latin typeface="Calibri" pitchFamily="34" charset="0"/>
                <a:ea typeface="Calibri" pitchFamily="34" charset="-122"/>
                <a:cs typeface="Calibri" pitchFamily="34" charset="-120"/>
              </a:rPr>
              <a:t>identified up front, so the Charlson mapping covers both code sets from the start</a:t>
            </a:r>
            <a:endParaRPr lang="en-US" sz="1100" dirty="0"/>
          </a:p>
        </p:txBody>
      </p:sp>
      <p:sp>
        <p:nvSpPr>
          <p:cNvPr id="21" name="Text 19"/>
          <p:cNvSpPr txBox="1"/>
          <p:nvPr/>
        </p:nvSpPr>
        <p:spPr>
          <a:xfrm>
            <a:off x="7882128" y="4206240"/>
            <a:ext cx="3749040" cy="777240"/>
          </a:xfrm>
          <a:prstGeom prst="rect">
            <a:avLst/>
          </a:prstGeom>
          <a:noFill/>
          <a:ln/>
        </p:spPr>
        <p:txBody>
          <a:bodyPr wrap="square" lIns="0" tIns="0" rIns="0" bIns="0" rtlCol="0" anchor="ctr"/>
          <a:lstStyle/>
          <a:p>
            <a:pPr indent="0" marL="0">
              <a:buNone/>
            </a:pPr>
            <a:r>
              <a:rPr lang="en-US" sz="4400" b="1" dirty="0">
                <a:solidFill>
                  <a:srgbClr val="028090"/>
                </a:solidFill>
                <a:latin typeface="Cambria" pitchFamily="34" charset="0"/>
                <a:ea typeface="Cambria" pitchFamily="34" charset="-122"/>
                <a:cs typeface="Cambria" pitchFamily="34" charset="-120"/>
              </a:rPr>
              <a:t>30 days</a:t>
            </a:r>
            <a:endParaRPr lang="en-US" sz="4400" dirty="0"/>
          </a:p>
        </p:txBody>
      </p:sp>
      <p:sp>
        <p:nvSpPr>
          <p:cNvPr id="22" name="Text 20"/>
          <p:cNvSpPr txBox="1"/>
          <p:nvPr/>
        </p:nvSpPr>
        <p:spPr>
          <a:xfrm>
            <a:off x="7882128" y="4983480"/>
            <a:ext cx="3749040" cy="292608"/>
          </a:xfrm>
          <a:prstGeom prst="rect">
            <a:avLst/>
          </a:prstGeom>
          <a:noFill/>
          <a:ln/>
        </p:spPr>
        <p:txBody>
          <a:bodyPr wrap="square" lIns="0" tIns="0" rIns="0" bIns="0" rtlCol="0" anchor="ctr"/>
          <a:lstStyle/>
          <a:p>
            <a:pPr indent="0" marL="0">
              <a:buNone/>
            </a:pPr>
            <a:r>
              <a:rPr lang="en-US" sz="1300" b="1" dirty="0">
                <a:solidFill>
                  <a:srgbClr val="16282B"/>
                </a:solidFill>
                <a:latin typeface="Calibri" pitchFamily="34" charset="0"/>
                <a:ea typeface="Calibri" pitchFamily="34" charset="-122"/>
                <a:cs typeface="Calibri" pitchFamily="34" charset="-120"/>
              </a:rPr>
              <a:t>the window MIMIC supports</a:t>
            </a:r>
            <a:endParaRPr lang="en-US" sz="1300" dirty="0"/>
          </a:p>
        </p:txBody>
      </p:sp>
      <p:sp>
        <p:nvSpPr>
          <p:cNvPr id="23" name="Text 21"/>
          <p:cNvSpPr txBox="1"/>
          <p:nvPr/>
        </p:nvSpPr>
        <p:spPr>
          <a:xfrm>
            <a:off x="7882128" y="5266944"/>
            <a:ext cx="3749040" cy="548640"/>
          </a:xfrm>
          <a:prstGeom prst="rect">
            <a:avLst/>
          </a:prstGeom>
          <a:noFill/>
          <a:ln/>
        </p:spPr>
        <p:txBody>
          <a:bodyPr wrap="square" lIns="0" tIns="0" rIns="0" bIns="0" rtlCol="0" anchor="ctr"/>
          <a:lstStyle/>
          <a:p>
            <a:pPr indent="0" marL="0">
              <a:buNone/>
            </a:pPr>
            <a:r>
              <a:rPr lang="en-US" sz="1100" dirty="0">
                <a:solidFill>
                  <a:srgbClr val="5E7175"/>
                </a:solidFill>
                <a:latin typeface="Calibri" pitchFamily="34" charset="0"/>
                <a:ea typeface="Calibri" pitchFamily="34" charset="-122"/>
                <a:cs typeface="Calibri" pitchFamily="34" charset="-120"/>
              </a:rPr>
              <a:t>discharge-time prediction fully supported; continuous monitoring scoped to a telemetry feed</a:t>
            </a:r>
            <a:endParaRPr lang="en-US" sz="1100" dirty="0"/>
          </a:p>
        </p:txBody>
      </p:sp>
      <p:sp>
        <p:nvSpPr>
          <p:cNvPr id="24" name="Text 22"/>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1000" i="1" dirty="0">
                <a:solidFill>
                  <a:srgbClr val="5E7175"/>
                </a:solidFill>
                <a:latin typeface="Calibri" pitchFamily="34" charset="0"/>
                <a:ea typeface="Calibri" pitchFamily="34" charset="-122"/>
                <a:cs typeface="Calibri" pitchFamily="34" charset="-120"/>
              </a:rPr>
              <a:t>Choosing the data foundation on documented evidence is what makes every number downstream defensible.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EXPLORATORY DATA ANALYSIS</a:t>
            </a:r>
            <a:endParaRPr lang="en-US" sz="1100" dirty="0"/>
          </a:p>
        </p:txBody>
      </p:sp>
      <p:sp>
        <p:nvSpPr>
          <p:cNvPr id="3" name="Text 1"/>
          <p:cNvSpPr txBox="1"/>
          <p:nvPr/>
        </p:nvSpPr>
        <p:spPr>
          <a:xfrm>
            <a:off x="566928" y="566928"/>
            <a:ext cx="11057839" cy="658368"/>
          </a:xfrm>
          <a:prstGeom prst="rect">
            <a:avLst/>
          </a:prstGeom>
          <a:noFill/>
          <a:ln/>
        </p:spPr>
        <p:txBody>
          <a:bodyPr wrap="square" lIns="0" tIns="0" rIns="0" bIns="0" rtlCol="0" anchor="ctr"/>
          <a:lstStyle/>
          <a:p>
            <a:pPr indent="0" marL="0">
              <a:buNone/>
            </a:pPr>
            <a:r>
              <a:rPr lang="en-US" sz="3200" b="1" dirty="0">
                <a:solidFill>
                  <a:srgbClr val="16282B"/>
                </a:solidFill>
                <a:latin typeface="Cambria" pitchFamily="34" charset="0"/>
                <a:ea typeface="Cambria" pitchFamily="34" charset="-122"/>
                <a:cs typeface="Cambria" pitchFamily="34" charset="-120"/>
              </a:rPr>
              <a:t>Profiling the extract before training anything</a:t>
            </a:r>
            <a:endParaRPr lang="en-US" sz="3200" dirty="0"/>
          </a:p>
        </p:txBody>
      </p:sp>
      <p:sp>
        <p:nvSpPr>
          <p:cNvPr id="4" name="Text 2"/>
          <p:cNvSpPr txBox="1"/>
          <p:nvPr/>
        </p:nvSpPr>
        <p:spPr>
          <a:xfrm>
            <a:off x="566928" y="1417320"/>
            <a:ext cx="11057839" cy="384048"/>
          </a:xfrm>
          <a:prstGeom prst="rect">
            <a:avLst/>
          </a:prstGeom>
          <a:noFill/>
          <a:ln/>
        </p:spPr>
        <p:txBody>
          <a:bodyPr wrap="square" lIns="0" tIns="0" rIns="0" bIns="0" rtlCol="0" anchor="ctr"/>
          <a:lstStyle/>
          <a:p>
            <a:pPr indent="0" marL="0">
              <a:buNone/>
            </a:pPr>
            <a:r>
              <a:rPr lang="en-US" sz="1400" dirty="0">
                <a:solidFill>
                  <a:srgbClr val="5E7175"/>
                </a:solidFill>
                <a:latin typeface="Calibri" pitchFamily="34" charset="0"/>
                <a:ea typeface="Calibri" pitchFamily="34" charset="-122"/>
                <a:cs typeface="Calibri" pitchFamily="34" charset="-120"/>
              </a:rPr>
              <a:t>One pass over the MIMIC-IV hosp module answering both questions at once: is there enough discharge-time signal, and does a weekly post-discharge cadence exist?</a:t>
            </a:r>
            <a:endParaRPr lang="en-US" sz="1400" dirty="0"/>
          </a:p>
        </p:txBody>
      </p:sp>
      <p:sp>
        <p:nvSpPr>
          <p:cNvPr id="5" name="Shape 3"/>
          <p:cNvSpPr/>
          <p:nvPr/>
        </p:nvSpPr>
        <p:spPr>
          <a:xfrm>
            <a:off x="566928" y="1938528"/>
            <a:ext cx="5120640" cy="3218688"/>
          </a:xfrm>
          <a:prstGeom prst="roundRect">
            <a:avLst>
              <a:gd name="adj" fmla="val 2273"/>
            </a:avLst>
          </a:prstGeom>
          <a:solidFill>
            <a:srgbClr val="F1F6F5"/>
          </a:solidFill>
          <a:ln w="12700">
            <a:solidFill>
              <a:srgbClr val="F1F6F5"/>
            </a:solidFill>
            <a:prstDash val="solid"/>
          </a:ln>
        </p:spPr>
      </p:sp>
      <p:sp>
        <p:nvSpPr>
          <p:cNvPr id="6" name="Text 4"/>
          <p:cNvSpPr txBox="1"/>
          <p:nvPr/>
        </p:nvSpPr>
        <p:spPr>
          <a:xfrm>
            <a:off x="859536" y="2121408"/>
            <a:ext cx="3657600" cy="320040"/>
          </a:xfrm>
          <a:prstGeom prst="rect">
            <a:avLst/>
          </a:prstGeom>
          <a:noFill/>
          <a:ln/>
        </p:spPr>
        <p:txBody>
          <a:bodyPr wrap="square" lIns="0" tIns="0" rIns="0" bIns="0" rtlCol="0" anchor="ctr"/>
          <a:lstStyle/>
          <a:p>
            <a:pPr indent="0" marL="0">
              <a:buNone/>
            </a:pPr>
            <a:r>
              <a:rPr lang="en-US" sz="1500" b="1" dirty="0">
                <a:solidFill>
                  <a:srgbClr val="16282B"/>
                </a:solidFill>
                <a:latin typeface="Calibri" pitchFamily="34" charset="0"/>
                <a:ea typeface="Calibri" pitchFamily="34" charset="-122"/>
                <a:cs typeface="Calibri" pitchFamily="34" charset="-120"/>
              </a:rPr>
              <a:t>Cohort construction</a:t>
            </a:r>
            <a:endParaRPr lang="en-US" sz="1500" dirty="0"/>
          </a:p>
        </p:txBody>
      </p:sp>
      <p:sp>
        <p:nvSpPr>
          <p:cNvPr id="7" name="Text 5"/>
          <p:cNvSpPr txBox="1"/>
          <p:nvPr/>
        </p:nvSpPr>
        <p:spPr>
          <a:xfrm>
            <a:off x="859536" y="2542032"/>
            <a:ext cx="3200400" cy="274320"/>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All admissions</a:t>
            </a:r>
            <a:endParaRPr lang="en-US" sz="1200" dirty="0"/>
          </a:p>
        </p:txBody>
      </p:sp>
      <p:sp>
        <p:nvSpPr>
          <p:cNvPr id="8" name="Text 6"/>
          <p:cNvSpPr txBox="1"/>
          <p:nvPr/>
        </p:nvSpPr>
        <p:spPr>
          <a:xfrm>
            <a:off x="4087368" y="2542032"/>
            <a:ext cx="1280160" cy="274320"/>
          </a:xfrm>
          <a:prstGeom prst="rect">
            <a:avLst/>
          </a:prstGeom>
          <a:noFill/>
          <a:ln/>
        </p:spPr>
        <p:txBody>
          <a:bodyPr wrap="square" lIns="0" tIns="0" rIns="0" bIns="0" rtlCol="0" anchor="ctr"/>
          <a:lstStyle/>
          <a:p>
            <a:pPr algn="r" indent="0" marL="0">
              <a:buNone/>
            </a:pPr>
            <a:r>
              <a:rPr lang="en-US" sz="1200" dirty="0">
                <a:solidFill>
                  <a:srgbClr val="16282B"/>
                </a:solidFill>
                <a:latin typeface="Calibri" pitchFamily="34" charset="0"/>
                <a:ea typeface="Calibri" pitchFamily="34" charset="-122"/>
                <a:cs typeface="Calibri" pitchFamily="34" charset="-120"/>
              </a:rPr>
              <a:t>546,028</a:t>
            </a:r>
            <a:endParaRPr lang="en-US" sz="1200" dirty="0"/>
          </a:p>
        </p:txBody>
      </p:sp>
      <p:sp>
        <p:nvSpPr>
          <p:cNvPr id="9" name="Text 7"/>
          <p:cNvSpPr txBox="1"/>
          <p:nvPr/>
        </p:nvSpPr>
        <p:spPr>
          <a:xfrm>
            <a:off x="859536" y="2926080"/>
            <a:ext cx="3200400" cy="274320"/>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Died in hospital</a:t>
            </a:r>
            <a:endParaRPr lang="en-US" sz="1200" dirty="0"/>
          </a:p>
        </p:txBody>
      </p:sp>
      <p:sp>
        <p:nvSpPr>
          <p:cNvPr id="10" name="Text 8"/>
          <p:cNvSpPr txBox="1"/>
          <p:nvPr/>
        </p:nvSpPr>
        <p:spPr>
          <a:xfrm>
            <a:off x="4087368" y="2926080"/>
            <a:ext cx="1280160" cy="274320"/>
          </a:xfrm>
          <a:prstGeom prst="rect">
            <a:avLst/>
          </a:prstGeom>
          <a:noFill/>
          <a:ln/>
        </p:spPr>
        <p:txBody>
          <a:bodyPr wrap="square" lIns="0" tIns="0" rIns="0" bIns="0" rtlCol="0" anchor="ctr"/>
          <a:lstStyle/>
          <a:p>
            <a:pPr algn="r" indent="0" marL="0">
              <a:buNone/>
            </a:pPr>
            <a:r>
              <a:rPr lang="en-US" sz="1200" dirty="0">
                <a:solidFill>
                  <a:srgbClr val="5E7175"/>
                </a:solidFill>
                <a:latin typeface="Calibri" pitchFamily="34" charset="0"/>
                <a:ea typeface="Calibri" pitchFamily="34" charset="-122"/>
                <a:cs typeface="Calibri" pitchFamily="34" charset="-120"/>
              </a:rPr>
              <a:t>−11,801</a:t>
            </a:r>
            <a:endParaRPr lang="en-US" sz="1200" dirty="0"/>
          </a:p>
        </p:txBody>
      </p:sp>
      <p:sp>
        <p:nvSpPr>
          <p:cNvPr id="11" name="Text 9"/>
          <p:cNvSpPr txBox="1"/>
          <p:nvPr/>
        </p:nvSpPr>
        <p:spPr>
          <a:xfrm>
            <a:off x="859536" y="3310128"/>
            <a:ext cx="3200400" cy="274320"/>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Hospice or died at discharge</a:t>
            </a:r>
            <a:endParaRPr lang="en-US" sz="1200" dirty="0"/>
          </a:p>
        </p:txBody>
      </p:sp>
      <p:sp>
        <p:nvSpPr>
          <p:cNvPr id="12" name="Text 10"/>
          <p:cNvSpPr txBox="1"/>
          <p:nvPr/>
        </p:nvSpPr>
        <p:spPr>
          <a:xfrm>
            <a:off x="4087368" y="3310128"/>
            <a:ext cx="1280160" cy="274320"/>
          </a:xfrm>
          <a:prstGeom prst="rect">
            <a:avLst/>
          </a:prstGeom>
          <a:noFill/>
          <a:ln/>
        </p:spPr>
        <p:txBody>
          <a:bodyPr wrap="square" lIns="0" tIns="0" rIns="0" bIns="0" rtlCol="0" anchor="ctr"/>
          <a:lstStyle/>
          <a:p>
            <a:pPr algn="r" indent="0" marL="0">
              <a:buNone/>
            </a:pPr>
            <a:r>
              <a:rPr lang="en-US" sz="1200" dirty="0">
                <a:solidFill>
                  <a:srgbClr val="5E7175"/>
                </a:solidFill>
                <a:latin typeface="Calibri" pitchFamily="34" charset="0"/>
                <a:ea typeface="Calibri" pitchFamily="34" charset="-122"/>
                <a:cs typeface="Calibri" pitchFamily="34" charset="-120"/>
              </a:rPr>
              <a:t>−17,118</a:t>
            </a:r>
            <a:endParaRPr lang="en-US" sz="1200" dirty="0"/>
          </a:p>
        </p:txBody>
      </p:sp>
      <p:sp>
        <p:nvSpPr>
          <p:cNvPr id="13" name="Text 11"/>
          <p:cNvSpPr txBox="1"/>
          <p:nvPr/>
        </p:nvSpPr>
        <p:spPr>
          <a:xfrm>
            <a:off x="859536" y="3694176"/>
            <a:ext cx="3200400" cy="274320"/>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Observation stays</a:t>
            </a:r>
            <a:endParaRPr lang="en-US" sz="1200" dirty="0"/>
          </a:p>
        </p:txBody>
      </p:sp>
      <p:sp>
        <p:nvSpPr>
          <p:cNvPr id="14" name="Text 12"/>
          <p:cNvSpPr txBox="1"/>
          <p:nvPr/>
        </p:nvSpPr>
        <p:spPr>
          <a:xfrm>
            <a:off x="4087368" y="3694176"/>
            <a:ext cx="1280160" cy="274320"/>
          </a:xfrm>
          <a:prstGeom prst="rect">
            <a:avLst/>
          </a:prstGeom>
          <a:noFill/>
          <a:ln/>
        </p:spPr>
        <p:txBody>
          <a:bodyPr wrap="square" lIns="0" tIns="0" rIns="0" bIns="0" rtlCol="0" anchor="ctr"/>
          <a:lstStyle/>
          <a:p>
            <a:pPr algn="r" indent="0" marL="0">
              <a:buNone/>
            </a:pPr>
            <a:r>
              <a:rPr lang="en-US" sz="1200" dirty="0">
                <a:solidFill>
                  <a:srgbClr val="5E7175"/>
                </a:solidFill>
                <a:latin typeface="Calibri" pitchFamily="34" charset="0"/>
                <a:ea typeface="Calibri" pitchFamily="34" charset="-122"/>
                <a:cs typeface="Calibri" pitchFamily="34" charset="-120"/>
              </a:rPr>
              <a:t>−235,639</a:t>
            </a:r>
            <a:endParaRPr lang="en-US" sz="1200" dirty="0"/>
          </a:p>
        </p:txBody>
      </p:sp>
      <p:sp>
        <p:nvSpPr>
          <p:cNvPr id="15" name="Text 13"/>
          <p:cNvSpPr txBox="1"/>
          <p:nvPr/>
        </p:nvSpPr>
        <p:spPr>
          <a:xfrm>
            <a:off x="859536" y="4078224"/>
            <a:ext cx="3200400" cy="274320"/>
          </a:xfrm>
          <a:prstGeom prst="rect">
            <a:avLst/>
          </a:prstGeom>
          <a:noFill/>
          <a:ln/>
        </p:spPr>
        <p:txBody>
          <a:bodyPr wrap="square" lIns="0" tIns="0" rIns="0" bIns="0" rtlCol="0" anchor="ctr"/>
          <a:lstStyle/>
          <a:p>
            <a:pPr indent="0" marL="0">
              <a:buNone/>
            </a:pPr>
            <a:r>
              <a:rPr lang="en-US" sz="1200" b="1" dirty="0">
                <a:solidFill>
                  <a:srgbClr val="16282B"/>
                </a:solidFill>
                <a:latin typeface="Calibri" pitchFamily="34" charset="0"/>
                <a:ea typeface="Calibri" pitchFamily="34" charset="-122"/>
                <a:cs typeface="Calibri" pitchFamily="34" charset="-120"/>
              </a:rPr>
              <a:t>Eligible index stays</a:t>
            </a:r>
            <a:endParaRPr lang="en-US" sz="1200" dirty="0"/>
          </a:p>
        </p:txBody>
      </p:sp>
      <p:sp>
        <p:nvSpPr>
          <p:cNvPr id="16" name="Text 14"/>
          <p:cNvSpPr txBox="1"/>
          <p:nvPr/>
        </p:nvSpPr>
        <p:spPr>
          <a:xfrm>
            <a:off x="4087368" y="4078224"/>
            <a:ext cx="1280160" cy="274320"/>
          </a:xfrm>
          <a:prstGeom prst="rect">
            <a:avLst/>
          </a:prstGeom>
          <a:noFill/>
          <a:ln/>
        </p:spPr>
        <p:txBody>
          <a:bodyPr wrap="square" lIns="0" tIns="0" rIns="0" bIns="0" rtlCol="0" anchor="ctr"/>
          <a:lstStyle/>
          <a:p>
            <a:pPr algn="r" indent="0" marL="0">
              <a:buNone/>
            </a:pPr>
            <a:r>
              <a:rPr lang="en-US" sz="1200" b="1" dirty="0">
                <a:solidFill>
                  <a:srgbClr val="028090"/>
                </a:solidFill>
                <a:latin typeface="Calibri" pitchFamily="34" charset="0"/>
                <a:ea typeface="Calibri" pitchFamily="34" charset="-122"/>
                <a:cs typeface="Calibri" pitchFamily="34" charset="-120"/>
              </a:rPr>
              <a:t>296,760</a:t>
            </a:r>
            <a:endParaRPr lang="en-US" sz="1200" dirty="0"/>
          </a:p>
        </p:txBody>
      </p:sp>
      <p:sp>
        <p:nvSpPr>
          <p:cNvPr id="17" name="Text 15"/>
          <p:cNvSpPr txBox="1"/>
          <p:nvPr/>
        </p:nvSpPr>
        <p:spPr>
          <a:xfrm>
            <a:off x="859536" y="4590288"/>
            <a:ext cx="4526280" cy="457200"/>
          </a:xfrm>
          <a:prstGeom prst="rect">
            <a:avLst/>
          </a:prstGeom>
          <a:noFill/>
          <a:ln/>
        </p:spPr>
        <p:txBody>
          <a:bodyPr wrap="square" lIns="0" tIns="0" rIns="0" bIns="0" rtlCol="0" anchor="ctr"/>
          <a:lstStyle/>
          <a:p>
            <a:pPr indent="0" marL="0">
              <a:lnSpc>
                <a:spcPts val="1300"/>
              </a:lnSpc>
              <a:buNone/>
            </a:pPr>
            <a:r>
              <a:rPr lang="en-US" sz="1050" i="1" dirty="0">
                <a:solidFill>
                  <a:srgbClr val="5E7175"/>
                </a:solidFill>
                <a:latin typeface="Calibri" pitchFamily="34" charset="0"/>
                <a:ea typeface="Calibri" pitchFamily="34" charset="-122"/>
                <a:cs typeface="Calibri" pitchFamily="34" charset="-120"/>
              </a:rPr>
              <a:t>The next admission is identified across the full sequence before any row is dropped — otherwise a readmission following an excluded stay is lost.</a:t>
            </a:r>
            <a:endParaRPr lang="en-US" sz="1050" dirty="0"/>
          </a:p>
        </p:txBody>
      </p:sp>
      <p:sp>
        <p:nvSpPr>
          <p:cNvPr id="18" name="Text 16"/>
          <p:cNvSpPr txBox="1"/>
          <p:nvPr/>
        </p:nvSpPr>
        <p:spPr>
          <a:xfrm>
            <a:off x="6099048" y="2011680"/>
            <a:ext cx="2606040" cy="777240"/>
          </a:xfrm>
          <a:prstGeom prst="rect">
            <a:avLst/>
          </a:prstGeom>
          <a:noFill/>
          <a:ln/>
        </p:spPr>
        <p:txBody>
          <a:bodyPr wrap="square" lIns="0" tIns="0" rIns="0" bIns="0" rtlCol="0" anchor="ctr"/>
          <a:lstStyle/>
          <a:p>
            <a:pPr indent="0" marL="0">
              <a:buNone/>
            </a:pPr>
            <a:r>
              <a:rPr lang="en-US" sz="4400" b="1" dirty="0">
                <a:solidFill>
                  <a:srgbClr val="028090"/>
                </a:solidFill>
                <a:latin typeface="Cambria" pitchFamily="34" charset="0"/>
                <a:ea typeface="Cambria" pitchFamily="34" charset="-122"/>
                <a:cs typeface="Cambria" pitchFamily="34" charset="-120"/>
              </a:rPr>
              <a:t>19.66%</a:t>
            </a:r>
            <a:endParaRPr lang="en-US" sz="4400" dirty="0"/>
          </a:p>
        </p:txBody>
      </p:sp>
      <p:sp>
        <p:nvSpPr>
          <p:cNvPr id="19" name="Text 17"/>
          <p:cNvSpPr txBox="1"/>
          <p:nvPr/>
        </p:nvSpPr>
        <p:spPr>
          <a:xfrm>
            <a:off x="6099048" y="2788920"/>
            <a:ext cx="2606040" cy="292608"/>
          </a:xfrm>
          <a:prstGeom prst="rect">
            <a:avLst/>
          </a:prstGeom>
          <a:noFill/>
          <a:ln/>
        </p:spPr>
        <p:txBody>
          <a:bodyPr wrap="square" lIns="0" tIns="0" rIns="0" bIns="0" rtlCol="0" anchor="ctr"/>
          <a:lstStyle/>
          <a:p>
            <a:pPr indent="0" marL="0">
              <a:buNone/>
            </a:pPr>
            <a:r>
              <a:rPr lang="en-US" sz="1300" b="1" dirty="0">
                <a:solidFill>
                  <a:srgbClr val="16282B"/>
                </a:solidFill>
                <a:latin typeface="Calibri" pitchFamily="34" charset="0"/>
                <a:ea typeface="Calibri" pitchFamily="34" charset="-122"/>
                <a:cs typeface="Calibri" pitchFamily="34" charset="-120"/>
              </a:rPr>
              <a:t>30-day readmission rate</a:t>
            </a:r>
            <a:endParaRPr lang="en-US" sz="1300" dirty="0"/>
          </a:p>
        </p:txBody>
      </p:sp>
      <p:sp>
        <p:nvSpPr>
          <p:cNvPr id="20" name="Text 18"/>
          <p:cNvSpPr txBox="1"/>
          <p:nvPr/>
        </p:nvSpPr>
        <p:spPr>
          <a:xfrm>
            <a:off x="6099048" y="3072384"/>
            <a:ext cx="2606040" cy="548640"/>
          </a:xfrm>
          <a:prstGeom prst="rect">
            <a:avLst/>
          </a:prstGeom>
          <a:noFill/>
          <a:ln/>
        </p:spPr>
        <p:txBody>
          <a:bodyPr wrap="square" lIns="0" tIns="0" rIns="0" bIns="0" rtlCol="0" anchor="ctr"/>
          <a:lstStyle/>
          <a:p>
            <a:pPr indent="0" marL="0">
              <a:buNone/>
            </a:pPr>
            <a:r>
              <a:rPr lang="en-US" sz="1100" dirty="0">
                <a:solidFill>
                  <a:srgbClr val="5E7175"/>
                </a:solidFill>
                <a:latin typeface="Calibri" pitchFamily="34" charset="0"/>
                <a:ea typeface="Calibri" pitchFamily="34" charset="-122"/>
                <a:cs typeface="Calibri" pitchFamily="34" charset="-120"/>
              </a:rPr>
              <a:t>58,345 unplanned returns</a:t>
            </a:r>
            <a:endParaRPr lang="en-US" sz="1100" dirty="0"/>
          </a:p>
        </p:txBody>
      </p:sp>
      <p:sp>
        <p:nvSpPr>
          <p:cNvPr id="21" name="Text 19"/>
          <p:cNvSpPr txBox="1"/>
          <p:nvPr/>
        </p:nvSpPr>
        <p:spPr>
          <a:xfrm>
            <a:off x="8933688" y="2011680"/>
            <a:ext cx="2606040" cy="777240"/>
          </a:xfrm>
          <a:prstGeom prst="rect">
            <a:avLst/>
          </a:prstGeom>
          <a:noFill/>
          <a:ln/>
        </p:spPr>
        <p:txBody>
          <a:bodyPr wrap="square" lIns="0" tIns="0" rIns="0" bIns="0" rtlCol="0" anchor="ctr"/>
          <a:lstStyle/>
          <a:p>
            <a:pPr indent="0" marL="0">
              <a:buNone/>
            </a:pPr>
            <a:r>
              <a:rPr lang="en-US" sz="4400" b="1" dirty="0">
                <a:solidFill>
                  <a:srgbClr val="028090"/>
                </a:solidFill>
                <a:latin typeface="Cambria" pitchFamily="34" charset="0"/>
                <a:ea typeface="Cambria" pitchFamily="34" charset="-122"/>
                <a:cs typeface="Cambria" pitchFamily="34" charset="-120"/>
              </a:rPr>
              <a:t>148,669</a:t>
            </a:r>
            <a:endParaRPr lang="en-US" sz="4400" dirty="0"/>
          </a:p>
        </p:txBody>
      </p:sp>
      <p:sp>
        <p:nvSpPr>
          <p:cNvPr id="22" name="Text 20"/>
          <p:cNvSpPr txBox="1"/>
          <p:nvPr/>
        </p:nvSpPr>
        <p:spPr>
          <a:xfrm>
            <a:off x="8933688" y="2788920"/>
            <a:ext cx="2606040" cy="292608"/>
          </a:xfrm>
          <a:prstGeom prst="rect">
            <a:avLst/>
          </a:prstGeom>
          <a:noFill/>
          <a:ln/>
        </p:spPr>
        <p:txBody>
          <a:bodyPr wrap="square" lIns="0" tIns="0" rIns="0" bIns="0" rtlCol="0" anchor="ctr"/>
          <a:lstStyle/>
          <a:p>
            <a:pPr indent="0" marL="0">
              <a:buNone/>
            </a:pPr>
            <a:r>
              <a:rPr lang="en-US" sz="1300" b="1" dirty="0">
                <a:solidFill>
                  <a:srgbClr val="16282B"/>
                </a:solidFill>
                <a:latin typeface="Calibri" pitchFamily="34" charset="0"/>
                <a:ea typeface="Calibri" pitchFamily="34" charset="-122"/>
                <a:cs typeface="Calibri" pitchFamily="34" charset="-120"/>
              </a:rPr>
              <a:t>distinct patients</a:t>
            </a:r>
            <a:endParaRPr lang="en-US" sz="1300" dirty="0"/>
          </a:p>
        </p:txBody>
      </p:sp>
      <p:sp>
        <p:nvSpPr>
          <p:cNvPr id="23" name="Text 21"/>
          <p:cNvSpPr txBox="1"/>
          <p:nvPr/>
        </p:nvSpPr>
        <p:spPr>
          <a:xfrm>
            <a:off x="8933688" y="3072384"/>
            <a:ext cx="2606040" cy="548640"/>
          </a:xfrm>
          <a:prstGeom prst="rect">
            <a:avLst/>
          </a:prstGeom>
          <a:noFill/>
          <a:ln/>
        </p:spPr>
        <p:txBody>
          <a:bodyPr wrap="square" lIns="0" tIns="0" rIns="0" bIns="0" rtlCol="0" anchor="ctr"/>
          <a:lstStyle/>
          <a:p>
            <a:pPr indent="0" marL="0">
              <a:buNone/>
            </a:pPr>
            <a:r>
              <a:rPr lang="en-US" sz="1100" dirty="0">
                <a:solidFill>
                  <a:srgbClr val="5E7175"/>
                </a:solidFill>
                <a:latin typeface="Calibri" pitchFamily="34" charset="0"/>
                <a:ea typeface="Calibri" pitchFamily="34" charset="-122"/>
                <a:cs typeface="Calibri" pitchFamily="34" charset="-120"/>
              </a:rPr>
              <a:t>2.00 admissions each</a:t>
            </a:r>
            <a:endParaRPr lang="en-US" sz="1100" dirty="0"/>
          </a:p>
        </p:txBody>
      </p:sp>
      <p:sp>
        <p:nvSpPr>
          <p:cNvPr id="24" name="Text 22"/>
          <p:cNvSpPr txBox="1"/>
          <p:nvPr/>
        </p:nvSpPr>
        <p:spPr>
          <a:xfrm>
            <a:off x="6099048" y="3611880"/>
            <a:ext cx="2606040" cy="777240"/>
          </a:xfrm>
          <a:prstGeom prst="rect">
            <a:avLst/>
          </a:prstGeom>
          <a:noFill/>
          <a:ln/>
        </p:spPr>
        <p:txBody>
          <a:bodyPr wrap="square" lIns="0" tIns="0" rIns="0" bIns="0" rtlCol="0" anchor="ctr"/>
          <a:lstStyle/>
          <a:p>
            <a:pPr indent="0" marL="0">
              <a:buNone/>
            </a:pPr>
            <a:r>
              <a:rPr lang="en-US" sz="4400" b="1" dirty="0">
                <a:solidFill>
                  <a:srgbClr val="B85042"/>
                </a:solidFill>
                <a:latin typeface="Cambria" pitchFamily="34" charset="0"/>
                <a:ea typeface="Cambria" pitchFamily="34" charset="-122"/>
                <a:cs typeface="Cambria" pitchFamily="34" charset="-120"/>
              </a:rPr>
              <a:t>38.9%</a:t>
            </a:r>
            <a:endParaRPr lang="en-US" sz="4400" dirty="0"/>
          </a:p>
        </p:txBody>
      </p:sp>
      <p:sp>
        <p:nvSpPr>
          <p:cNvPr id="25" name="Text 23"/>
          <p:cNvSpPr txBox="1"/>
          <p:nvPr/>
        </p:nvSpPr>
        <p:spPr>
          <a:xfrm>
            <a:off x="6099048" y="4389120"/>
            <a:ext cx="2606040" cy="292608"/>
          </a:xfrm>
          <a:prstGeom prst="rect">
            <a:avLst/>
          </a:prstGeom>
          <a:noFill/>
          <a:ln/>
        </p:spPr>
        <p:txBody>
          <a:bodyPr wrap="square" lIns="0" tIns="0" rIns="0" bIns="0" rtlCol="0" anchor="ctr"/>
          <a:lstStyle/>
          <a:p>
            <a:pPr indent="0" marL="0">
              <a:buNone/>
            </a:pPr>
            <a:r>
              <a:rPr lang="en-US" sz="1300" b="1" dirty="0">
                <a:solidFill>
                  <a:srgbClr val="16282B"/>
                </a:solidFill>
                <a:latin typeface="Calibri" pitchFamily="34" charset="0"/>
                <a:ea typeface="Calibri" pitchFamily="34" charset="-122"/>
                <a:cs typeface="Calibri" pitchFamily="34" charset="-120"/>
              </a:rPr>
              <a:t>have more than one stay</a:t>
            </a:r>
            <a:endParaRPr lang="en-US" sz="1300" dirty="0"/>
          </a:p>
        </p:txBody>
      </p:sp>
      <p:sp>
        <p:nvSpPr>
          <p:cNvPr id="26" name="Text 24"/>
          <p:cNvSpPr txBox="1"/>
          <p:nvPr/>
        </p:nvSpPr>
        <p:spPr>
          <a:xfrm>
            <a:off x="6099048" y="4672584"/>
            <a:ext cx="2606040" cy="548640"/>
          </a:xfrm>
          <a:prstGeom prst="rect">
            <a:avLst/>
          </a:prstGeom>
          <a:noFill/>
          <a:ln/>
        </p:spPr>
        <p:txBody>
          <a:bodyPr wrap="square" lIns="0" tIns="0" rIns="0" bIns="0" rtlCol="0" anchor="ctr"/>
          <a:lstStyle/>
          <a:p>
            <a:pPr indent="0" marL="0">
              <a:buNone/>
            </a:pPr>
            <a:r>
              <a:rPr lang="en-US" sz="1100" dirty="0">
                <a:solidFill>
                  <a:srgbClr val="5E7175"/>
                </a:solidFill>
                <a:latin typeface="Calibri" pitchFamily="34" charset="0"/>
                <a:ea typeface="Calibri" pitchFamily="34" charset="-122"/>
                <a:cs typeface="Calibri" pitchFamily="34" charset="-120"/>
              </a:rPr>
              <a:t>which is what forces a patient-level split</a:t>
            </a:r>
            <a:endParaRPr lang="en-US" sz="1100" dirty="0"/>
          </a:p>
        </p:txBody>
      </p:sp>
      <p:sp>
        <p:nvSpPr>
          <p:cNvPr id="27" name="Text 25"/>
          <p:cNvSpPr txBox="1"/>
          <p:nvPr/>
        </p:nvSpPr>
        <p:spPr>
          <a:xfrm>
            <a:off x="8933688" y="3611880"/>
            <a:ext cx="2606040" cy="777240"/>
          </a:xfrm>
          <a:prstGeom prst="rect">
            <a:avLst/>
          </a:prstGeom>
          <a:noFill/>
          <a:ln/>
        </p:spPr>
        <p:txBody>
          <a:bodyPr wrap="square" lIns="0" tIns="0" rIns="0" bIns="0" rtlCol="0" anchor="ctr"/>
          <a:lstStyle/>
          <a:p>
            <a:pPr indent="0" marL="0">
              <a:buNone/>
            </a:pPr>
            <a:r>
              <a:rPr lang="en-US" sz="4400" b="1" dirty="0">
                <a:solidFill>
                  <a:srgbClr val="028090"/>
                </a:solidFill>
                <a:latin typeface="Cambria" pitchFamily="34" charset="0"/>
                <a:ea typeface="Cambria" pitchFamily="34" charset="-122"/>
                <a:cs typeface="Cambria" pitchFamily="34" charset="-120"/>
              </a:rPr>
              <a:t>17.1 GB</a:t>
            </a:r>
            <a:endParaRPr lang="en-US" sz="4400" dirty="0"/>
          </a:p>
        </p:txBody>
      </p:sp>
      <p:sp>
        <p:nvSpPr>
          <p:cNvPr id="28" name="Text 26"/>
          <p:cNvSpPr txBox="1"/>
          <p:nvPr/>
        </p:nvSpPr>
        <p:spPr>
          <a:xfrm>
            <a:off x="8933688" y="4389120"/>
            <a:ext cx="2606040" cy="292608"/>
          </a:xfrm>
          <a:prstGeom prst="rect">
            <a:avLst/>
          </a:prstGeom>
          <a:noFill/>
          <a:ln/>
        </p:spPr>
        <p:txBody>
          <a:bodyPr wrap="square" lIns="0" tIns="0" rIns="0" bIns="0" rtlCol="0" anchor="ctr"/>
          <a:lstStyle/>
          <a:p>
            <a:pPr indent="0" marL="0">
              <a:buNone/>
            </a:pPr>
            <a:r>
              <a:rPr lang="en-US" sz="1300" b="1" dirty="0">
                <a:solidFill>
                  <a:srgbClr val="16282B"/>
                </a:solidFill>
                <a:latin typeface="Calibri" pitchFamily="34" charset="0"/>
                <a:ea typeface="Calibri" pitchFamily="34" charset="-122"/>
                <a:cs typeface="Calibri" pitchFamily="34" charset="-120"/>
              </a:rPr>
              <a:t>streamed, never loaded</a:t>
            </a:r>
            <a:endParaRPr lang="en-US" sz="1300" dirty="0"/>
          </a:p>
        </p:txBody>
      </p:sp>
      <p:sp>
        <p:nvSpPr>
          <p:cNvPr id="29" name="Text 27"/>
          <p:cNvSpPr txBox="1"/>
          <p:nvPr/>
        </p:nvSpPr>
        <p:spPr>
          <a:xfrm>
            <a:off x="8933688" y="4672584"/>
            <a:ext cx="2606040" cy="548640"/>
          </a:xfrm>
          <a:prstGeom prst="rect">
            <a:avLst/>
          </a:prstGeom>
          <a:noFill/>
          <a:ln/>
        </p:spPr>
        <p:txBody>
          <a:bodyPr wrap="square" lIns="0" tIns="0" rIns="0" bIns="0" rtlCol="0" anchor="ctr"/>
          <a:lstStyle/>
          <a:p>
            <a:pPr indent="0" marL="0">
              <a:buNone/>
            </a:pPr>
            <a:r>
              <a:rPr lang="en-US" sz="1100" dirty="0">
                <a:solidFill>
                  <a:srgbClr val="5E7175"/>
                </a:solidFill>
                <a:latin typeface="Calibri" pitchFamily="34" charset="0"/>
                <a:ea typeface="Calibri" pitchFamily="34" charset="-122"/>
                <a:cs typeface="Calibri" pitchFamily="34" charset="-120"/>
              </a:rPr>
              <a:t>labevents, in 80 chunks of 2M rows</a:t>
            </a:r>
            <a:endParaRPr lang="en-US" sz="1100" dirty="0"/>
          </a:p>
        </p:txBody>
      </p:sp>
      <p:sp>
        <p:nvSpPr>
          <p:cNvPr id="30" name="Text 28"/>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1000" i="1" dirty="0">
                <a:solidFill>
                  <a:srgbClr val="5E7175"/>
                </a:solidFill>
                <a:latin typeface="Calibri" pitchFamily="34" charset="0"/>
                <a:ea typeface="Calibri" pitchFamily="34" charset="-122"/>
                <a:cs typeface="Calibri" pitchFamily="34" charset="-120"/>
              </a:rPr>
              <a:t>Full MIMIC-IV v3.1 hosp extract. Detail and every chart: data/Mimic_samples/mimic_eda_findings.md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EXPLORATORY DATA ANALYSIS</a:t>
            </a:r>
            <a:endParaRPr lang="en-US" sz="1100" dirty="0"/>
          </a:p>
        </p:txBody>
      </p:sp>
      <p:sp>
        <p:nvSpPr>
          <p:cNvPr id="3" name="Text 1"/>
          <p:cNvSpPr txBox="1"/>
          <p:nvPr/>
        </p:nvSpPr>
        <p:spPr>
          <a:xfrm>
            <a:off x="566928" y="566928"/>
            <a:ext cx="11057839" cy="658368"/>
          </a:xfrm>
          <a:prstGeom prst="rect">
            <a:avLst/>
          </a:prstGeom>
          <a:noFill/>
          <a:ln/>
        </p:spPr>
        <p:txBody>
          <a:bodyPr wrap="square" lIns="0" tIns="0" rIns="0" bIns="0" rtlCol="0" anchor="ctr"/>
          <a:lstStyle/>
          <a:p>
            <a:pPr indent="0" marL="0">
              <a:buNone/>
            </a:pPr>
            <a:r>
              <a:rPr lang="en-US" sz="3200" b="1" dirty="0">
                <a:solidFill>
                  <a:srgbClr val="16282B"/>
                </a:solidFill>
                <a:latin typeface="Cambria" pitchFamily="34" charset="0"/>
                <a:ea typeface="Cambria" pitchFamily="34" charset="-122"/>
                <a:cs typeface="Cambria" pitchFamily="34" charset="-120"/>
              </a:rPr>
              <a:t>What separates the patients who come back</a:t>
            </a:r>
            <a:endParaRPr lang="en-US" sz="3200" dirty="0"/>
          </a:p>
        </p:txBody>
      </p:sp>
      <p:graphicFrame>
        <p:nvGraphicFramePr>
          <p:cNvPr id="4" name="Chart 0" descr=""/>
          <p:cNvGraphicFramePr/>
          <p:nvPr/>
        </p:nvGraphicFramePr>
        <p:xfrm>
          <a:off x="566928" y="1463040"/>
          <a:ext cx="685800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90688" y="1463040"/>
            <a:ext cx="3834079" cy="4114800"/>
          </a:xfrm>
          <a:prstGeom prst="roundRect">
            <a:avLst>
              <a:gd name="adj" fmla="val 1908"/>
            </a:avLst>
          </a:prstGeom>
          <a:solidFill>
            <a:srgbClr val="F1F6F5"/>
          </a:solidFill>
          <a:ln w="12700">
            <a:solidFill>
              <a:srgbClr val="F1F6F5"/>
            </a:solidFill>
            <a:prstDash val="solid"/>
          </a:ln>
        </p:spPr>
      </p:sp>
      <p:sp>
        <p:nvSpPr>
          <p:cNvPr id="6" name="Text 3"/>
          <p:cNvSpPr txBox="1"/>
          <p:nvPr/>
        </p:nvSpPr>
        <p:spPr>
          <a:xfrm>
            <a:off x="8065008" y="1691640"/>
            <a:ext cx="3285439" cy="594360"/>
          </a:xfrm>
          <a:prstGeom prst="rect">
            <a:avLst/>
          </a:prstGeom>
          <a:noFill/>
          <a:ln/>
        </p:spPr>
        <p:txBody>
          <a:bodyPr wrap="square" lIns="0" tIns="0" rIns="0" bIns="0" rtlCol="0" anchor="ctr"/>
          <a:lstStyle/>
          <a:p>
            <a:pPr indent="0" marL="0">
              <a:lnSpc>
                <a:spcPts val="2000"/>
              </a:lnSpc>
              <a:buNone/>
            </a:pPr>
            <a:r>
              <a:rPr lang="en-US" sz="1500" b="1" dirty="0">
                <a:solidFill>
                  <a:srgbClr val="16282B"/>
                </a:solidFill>
                <a:latin typeface="Calibri" pitchFamily="34" charset="0"/>
                <a:ea typeface="Calibri" pitchFamily="34" charset="-122"/>
                <a:cs typeface="Calibri" pitchFamily="34" charset="-120"/>
              </a:rPr>
              <a:t>The spreads land where the literature says they should</a:t>
            </a:r>
            <a:endParaRPr lang="en-US" sz="1500" dirty="0"/>
          </a:p>
        </p:txBody>
      </p:sp>
      <p:sp>
        <p:nvSpPr>
          <p:cNvPr id="7" name="Text 4"/>
          <p:cNvSpPr txBox="1"/>
          <p:nvPr/>
        </p:nvSpPr>
        <p:spPr>
          <a:xfrm>
            <a:off x="8065008" y="2615184"/>
            <a:ext cx="3239719" cy="283464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100" dirty="0">
                <a:solidFill>
                  <a:srgbClr val="16282B"/>
                </a:solidFill>
                <a:latin typeface="Calibri" pitchFamily="34" charset="0"/>
                <a:ea typeface="Calibri" pitchFamily="34" charset="-122"/>
                <a:cs typeface="Calibri" pitchFamily="34" charset="-120"/>
              </a:rPr>
              <a:t>Prior admissions gives the widest monotonic gradient — 13.7% at none rising cleanly through five bands to 36.5% at six or more.</a:t>
            </a:r>
            <a:endParaRPr lang="en-US" sz="1100" dirty="0"/>
          </a:p>
          <a:p>
            <a:pPr marL="342900" indent="-342900">
              <a:lnSpc>
                <a:spcPts val="1700"/>
              </a:lnSpc>
              <a:spcAft>
                <a:spcPts val="700"/>
              </a:spcAft>
              <a:buSzPct val="100000"/>
              <a:buChar char="•"/>
            </a:pPr>
            <a:r>
              <a:rPr lang="en-US" sz="1100" dirty="0">
                <a:solidFill>
                  <a:srgbClr val="16282B"/>
                </a:solidFill>
                <a:latin typeface="Calibri" pitchFamily="34" charset="0"/>
                <a:ea typeface="Calibri" pitchFamily="34" charset="-122"/>
                <a:cs typeface="Calibri" pitchFamily="34" charset="-120"/>
              </a:rPr>
              <a:t>APR-DRG severity runs 10.6% to 27.4% across four grades, on 91.2% coverage, from one already-coded field.</a:t>
            </a:r>
            <a:endParaRPr lang="en-US" sz="1100" dirty="0"/>
          </a:p>
          <a:p>
            <a:pPr marL="342900" indent="-342900">
              <a:lnSpc>
                <a:spcPts val="1700"/>
              </a:lnSpc>
              <a:spcAft>
                <a:spcPts val="700"/>
              </a:spcAft>
              <a:buSzPct val="100000"/>
              <a:buChar char="•"/>
            </a:pPr>
            <a:r>
              <a:rPr lang="en-US" sz="1100" dirty="0">
                <a:solidFill>
                  <a:srgbClr val="16282B"/>
                </a:solidFill>
                <a:latin typeface="Calibri" pitchFamily="34" charset="0"/>
                <a:ea typeface="Calibri" pitchFamily="34" charset="-122"/>
                <a:cs typeface="Calibri" pitchFamily="34" charset="-120"/>
              </a:rPr>
              <a:t>Discharge destination has the widest spread overall — 15.9% at home to 51.6% at a psychiatric facility, on a small top group.</a:t>
            </a:r>
            <a:endParaRPr lang="en-US" sz="1100" dirty="0"/>
          </a:p>
          <a:p>
            <a:pPr marL="342900" indent="-342900">
              <a:lnSpc>
                <a:spcPts val="1700"/>
              </a:lnSpc>
              <a:spcAft>
                <a:spcPts val="700"/>
              </a:spcAft>
              <a:buSzPct val="100000"/>
              <a:buChar char="•"/>
            </a:pPr>
            <a:r>
              <a:rPr lang="en-US" sz="1100" dirty="0">
                <a:solidFill>
                  <a:srgbClr val="16282B"/>
                </a:solidFill>
                <a:latin typeface="Calibri" pitchFamily="34" charset="0"/>
                <a:ea typeface="Calibri" pitchFamily="34" charset="-122"/>
                <a:cs typeface="Calibri" pitchFamily="34" charset="-120"/>
              </a:rPr>
              <a:t>Getting the expected answers before training is the reassurance worth having.</a:t>
            </a:r>
            <a:endParaRPr lang="en-US" sz="1100" dirty="0"/>
          </a:p>
        </p:txBody>
      </p:sp>
      <p:sp>
        <p:nvSpPr>
          <p:cNvPr id="8" name="Text 5"/>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1000" i="1" dirty="0">
                <a:solidFill>
                  <a:srgbClr val="5E7175"/>
                </a:solidFill>
                <a:latin typeface="Calibri" pitchFamily="34" charset="0"/>
                <a:ea typeface="Calibri" pitchFamily="34" charset="-122"/>
                <a:cs typeface="Calibri" pitchFamily="34" charset="-120"/>
              </a:rPr>
              <a:t>Every rate is over ≥100 admissions; groups below that floor are dropped as noise.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EXPLORATORY DATA ANALYSIS</a:t>
            </a:r>
            <a:endParaRPr lang="en-US" sz="1100" dirty="0"/>
          </a:p>
        </p:txBody>
      </p:sp>
      <p:sp>
        <p:nvSpPr>
          <p:cNvPr id="3" name="Text 1"/>
          <p:cNvSpPr txBox="1"/>
          <p:nvPr/>
        </p:nvSpPr>
        <p:spPr>
          <a:xfrm>
            <a:off x="566928" y="566928"/>
            <a:ext cx="11057839" cy="658368"/>
          </a:xfrm>
          <a:prstGeom prst="rect">
            <a:avLst/>
          </a:prstGeom>
          <a:noFill/>
          <a:ln/>
        </p:spPr>
        <p:txBody>
          <a:bodyPr wrap="square" lIns="0" tIns="0" rIns="0" bIns="0" rtlCol="0" anchor="ctr"/>
          <a:lstStyle/>
          <a:p>
            <a:pPr indent="0" marL="0">
              <a:buNone/>
            </a:pPr>
            <a:r>
              <a:rPr lang="en-US" sz="3200" b="1" dirty="0">
                <a:solidFill>
                  <a:srgbClr val="16282B"/>
                </a:solidFill>
                <a:latin typeface="Cambria" pitchFamily="34" charset="0"/>
                <a:ea typeface="Cambria" pitchFamily="34" charset="-122"/>
                <a:cs typeface="Cambria" pitchFamily="34" charset="-120"/>
              </a:rPr>
              <a:t>Four findings that shaped the model design</a:t>
            </a:r>
            <a:endParaRPr lang="en-US" sz="3200" dirty="0"/>
          </a:p>
        </p:txBody>
      </p:sp>
      <p:sp>
        <p:nvSpPr>
          <p:cNvPr id="4" name="Shape 2"/>
          <p:cNvSpPr/>
          <p:nvPr/>
        </p:nvSpPr>
        <p:spPr>
          <a:xfrm>
            <a:off x="566928" y="1536192"/>
            <a:ext cx="5323180" cy="1920240"/>
          </a:xfrm>
          <a:prstGeom prst="roundRect">
            <a:avLst>
              <a:gd name="adj" fmla="val 3810"/>
            </a:avLst>
          </a:prstGeom>
          <a:solidFill>
            <a:srgbClr val="F1F6F5"/>
          </a:solidFill>
          <a:ln w="12700">
            <a:solidFill>
              <a:srgbClr val="F1F6F5"/>
            </a:solidFill>
            <a:prstDash val="solid"/>
          </a:ln>
        </p:spPr>
      </p:sp>
      <p:sp>
        <p:nvSpPr>
          <p:cNvPr id="5" name="Shape 3"/>
          <p:cNvSpPr/>
          <p:nvPr/>
        </p:nvSpPr>
        <p:spPr>
          <a:xfrm>
            <a:off x="841248" y="1792224"/>
            <a:ext cx="457200" cy="457200"/>
          </a:xfrm>
          <a:prstGeom prst="ellipse">
            <a:avLst/>
          </a:prstGeom>
          <a:solidFill>
            <a:srgbClr val="00A896"/>
          </a:solidFill>
          <a:ln/>
        </p:spPr>
      </p:sp>
      <p:sp>
        <p:nvSpPr>
          <p:cNvPr id="6" name="Text 4"/>
          <p:cNvSpPr txBox="1"/>
          <p:nvPr/>
        </p:nvSpPr>
        <p:spPr>
          <a:xfrm>
            <a:off x="841248" y="179222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463040" y="1819656"/>
            <a:ext cx="4152748" cy="384048"/>
          </a:xfrm>
          <a:prstGeom prst="rect">
            <a:avLst/>
          </a:prstGeom>
          <a:noFill/>
          <a:ln/>
        </p:spPr>
        <p:txBody>
          <a:bodyPr wrap="square" lIns="0" tIns="0" rIns="0" bIns="0" rtlCol="0" anchor="ctr"/>
          <a:lstStyle/>
          <a:p>
            <a:pPr indent="0" marL="0">
              <a:buNone/>
            </a:pPr>
            <a:r>
              <a:rPr lang="en-US" sz="1450" b="1" dirty="0">
                <a:solidFill>
                  <a:srgbClr val="16282B"/>
                </a:solidFill>
                <a:latin typeface="Calibri" pitchFamily="34" charset="0"/>
                <a:ea typeface="Calibri" pitchFamily="34" charset="-122"/>
                <a:cs typeface="Calibri" pitchFamily="34" charset="-120"/>
              </a:rPr>
              <a:t>Admission type stays categorical</a:t>
            </a:r>
            <a:endParaRPr lang="en-US" sz="1450" dirty="0"/>
          </a:p>
        </p:txBody>
      </p:sp>
      <p:sp>
        <p:nvSpPr>
          <p:cNvPr id="8" name="Text 6"/>
          <p:cNvSpPr txBox="1"/>
          <p:nvPr/>
        </p:nvSpPr>
        <p:spPr>
          <a:xfrm>
            <a:off x="841248" y="2377440"/>
            <a:ext cx="4774540" cy="960120"/>
          </a:xfrm>
          <a:prstGeom prst="rect">
            <a:avLst/>
          </a:prstGeom>
          <a:noFill/>
          <a:ln/>
        </p:spPr>
        <p:txBody>
          <a:bodyPr wrap="square" lIns="0" tIns="0" rIns="0" bIns="0" rtlCol="0" anchor="ctr"/>
          <a:lstStyle/>
          <a:p>
            <a:pPr indent="0" marL="0">
              <a:lnSpc>
                <a:spcPts val="1500"/>
              </a:lnSpc>
              <a:buNone/>
            </a:pPr>
            <a:r>
              <a:rPr lang="en-US" sz="1150" dirty="0">
                <a:solidFill>
                  <a:srgbClr val="5E7175"/>
                </a:solidFill>
                <a:latin typeface="Calibri" pitchFamily="34" charset="0"/>
                <a:ea typeface="Calibri" pitchFamily="34" charset="-122"/>
                <a:cs typeface="Calibri" pitchFamily="34" charset="-120"/>
              </a:rPr>
              <a:t>ELECTIVE runs at 19.6% against URGENT at 15.1%, because URGENT is largely inter-facility surgical transfers that resolve while ELECTIVE includes planned admissions for serious chronic disease. Reading this correctly kept the field categorical rather than encoded as an acuity scale.</a:t>
            </a:r>
            <a:endParaRPr lang="en-US" sz="1150" dirty="0"/>
          </a:p>
        </p:txBody>
      </p:sp>
      <p:sp>
        <p:nvSpPr>
          <p:cNvPr id="9" name="Shape 7"/>
          <p:cNvSpPr/>
          <p:nvPr/>
        </p:nvSpPr>
        <p:spPr>
          <a:xfrm>
            <a:off x="6301588" y="1536192"/>
            <a:ext cx="5323180" cy="1920240"/>
          </a:xfrm>
          <a:prstGeom prst="roundRect">
            <a:avLst>
              <a:gd name="adj" fmla="val 3810"/>
            </a:avLst>
          </a:prstGeom>
          <a:solidFill>
            <a:srgbClr val="F1F6F5"/>
          </a:solidFill>
          <a:ln w="12700">
            <a:solidFill>
              <a:srgbClr val="F1F6F5"/>
            </a:solidFill>
            <a:prstDash val="solid"/>
          </a:ln>
        </p:spPr>
      </p:sp>
      <p:sp>
        <p:nvSpPr>
          <p:cNvPr id="10" name="Shape 8"/>
          <p:cNvSpPr/>
          <p:nvPr/>
        </p:nvSpPr>
        <p:spPr>
          <a:xfrm>
            <a:off x="6575908" y="1792224"/>
            <a:ext cx="457200" cy="457200"/>
          </a:xfrm>
          <a:prstGeom prst="ellipse">
            <a:avLst/>
          </a:prstGeom>
          <a:solidFill>
            <a:srgbClr val="00A896"/>
          </a:solidFill>
          <a:ln/>
        </p:spPr>
      </p:sp>
      <p:sp>
        <p:nvSpPr>
          <p:cNvPr id="11" name="Text 9"/>
          <p:cNvSpPr txBox="1"/>
          <p:nvPr/>
        </p:nvSpPr>
        <p:spPr>
          <a:xfrm>
            <a:off x="6575908" y="179222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7197700" y="1819656"/>
            <a:ext cx="4152748" cy="384048"/>
          </a:xfrm>
          <a:prstGeom prst="rect">
            <a:avLst/>
          </a:prstGeom>
          <a:noFill/>
          <a:ln/>
        </p:spPr>
        <p:txBody>
          <a:bodyPr wrap="square" lIns="0" tIns="0" rIns="0" bIns="0" rtlCol="0" anchor="ctr"/>
          <a:lstStyle/>
          <a:p>
            <a:pPr indent="0" marL="0">
              <a:buNone/>
            </a:pPr>
            <a:r>
              <a:rPr lang="en-US" sz="1450" b="1" dirty="0">
                <a:solidFill>
                  <a:srgbClr val="16282B"/>
                </a:solidFill>
                <a:latin typeface="Calibri" pitchFamily="34" charset="0"/>
                <a:ea typeface="Calibri" pitchFamily="34" charset="-122"/>
                <a:cs typeface="Calibri" pitchFamily="34" charset="-120"/>
              </a:rPr>
              <a:t>Length of stay is U-shaped</a:t>
            </a:r>
            <a:endParaRPr lang="en-US" sz="1450" dirty="0"/>
          </a:p>
        </p:txBody>
      </p:sp>
      <p:sp>
        <p:nvSpPr>
          <p:cNvPr id="13" name="Text 11"/>
          <p:cNvSpPr txBox="1"/>
          <p:nvPr/>
        </p:nvSpPr>
        <p:spPr>
          <a:xfrm>
            <a:off x="6575908" y="2377440"/>
            <a:ext cx="4774540" cy="960120"/>
          </a:xfrm>
          <a:prstGeom prst="rect">
            <a:avLst/>
          </a:prstGeom>
          <a:noFill/>
          <a:ln/>
        </p:spPr>
        <p:txBody>
          <a:bodyPr wrap="square" lIns="0" tIns="0" rIns="0" bIns="0" rtlCol="0" anchor="ctr"/>
          <a:lstStyle/>
          <a:p>
            <a:pPr indent="0" marL="0">
              <a:lnSpc>
                <a:spcPts val="1500"/>
              </a:lnSpc>
              <a:buNone/>
            </a:pPr>
            <a:r>
              <a:rPr lang="en-US" sz="1150" dirty="0">
                <a:solidFill>
                  <a:srgbClr val="5E7175"/>
                </a:solidFill>
                <a:latin typeface="Calibri" pitchFamily="34" charset="0"/>
                <a:ea typeface="Calibri" pitchFamily="34" charset="-122"/>
                <a:cs typeface="Calibri" pitchFamily="34" charset="-120"/>
              </a:rPr>
              <a:t>In order of duration: 16.2% (&lt;1d), 15.9% (1-3d), 19.7%, 24.8%, 28.5%. The minimum sits at 1-3 days and very short stays carry more risk. Gradient boosting captures that curve natively, which is one reason the model class was chosen deliberately.</a:t>
            </a:r>
            <a:endParaRPr lang="en-US" sz="1150" dirty="0"/>
          </a:p>
        </p:txBody>
      </p:sp>
      <p:sp>
        <p:nvSpPr>
          <p:cNvPr id="14" name="Shape 12"/>
          <p:cNvSpPr/>
          <p:nvPr/>
        </p:nvSpPr>
        <p:spPr>
          <a:xfrm>
            <a:off x="566928" y="3803904"/>
            <a:ext cx="5323180" cy="1920240"/>
          </a:xfrm>
          <a:prstGeom prst="roundRect">
            <a:avLst>
              <a:gd name="adj" fmla="val 3810"/>
            </a:avLst>
          </a:prstGeom>
          <a:solidFill>
            <a:srgbClr val="F1F6F5"/>
          </a:solidFill>
          <a:ln w="12700">
            <a:solidFill>
              <a:srgbClr val="F1F6F5"/>
            </a:solidFill>
            <a:prstDash val="solid"/>
          </a:ln>
        </p:spPr>
      </p:sp>
      <p:sp>
        <p:nvSpPr>
          <p:cNvPr id="15" name="Shape 13"/>
          <p:cNvSpPr/>
          <p:nvPr/>
        </p:nvSpPr>
        <p:spPr>
          <a:xfrm>
            <a:off x="841248" y="4059936"/>
            <a:ext cx="457200" cy="457200"/>
          </a:xfrm>
          <a:prstGeom prst="ellipse">
            <a:avLst/>
          </a:prstGeom>
          <a:solidFill>
            <a:srgbClr val="00A896"/>
          </a:solidFill>
          <a:ln/>
        </p:spPr>
      </p:sp>
      <p:sp>
        <p:nvSpPr>
          <p:cNvPr id="16" name="Text 14"/>
          <p:cNvSpPr txBox="1"/>
          <p:nvPr/>
        </p:nvSpPr>
        <p:spPr>
          <a:xfrm>
            <a:off x="841248" y="40599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463040" y="4087368"/>
            <a:ext cx="4152748" cy="384048"/>
          </a:xfrm>
          <a:prstGeom prst="rect">
            <a:avLst/>
          </a:prstGeom>
          <a:noFill/>
          <a:ln/>
        </p:spPr>
        <p:txBody>
          <a:bodyPr wrap="square" lIns="0" tIns="0" rIns="0" bIns="0" rtlCol="0" anchor="ctr"/>
          <a:lstStyle/>
          <a:p>
            <a:pPr indent="0" marL="0">
              <a:buNone/>
            </a:pPr>
            <a:r>
              <a:rPr lang="en-US" sz="1450" b="1" dirty="0">
                <a:solidFill>
                  <a:srgbClr val="16282B"/>
                </a:solidFill>
                <a:latin typeface="Calibri" pitchFamily="34" charset="0"/>
                <a:ea typeface="Calibri" pitchFamily="34" charset="-122"/>
                <a:cs typeface="Calibri" pitchFamily="34" charset="-120"/>
              </a:rPr>
              <a:t>Medication flags read as exposure</a:t>
            </a:r>
            <a:endParaRPr lang="en-US" sz="1450" dirty="0"/>
          </a:p>
        </p:txBody>
      </p:sp>
      <p:sp>
        <p:nvSpPr>
          <p:cNvPr id="18" name="Text 16"/>
          <p:cNvSpPr txBox="1"/>
          <p:nvPr/>
        </p:nvSpPr>
        <p:spPr>
          <a:xfrm>
            <a:off x="841248" y="4645152"/>
            <a:ext cx="4774540" cy="960120"/>
          </a:xfrm>
          <a:prstGeom prst="rect">
            <a:avLst/>
          </a:prstGeom>
          <a:noFill/>
          <a:ln/>
        </p:spPr>
        <p:txBody>
          <a:bodyPr wrap="square" lIns="0" tIns="0" rIns="0" bIns="0" rtlCol="0" anchor="ctr"/>
          <a:lstStyle/>
          <a:p>
            <a:pPr indent="0" marL="0">
              <a:lnSpc>
                <a:spcPts val="1500"/>
              </a:lnSpc>
              <a:buNone/>
            </a:pPr>
            <a:r>
              <a:rPr lang="en-US" sz="1150" dirty="0">
                <a:solidFill>
                  <a:srgbClr val="5E7175"/>
                </a:solidFill>
                <a:latin typeface="Calibri" pitchFamily="34" charset="0"/>
                <a:ea typeface="Calibri" pitchFamily="34" charset="-122"/>
                <a:cs typeface="Calibri" pitchFamily="34" charset="-120"/>
              </a:rPr>
              <a:t>76.1% of admissions carry an anticoagulant order, largely prophylactic heparin, so the flag is best understood as exposure rather than therapeutic intent. Documenting that keeps the driver wording shown to clinicians accurate.</a:t>
            </a:r>
            <a:endParaRPr lang="en-US" sz="1150" dirty="0"/>
          </a:p>
        </p:txBody>
      </p:sp>
      <p:sp>
        <p:nvSpPr>
          <p:cNvPr id="19" name="Shape 17"/>
          <p:cNvSpPr/>
          <p:nvPr/>
        </p:nvSpPr>
        <p:spPr>
          <a:xfrm>
            <a:off x="6301588" y="3803904"/>
            <a:ext cx="5323180" cy="1920240"/>
          </a:xfrm>
          <a:prstGeom prst="roundRect">
            <a:avLst>
              <a:gd name="adj" fmla="val 3810"/>
            </a:avLst>
          </a:prstGeom>
          <a:solidFill>
            <a:srgbClr val="F1F6F5"/>
          </a:solidFill>
          <a:ln w="12700">
            <a:solidFill>
              <a:srgbClr val="F1F6F5"/>
            </a:solidFill>
            <a:prstDash val="solid"/>
          </a:ln>
        </p:spPr>
      </p:sp>
      <p:sp>
        <p:nvSpPr>
          <p:cNvPr id="20" name="Shape 18"/>
          <p:cNvSpPr/>
          <p:nvPr/>
        </p:nvSpPr>
        <p:spPr>
          <a:xfrm>
            <a:off x="6575908" y="4059936"/>
            <a:ext cx="457200" cy="457200"/>
          </a:xfrm>
          <a:prstGeom prst="ellipse">
            <a:avLst/>
          </a:prstGeom>
          <a:solidFill>
            <a:srgbClr val="00A896"/>
          </a:solidFill>
          <a:ln/>
        </p:spPr>
      </p:sp>
      <p:sp>
        <p:nvSpPr>
          <p:cNvPr id="21" name="Text 19"/>
          <p:cNvSpPr txBox="1"/>
          <p:nvPr/>
        </p:nvSpPr>
        <p:spPr>
          <a:xfrm>
            <a:off x="6575908" y="40599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7197700" y="4087368"/>
            <a:ext cx="4152748" cy="384048"/>
          </a:xfrm>
          <a:prstGeom prst="rect">
            <a:avLst/>
          </a:prstGeom>
          <a:noFill/>
          <a:ln/>
        </p:spPr>
        <p:txBody>
          <a:bodyPr wrap="square" lIns="0" tIns="0" rIns="0" bIns="0" rtlCol="0" anchor="ctr"/>
          <a:lstStyle/>
          <a:p>
            <a:pPr indent="0" marL="0">
              <a:buNone/>
            </a:pPr>
            <a:r>
              <a:rPr lang="en-US" sz="1450" b="1" dirty="0">
                <a:solidFill>
                  <a:srgbClr val="16282B"/>
                </a:solidFill>
                <a:latin typeface="Calibri" pitchFamily="34" charset="0"/>
                <a:ea typeface="Calibri" pitchFamily="34" charset="-122"/>
                <a:cs typeface="Calibri" pitchFamily="34" charset="-120"/>
              </a:rPr>
              <a:t>Lab features carry their own context</a:t>
            </a:r>
            <a:endParaRPr lang="en-US" sz="1450" dirty="0"/>
          </a:p>
        </p:txBody>
      </p:sp>
      <p:sp>
        <p:nvSpPr>
          <p:cNvPr id="23" name="Text 21"/>
          <p:cNvSpPr txBox="1"/>
          <p:nvPr/>
        </p:nvSpPr>
        <p:spPr>
          <a:xfrm>
            <a:off x="6575908" y="4645152"/>
            <a:ext cx="4774540" cy="960120"/>
          </a:xfrm>
          <a:prstGeom prst="rect">
            <a:avLst/>
          </a:prstGeom>
          <a:noFill/>
          <a:ln/>
        </p:spPr>
        <p:txBody>
          <a:bodyPr wrap="square" lIns="0" tIns="0" rIns="0" bIns="0" rtlCol="0" anchor="ctr"/>
          <a:lstStyle/>
          <a:p>
            <a:pPr indent="0" marL="0">
              <a:lnSpc>
                <a:spcPts val="1500"/>
              </a:lnSpc>
              <a:buNone/>
            </a:pPr>
            <a:r>
              <a:rPr lang="en-US" sz="1150" dirty="0">
                <a:solidFill>
                  <a:srgbClr val="5E7175"/>
                </a:solidFill>
                <a:latin typeface="Calibri" pitchFamily="34" charset="0"/>
                <a:ea typeface="Calibri" pitchFamily="34" charset="-122"/>
                <a:cs typeface="Calibri" pitchFamily="34" charset="-120"/>
              </a:rPr>
              <a:t>HbA1c is present for 9.3% of admissions because it is ordered when diabetes is suspected. Every abnormal rate is therefore conditional on testing, which is why the model handles missing labs natively instead of imputing them.</a:t>
            </a:r>
            <a:endParaRPr lang="en-US" sz="1150" dirty="0"/>
          </a:p>
        </p:txBody>
      </p:sp>
      <p:sp>
        <p:nvSpPr>
          <p:cNvPr id="24" name="Text 22"/>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1000" i="1" dirty="0">
                <a:solidFill>
                  <a:srgbClr val="5E7175"/>
                </a:solidFill>
                <a:latin typeface="Calibri" pitchFamily="34" charset="0"/>
                <a:ea typeface="Calibri" pitchFamily="34" charset="-122"/>
                <a:cs typeface="Calibri" pitchFamily="34" charset="-120"/>
              </a:rPr>
              <a:t>Reading the data carefully before modelling is what turns each of these into a design decision rather than a surprise later.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TRAINING</a:t>
            </a:r>
            <a:endParaRPr lang="en-US" sz="1100" dirty="0"/>
          </a:p>
        </p:txBody>
      </p:sp>
      <p:sp>
        <p:nvSpPr>
          <p:cNvPr id="3" name="Text 1"/>
          <p:cNvSpPr txBox="1"/>
          <p:nvPr/>
        </p:nvSpPr>
        <p:spPr>
          <a:xfrm>
            <a:off x="566928" y="566928"/>
            <a:ext cx="11057839" cy="658368"/>
          </a:xfrm>
          <a:prstGeom prst="rect">
            <a:avLst/>
          </a:prstGeom>
          <a:noFill/>
          <a:ln/>
        </p:spPr>
        <p:txBody>
          <a:bodyPr wrap="square" lIns="0" tIns="0" rIns="0" bIns="0" rtlCol="0" anchor="ctr"/>
          <a:lstStyle/>
          <a:p>
            <a:pPr indent="0" marL="0">
              <a:buNone/>
            </a:pPr>
            <a:r>
              <a:rPr lang="en-US" sz="3200" b="1" dirty="0">
                <a:solidFill>
                  <a:srgbClr val="16282B"/>
                </a:solidFill>
                <a:latin typeface="Cambria" pitchFamily="34" charset="0"/>
                <a:ea typeface="Cambria" pitchFamily="34" charset="-122"/>
                <a:cs typeface="Cambria" pitchFamily="34" charset="-120"/>
              </a:rPr>
              <a:t>Engineering the training run</a:t>
            </a:r>
            <a:endParaRPr lang="en-US" sz="3200" dirty="0"/>
          </a:p>
        </p:txBody>
      </p:sp>
      <p:sp>
        <p:nvSpPr>
          <p:cNvPr id="4" name="Text 2"/>
          <p:cNvSpPr txBox="1"/>
          <p:nvPr/>
        </p:nvSpPr>
        <p:spPr>
          <a:xfrm>
            <a:off x="566928" y="1417320"/>
            <a:ext cx="11057839" cy="365760"/>
          </a:xfrm>
          <a:prstGeom prst="rect">
            <a:avLst/>
          </a:prstGeom>
          <a:noFill/>
          <a:ln/>
        </p:spPr>
        <p:txBody>
          <a:bodyPr wrap="square" lIns="0" tIns="0" rIns="0" bIns="0" rtlCol="0" anchor="ctr"/>
          <a:lstStyle/>
          <a:p>
            <a:pPr indent="0" marL="0">
              <a:buNone/>
            </a:pPr>
            <a:r>
              <a:rPr lang="en-US" sz="1500" dirty="0">
                <a:solidFill>
                  <a:srgbClr val="5E7175"/>
                </a:solidFill>
                <a:latin typeface="Calibri" pitchFamily="34" charset="0"/>
                <a:ea typeface="Calibri" pitchFamily="34" charset="-122"/>
                <a:cs typeface="Calibri" pitchFamily="34" charset="-120"/>
              </a:rPr>
              <a:t>The constraint was memory, not modelling: labevents.csv is 18.4 GB and a Kaggle CPU session has 32 GB of RAM.</a:t>
            </a:r>
            <a:endParaRPr lang="en-US" sz="1500" dirty="0"/>
          </a:p>
        </p:txBody>
      </p:sp>
      <p:sp>
        <p:nvSpPr>
          <p:cNvPr id="5" name="Shape 3"/>
          <p:cNvSpPr/>
          <p:nvPr/>
        </p:nvSpPr>
        <p:spPr>
          <a:xfrm>
            <a:off x="566928" y="1965960"/>
            <a:ext cx="5323180" cy="1783080"/>
          </a:xfrm>
          <a:prstGeom prst="roundRect">
            <a:avLst>
              <a:gd name="adj" fmla="val 4103"/>
            </a:avLst>
          </a:prstGeom>
          <a:solidFill>
            <a:srgbClr val="F1F6F5"/>
          </a:solidFill>
          <a:ln w="12700">
            <a:solidFill>
              <a:srgbClr val="F1F6F5"/>
            </a:solidFill>
            <a:prstDash val="solid"/>
          </a:ln>
        </p:spPr>
      </p:sp>
      <p:sp>
        <p:nvSpPr>
          <p:cNvPr id="6" name="Shape 4"/>
          <p:cNvSpPr/>
          <p:nvPr/>
        </p:nvSpPr>
        <p:spPr>
          <a:xfrm>
            <a:off x="859536" y="2240280"/>
            <a:ext cx="457200" cy="457200"/>
          </a:xfrm>
          <a:prstGeom prst="ellipse">
            <a:avLst/>
          </a:prstGeom>
          <a:solidFill>
            <a:srgbClr val="00A896"/>
          </a:solidFill>
          <a:ln/>
        </p:spPr>
      </p:sp>
      <p:sp>
        <p:nvSpPr>
          <p:cNvPr id="7" name="Text 5"/>
          <p:cNvSpPr txBox="1"/>
          <p:nvPr/>
        </p:nvSpPr>
        <p:spPr>
          <a:xfrm>
            <a:off x="859536" y="22402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481328" y="2267712"/>
            <a:ext cx="4134460" cy="365760"/>
          </a:xfrm>
          <a:prstGeom prst="rect">
            <a:avLst/>
          </a:prstGeom>
          <a:noFill/>
          <a:ln/>
        </p:spPr>
        <p:txBody>
          <a:bodyPr wrap="square" lIns="0" tIns="0" rIns="0" bIns="0" rtlCol="0" anchor="ctr"/>
          <a:lstStyle/>
          <a:p>
            <a:pPr indent="0" marL="0">
              <a:buNone/>
            </a:pPr>
            <a:r>
              <a:rPr lang="en-US" sz="1500" b="1" dirty="0">
                <a:solidFill>
                  <a:srgbClr val="16282B"/>
                </a:solidFill>
                <a:latin typeface="Calibri" pitchFamily="34" charset="0"/>
                <a:ea typeface="Calibri" pitchFamily="34" charset="-122"/>
                <a:cs typeface="Calibri" pitchFamily="34" charset="-120"/>
              </a:rPr>
              <a:t>Streamed, not loaded</a:t>
            </a:r>
            <a:endParaRPr lang="en-US" sz="1500" dirty="0"/>
          </a:p>
        </p:txBody>
      </p:sp>
      <p:sp>
        <p:nvSpPr>
          <p:cNvPr id="9" name="Text 7"/>
          <p:cNvSpPr txBox="1"/>
          <p:nvPr/>
        </p:nvSpPr>
        <p:spPr>
          <a:xfrm>
            <a:off x="859536" y="2788920"/>
            <a:ext cx="4737964" cy="868680"/>
          </a:xfrm>
          <a:prstGeom prst="rect">
            <a:avLst/>
          </a:prstGeom>
          <a:noFill/>
          <a:ln/>
        </p:spPr>
        <p:txBody>
          <a:bodyPr wrap="square" lIns="0" tIns="0" rIns="0" bIns="0" rtlCol="0" anchor="ctr"/>
          <a:lstStyle/>
          <a:p>
            <a:pPr indent="0" marL="0">
              <a:lnSpc>
                <a:spcPts val="1600"/>
              </a:lnSpc>
              <a:buNone/>
            </a:pPr>
            <a:r>
              <a:rPr lang="en-US" sz="1200" dirty="0">
                <a:solidFill>
                  <a:srgbClr val="5E7175"/>
                </a:solidFill>
                <a:latin typeface="Calibri" pitchFamily="34" charset="0"/>
                <a:ea typeface="Calibri" pitchFamily="34" charset="-122"/>
                <a:cs typeface="Calibri" pitchFamily="34" charset="-120"/>
              </a:rPr>
              <a:t>Tables over ~500 MB are read in chunks, filtered to the cohort, reduced to per-admission aggregates and discarded. emar (8.7 GB), poe (5.1 GB) and pharmacy (4 GB) are never touched.</a:t>
            </a:r>
            <a:endParaRPr lang="en-US" sz="1200" dirty="0"/>
          </a:p>
        </p:txBody>
      </p:sp>
      <p:sp>
        <p:nvSpPr>
          <p:cNvPr id="10" name="Shape 8"/>
          <p:cNvSpPr/>
          <p:nvPr/>
        </p:nvSpPr>
        <p:spPr>
          <a:xfrm>
            <a:off x="6301588" y="1965960"/>
            <a:ext cx="5323180" cy="1783080"/>
          </a:xfrm>
          <a:prstGeom prst="roundRect">
            <a:avLst>
              <a:gd name="adj" fmla="val 4103"/>
            </a:avLst>
          </a:prstGeom>
          <a:solidFill>
            <a:srgbClr val="F1F6F5"/>
          </a:solidFill>
          <a:ln w="12700">
            <a:solidFill>
              <a:srgbClr val="F1F6F5"/>
            </a:solidFill>
            <a:prstDash val="solid"/>
          </a:ln>
        </p:spPr>
      </p:sp>
      <p:sp>
        <p:nvSpPr>
          <p:cNvPr id="11" name="Shape 9"/>
          <p:cNvSpPr/>
          <p:nvPr/>
        </p:nvSpPr>
        <p:spPr>
          <a:xfrm>
            <a:off x="6594196" y="2240280"/>
            <a:ext cx="457200" cy="457200"/>
          </a:xfrm>
          <a:prstGeom prst="ellipse">
            <a:avLst/>
          </a:prstGeom>
          <a:solidFill>
            <a:srgbClr val="00A896"/>
          </a:solidFill>
          <a:ln/>
        </p:spPr>
      </p:sp>
      <p:sp>
        <p:nvSpPr>
          <p:cNvPr id="12" name="Text 10"/>
          <p:cNvSpPr txBox="1"/>
          <p:nvPr/>
        </p:nvSpPr>
        <p:spPr>
          <a:xfrm>
            <a:off x="6594196" y="22402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7215988" y="2267712"/>
            <a:ext cx="4134460" cy="365760"/>
          </a:xfrm>
          <a:prstGeom prst="rect">
            <a:avLst/>
          </a:prstGeom>
          <a:noFill/>
          <a:ln/>
        </p:spPr>
        <p:txBody>
          <a:bodyPr wrap="square" lIns="0" tIns="0" rIns="0" bIns="0" rtlCol="0" anchor="ctr"/>
          <a:lstStyle/>
          <a:p>
            <a:pPr indent="0" marL="0">
              <a:buNone/>
            </a:pPr>
            <a:r>
              <a:rPr lang="en-US" sz="1500" b="1" dirty="0">
                <a:solidFill>
                  <a:srgbClr val="16282B"/>
                </a:solidFill>
                <a:latin typeface="Calibri" pitchFamily="34" charset="0"/>
                <a:ea typeface="Calibri" pitchFamily="34" charset="-122"/>
                <a:cs typeface="Calibri" pitchFamily="34" charset="-120"/>
              </a:rPr>
              <a:t>Split by patient</a:t>
            </a:r>
            <a:endParaRPr lang="en-US" sz="1500" dirty="0"/>
          </a:p>
        </p:txBody>
      </p:sp>
      <p:sp>
        <p:nvSpPr>
          <p:cNvPr id="14" name="Text 12"/>
          <p:cNvSpPr txBox="1"/>
          <p:nvPr/>
        </p:nvSpPr>
        <p:spPr>
          <a:xfrm>
            <a:off x="6594196" y="2788920"/>
            <a:ext cx="4737964" cy="868680"/>
          </a:xfrm>
          <a:prstGeom prst="rect">
            <a:avLst/>
          </a:prstGeom>
          <a:noFill/>
          <a:ln/>
        </p:spPr>
        <p:txBody>
          <a:bodyPr wrap="square" lIns="0" tIns="0" rIns="0" bIns="0" rtlCol="0" anchor="ctr"/>
          <a:lstStyle/>
          <a:p>
            <a:pPr indent="0" marL="0">
              <a:lnSpc>
                <a:spcPts val="1600"/>
              </a:lnSpc>
              <a:buNone/>
            </a:pPr>
            <a:r>
              <a:rPr lang="en-US" sz="1200" dirty="0">
                <a:solidFill>
                  <a:srgbClr val="5E7175"/>
                </a:solidFill>
                <a:latin typeface="Calibri" pitchFamily="34" charset="0"/>
                <a:ea typeface="Calibri" pitchFamily="34" charset="-122"/>
                <a:cs typeface="Calibri" pitchFamily="34" charset="-120"/>
              </a:rPr>
              <a:t>GroupShuffleSplit on subject_id. Patients average ~2 admissions, so splitting by patient rather than by row is what makes the reported AUC hold up on people the model has never seen.</a:t>
            </a:r>
            <a:endParaRPr lang="en-US" sz="1200" dirty="0"/>
          </a:p>
        </p:txBody>
      </p:sp>
      <p:sp>
        <p:nvSpPr>
          <p:cNvPr id="15" name="Shape 13"/>
          <p:cNvSpPr/>
          <p:nvPr/>
        </p:nvSpPr>
        <p:spPr>
          <a:xfrm>
            <a:off x="566928" y="4114800"/>
            <a:ext cx="5323180" cy="1783080"/>
          </a:xfrm>
          <a:prstGeom prst="roundRect">
            <a:avLst>
              <a:gd name="adj" fmla="val 4103"/>
            </a:avLst>
          </a:prstGeom>
          <a:solidFill>
            <a:srgbClr val="F1F6F5"/>
          </a:solidFill>
          <a:ln w="12700">
            <a:solidFill>
              <a:srgbClr val="F1F6F5"/>
            </a:solidFill>
            <a:prstDash val="solid"/>
          </a:ln>
        </p:spPr>
      </p:sp>
      <p:sp>
        <p:nvSpPr>
          <p:cNvPr id="16" name="Shape 14"/>
          <p:cNvSpPr/>
          <p:nvPr/>
        </p:nvSpPr>
        <p:spPr>
          <a:xfrm>
            <a:off x="859536" y="4389120"/>
            <a:ext cx="457200" cy="457200"/>
          </a:xfrm>
          <a:prstGeom prst="ellipse">
            <a:avLst/>
          </a:prstGeom>
          <a:solidFill>
            <a:srgbClr val="00A896"/>
          </a:solidFill>
          <a:ln/>
        </p:spPr>
      </p:sp>
      <p:sp>
        <p:nvSpPr>
          <p:cNvPr id="17" name="Text 15"/>
          <p:cNvSpPr txBox="1"/>
          <p:nvPr/>
        </p:nvSpPr>
        <p:spPr>
          <a:xfrm>
            <a:off x="859536" y="43891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481328" y="4416552"/>
            <a:ext cx="4134460" cy="365760"/>
          </a:xfrm>
          <a:prstGeom prst="rect">
            <a:avLst/>
          </a:prstGeom>
          <a:noFill/>
          <a:ln/>
        </p:spPr>
        <p:txBody>
          <a:bodyPr wrap="square" lIns="0" tIns="0" rIns="0" bIns="0" rtlCol="0" anchor="ctr"/>
          <a:lstStyle/>
          <a:p>
            <a:pPr indent="0" marL="0">
              <a:buNone/>
            </a:pPr>
            <a:r>
              <a:rPr lang="en-US" sz="1500" b="1" dirty="0">
                <a:solidFill>
                  <a:srgbClr val="16282B"/>
                </a:solidFill>
                <a:latin typeface="Calibri" pitchFamily="34" charset="0"/>
                <a:ea typeface="Calibri" pitchFamily="34" charset="-122"/>
                <a:cs typeface="Calibri" pitchFamily="34" charset="-120"/>
              </a:rPr>
              <a:t>Calibration as a metric</a:t>
            </a:r>
            <a:endParaRPr lang="en-US" sz="1500" dirty="0"/>
          </a:p>
        </p:txBody>
      </p:sp>
      <p:sp>
        <p:nvSpPr>
          <p:cNvPr id="19" name="Text 17"/>
          <p:cNvSpPr txBox="1"/>
          <p:nvPr/>
        </p:nvSpPr>
        <p:spPr>
          <a:xfrm>
            <a:off x="859536" y="4937760"/>
            <a:ext cx="4737964" cy="868680"/>
          </a:xfrm>
          <a:prstGeom prst="rect">
            <a:avLst/>
          </a:prstGeom>
          <a:noFill/>
          <a:ln/>
        </p:spPr>
        <p:txBody>
          <a:bodyPr wrap="square" lIns="0" tIns="0" rIns="0" bIns="0" rtlCol="0" anchor="ctr"/>
          <a:lstStyle/>
          <a:p>
            <a:pPr indent="0" marL="0">
              <a:lnSpc>
                <a:spcPts val="1600"/>
              </a:lnSpc>
              <a:buNone/>
            </a:pPr>
            <a:r>
              <a:rPr lang="en-US" sz="1200" dirty="0">
                <a:solidFill>
                  <a:srgbClr val="5E7175"/>
                </a:solidFill>
                <a:latin typeface="Calibri" pitchFamily="34" charset="0"/>
                <a:ea typeface="Calibri" pitchFamily="34" charset="-122"/>
                <a:cs typeface="Calibri" pitchFamily="34" charset="-120"/>
              </a:rPr>
              <a:t>A three-way train / calibrate / test split and an explicit calib_ratio metric, so probability quality is tracked alongside AUC rather than assumed from it.</a:t>
            </a:r>
            <a:endParaRPr lang="en-US" sz="1200" dirty="0"/>
          </a:p>
        </p:txBody>
      </p:sp>
      <p:sp>
        <p:nvSpPr>
          <p:cNvPr id="20" name="Shape 18"/>
          <p:cNvSpPr/>
          <p:nvPr/>
        </p:nvSpPr>
        <p:spPr>
          <a:xfrm>
            <a:off x="6301588" y="4114800"/>
            <a:ext cx="5323180" cy="1783080"/>
          </a:xfrm>
          <a:prstGeom prst="roundRect">
            <a:avLst>
              <a:gd name="adj" fmla="val 4103"/>
            </a:avLst>
          </a:prstGeom>
          <a:solidFill>
            <a:srgbClr val="F1F6F5"/>
          </a:solidFill>
          <a:ln w="12700">
            <a:solidFill>
              <a:srgbClr val="F1F6F5"/>
            </a:solidFill>
            <a:prstDash val="solid"/>
          </a:ln>
        </p:spPr>
      </p:sp>
      <p:sp>
        <p:nvSpPr>
          <p:cNvPr id="21" name="Shape 19"/>
          <p:cNvSpPr/>
          <p:nvPr/>
        </p:nvSpPr>
        <p:spPr>
          <a:xfrm>
            <a:off x="6594196" y="4389120"/>
            <a:ext cx="457200" cy="457200"/>
          </a:xfrm>
          <a:prstGeom prst="ellipse">
            <a:avLst/>
          </a:prstGeom>
          <a:solidFill>
            <a:srgbClr val="00A896"/>
          </a:solidFill>
          <a:ln/>
        </p:spPr>
      </p:sp>
      <p:sp>
        <p:nvSpPr>
          <p:cNvPr id="22" name="Text 20"/>
          <p:cNvSpPr txBox="1"/>
          <p:nvPr/>
        </p:nvSpPr>
        <p:spPr>
          <a:xfrm>
            <a:off x="6594196" y="43891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7215988" y="4416552"/>
            <a:ext cx="4134460" cy="365760"/>
          </a:xfrm>
          <a:prstGeom prst="rect">
            <a:avLst/>
          </a:prstGeom>
          <a:noFill/>
          <a:ln/>
        </p:spPr>
        <p:txBody>
          <a:bodyPr wrap="square" lIns="0" tIns="0" rIns="0" bIns="0" rtlCol="0" anchor="ctr"/>
          <a:lstStyle/>
          <a:p>
            <a:pPr indent="0" marL="0">
              <a:buNone/>
            </a:pPr>
            <a:r>
              <a:rPr lang="en-US" sz="1500" b="1" dirty="0">
                <a:solidFill>
                  <a:srgbClr val="16282B"/>
                </a:solidFill>
                <a:latin typeface="Calibri" pitchFamily="34" charset="0"/>
                <a:ea typeface="Calibri" pitchFamily="34" charset="-122"/>
                <a:cs typeface="Calibri" pitchFamily="34" charset="-120"/>
              </a:rPr>
              <a:t>Verified by execution</a:t>
            </a:r>
            <a:endParaRPr lang="en-US" sz="1500" dirty="0"/>
          </a:p>
        </p:txBody>
      </p:sp>
      <p:sp>
        <p:nvSpPr>
          <p:cNvPr id="24" name="Text 22"/>
          <p:cNvSpPr txBox="1"/>
          <p:nvPr/>
        </p:nvSpPr>
        <p:spPr>
          <a:xfrm>
            <a:off x="6594196" y="4937760"/>
            <a:ext cx="4737964" cy="868680"/>
          </a:xfrm>
          <a:prstGeom prst="rect">
            <a:avLst/>
          </a:prstGeom>
          <a:noFill/>
          <a:ln/>
        </p:spPr>
        <p:txBody>
          <a:bodyPr wrap="square" lIns="0" tIns="0" rIns="0" bIns="0" rtlCol="0" anchor="ctr"/>
          <a:lstStyle/>
          <a:p>
            <a:pPr indent="0" marL="0">
              <a:lnSpc>
                <a:spcPts val="1600"/>
              </a:lnSpc>
              <a:buNone/>
            </a:pPr>
            <a:r>
              <a:rPr lang="en-US" sz="1200" dirty="0">
                <a:solidFill>
                  <a:srgbClr val="5E7175"/>
                </a:solidFill>
                <a:latin typeface="Calibri" pitchFamily="34" charset="0"/>
                <a:ea typeface="Calibri" pitchFamily="34" charset="-122"/>
                <a:cs typeface="Calibri" pitchFamily="34" charset="-120"/>
              </a:rPr>
              <a:t>Every cell was run against the real extract rather than reviewed on paper, which is how the pipeline reached a clean end-to-end pass before any result was reported.</a:t>
            </a:r>
            <a:endParaRPr lang="en-US" sz="1200" dirty="0"/>
          </a:p>
        </p:txBody>
      </p:sp>
      <p:sp>
        <p:nvSpPr>
          <p:cNvPr id="25" name="Text 23"/>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1000" i="1" dirty="0">
                <a:solidFill>
                  <a:srgbClr val="5E7175"/>
                </a:solidFill>
                <a:latin typeface="Calibri" pitchFamily="34" charset="0"/>
                <a:ea typeface="Calibri" pitchFamily="34" charset="-122"/>
                <a:cs typeface="Calibri" pitchFamily="34" charset="-120"/>
              </a:rPr>
              <a:t>A dual ICD-9 + ICD-10 Charlson mapping (Quan et al. 2005) scores comorbidity correctly across both code sets in the extract.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566928" y="566928"/>
            <a:ext cx="11057839" cy="658368"/>
          </a:xfrm>
          <a:prstGeom prst="rect">
            <a:avLst/>
          </a:prstGeom>
          <a:noFill/>
          <a:ln/>
        </p:spPr>
        <p:txBody>
          <a:bodyPr wrap="square" lIns="0" tIns="0" rIns="0" bIns="0" rtlCol="0" anchor="ctr"/>
          <a:lstStyle/>
          <a:p>
            <a:pPr indent="0" marL="0">
              <a:buNone/>
            </a:pPr>
            <a:r>
              <a:rPr lang="en-US" sz="3200" b="1" dirty="0">
                <a:solidFill>
                  <a:srgbClr val="16282B"/>
                </a:solidFill>
                <a:latin typeface="Cambria" pitchFamily="34" charset="0"/>
                <a:ea typeface="Cambria" pitchFamily="34" charset="-122"/>
                <a:cs typeface="Cambria" pitchFamily="34" charset="-120"/>
              </a:rPr>
              <a:t>Trained, calibrated, and scope-tested</a:t>
            </a:r>
            <a:endParaRPr lang="en-US" sz="3200" dirty="0"/>
          </a:p>
        </p:txBody>
      </p:sp>
      <p:graphicFrame>
        <p:nvGraphicFramePr>
          <p:cNvPr id="4" name="Chart 0" descr=""/>
          <p:cNvGraphicFramePr/>
          <p:nvPr/>
        </p:nvGraphicFramePr>
        <p:xfrm>
          <a:off x="566928" y="1481328"/>
          <a:ext cx="644652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333488" y="1481328"/>
            <a:ext cx="4291279" cy="4206240"/>
          </a:xfrm>
          <a:prstGeom prst="roundRect">
            <a:avLst>
              <a:gd name="adj" fmla="val 1739"/>
            </a:avLst>
          </a:prstGeom>
          <a:solidFill>
            <a:srgbClr val="F1F6F5"/>
          </a:solidFill>
          <a:ln w="12700">
            <a:solidFill>
              <a:srgbClr val="F1F6F5"/>
            </a:solidFill>
            <a:prstDash val="solid"/>
          </a:ln>
        </p:spPr>
      </p:sp>
      <p:sp>
        <p:nvSpPr>
          <p:cNvPr id="6" name="Text 3"/>
          <p:cNvSpPr txBox="1"/>
          <p:nvPr/>
        </p:nvSpPr>
        <p:spPr>
          <a:xfrm>
            <a:off x="7626096" y="1737360"/>
            <a:ext cx="3749040" cy="365760"/>
          </a:xfrm>
          <a:prstGeom prst="rect">
            <a:avLst/>
          </a:prstGeom>
          <a:noFill/>
          <a:ln/>
        </p:spPr>
        <p:txBody>
          <a:bodyPr wrap="square" lIns="0" tIns="0" rIns="0" bIns="0" rtlCol="0" anchor="ctr"/>
          <a:lstStyle/>
          <a:p>
            <a:pPr indent="0" marL="0">
              <a:buNone/>
            </a:pPr>
            <a:r>
              <a:rPr lang="en-US" sz="1700" b="1" dirty="0">
                <a:solidFill>
                  <a:srgbClr val="16282B"/>
                </a:solidFill>
                <a:latin typeface="Calibri" pitchFamily="34" charset="0"/>
                <a:ea typeface="Calibri" pitchFamily="34" charset="-122"/>
                <a:cs typeface="Calibri" pitchFamily="34" charset="-120"/>
              </a:rPr>
              <a:t>Trained per population</a:t>
            </a:r>
            <a:endParaRPr lang="en-US" sz="1700" dirty="0"/>
          </a:p>
        </p:txBody>
      </p:sp>
      <p:sp>
        <p:nvSpPr>
          <p:cNvPr id="7" name="Text 4"/>
          <p:cNvSpPr txBox="1"/>
          <p:nvPr/>
        </p:nvSpPr>
        <p:spPr>
          <a:xfrm>
            <a:off x="7626096" y="2212848"/>
            <a:ext cx="3696919" cy="265176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16282B"/>
                </a:solidFill>
                <a:latin typeface="Calibri" pitchFamily="34" charset="0"/>
                <a:ea typeface="Calibri" pitchFamily="34" charset="-122"/>
                <a:cs typeface="Calibri" pitchFamily="34" charset="-120"/>
              </a:rPr>
              <a:t>On its own population the model reaches 0.723, calibrated to 1.01 — a score that reads as a real probability.</a:t>
            </a:r>
            <a:endParaRPr lang="en-US" sz="1200" dirty="0"/>
          </a:p>
          <a:p>
            <a:pPr marL="342900" indent="-342900">
              <a:lnSpc>
                <a:spcPts val="1700"/>
              </a:lnSpc>
              <a:spcAft>
                <a:spcPts val="700"/>
              </a:spcAft>
              <a:buSzPct val="100000"/>
              <a:buChar char="•"/>
            </a:pPr>
            <a:r>
              <a:rPr lang="en-US" sz="1200" dirty="0">
                <a:solidFill>
                  <a:srgbClr val="16282B"/>
                </a:solidFill>
                <a:latin typeface="Calibri" pitchFamily="34" charset="0"/>
                <a:ea typeface="Calibri" pitchFamily="34" charset="-122"/>
                <a:cs typeface="Calibri" pitchFamily="34" charset="-120"/>
              </a:rPr>
              <a:t>A transfer test measured how far it carries, so each population gets a model fitted to it by design.</a:t>
            </a:r>
            <a:endParaRPr lang="en-US" sz="1200" dirty="0"/>
          </a:p>
          <a:p>
            <a:pPr marL="342900" indent="-342900">
              <a:lnSpc>
                <a:spcPts val="1700"/>
              </a:lnSpc>
              <a:spcAft>
                <a:spcPts val="700"/>
              </a:spcAft>
              <a:buSzPct val="100000"/>
              <a:buChar char="•"/>
            </a:pPr>
            <a:r>
              <a:rPr lang="en-US" sz="1200" dirty="0">
                <a:solidFill>
                  <a:srgbClr val="16282B"/>
                </a:solidFill>
                <a:latin typeface="Calibri" pitchFamily="34" charset="0"/>
                <a:ea typeface="Calibri" pitchFamily="34" charset="-122"/>
                <a:cs typeface="Calibri" pitchFamily="34" charset="-120"/>
              </a:rPr>
              <a:t>Retraining the same pipeline elsewhere reaches 0.670 — the pipeline is what ports.</a:t>
            </a:r>
            <a:endParaRPr lang="en-US" sz="1200" dirty="0"/>
          </a:p>
          <a:p>
            <a:pPr marL="342900" indent="-342900">
              <a:lnSpc>
                <a:spcPts val="1700"/>
              </a:lnSpc>
              <a:spcAft>
                <a:spcPts val="700"/>
              </a:spcAft>
              <a:buSzPct val="100000"/>
              <a:buChar char="•"/>
            </a:pPr>
            <a:r>
              <a:rPr lang="en-US" sz="1200" dirty="0">
                <a:solidFill>
                  <a:srgbClr val="16282B"/>
                </a:solidFill>
                <a:latin typeface="Calibri" pitchFamily="34" charset="0"/>
                <a:ea typeface="Calibri" pitchFamily="34" charset="-122"/>
                <a:cs typeface="Calibri" pitchFamily="34" charset="-120"/>
              </a:rPr>
              <a:t>That makes it reusable across health systems: point it at local data and retrain.</a:t>
            </a:r>
            <a:endParaRPr lang="en-US" sz="1200" dirty="0"/>
          </a:p>
        </p:txBody>
      </p:sp>
      <p:sp>
        <p:nvSpPr>
          <p:cNvPr id="8" name="Text 5"/>
          <p:cNvSpPr txBox="1"/>
          <p:nvPr/>
        </p:nvSpPr>
        <p:spPr>
          <a:xfrm>
            <a:off x="7626096" y="4956048"/>
            <a:ext cx="3696919" cy="594360"/>
          </a:xfrm>
          <a:prstGeom prst="rect">
            <a:avLst/>
          </a:prstGeom>
          <a:noFill/>
          <a:ln/>
        </p:spPr>
        <p:txBody>
          <a:bodyPr wrap="square" lIns="0" tIns="0" rIns="0" bIns="0" rtlCol="0" anchor="ctr"/>
          <a:lstStyle/>
          <a:p>
            <a:pPr indent="0" marL="0">
              <a:buNone/>
            </a:pPr>
            <a:r>
              <a:rPr lang="en-US" sz="1400" b="1" i="1" dirty="0">
                <a:solidFill>
                  <a:srgbClr val="028090"/>
                </a:solidFill>
                <a:latin typeface="Cambria" pitchFamily="34" charset="0"/>
                <a:ea typeface="Cambria" pitchFamily="34" charset="-122"/>
                <a:cs typeface="Cambria" pitchFamily="34" charset="-120"/>
              </a:rPr>
              <a:t>The pipeline is the transferable asset.</a:t>
            </a:r>
            <a:endParaRPr lang="en-US" sz="1400" dirty="0"/>
          </a:p>
        </p:txBody>
      </p:sp>
      <p:sp>
        <p:nvSpPr>
          <p:cNvPr id="9" name="Text 6"/>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1000" i="1" dirty="0">
                <a:solidFill>
                  <a:srgbClr val="5E7175"/>
                </a:solidFill>
                <a:latin typeface="Calibri" pitchFamily="34" charset="0"/>
                <a:ea typeface="Calibri" pitchFamily="34" charset="-122"/>
                <a:cs typeface="Calibri" pitchFamily="34" charset="-120"/>
              </a:rPr>
              <a:t>Trained on 296,760 index stays across 148,669 patients at a 19.63% readmission rate. Full results in data/transfer_test_results.json.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2E36"/>
        </a:solidFill>
      </p:bgPr>
    </p:bg>
    <p:spTree>
      <p:nvGrpSpPr>
        <p:cNvPr id="1" name=""/>
        <p:cNvGrpSpPr/>
        <p:nvPr/>
      </p:nvGrpSpPr>
      <p:grpSpPr>
        <a:xfrm>
          <a:off x="0" y="0"/>
          <a:ext cx="0" cy="0"/>
          <a:chOff x="0" y="0"/>
          <a:chExt cx="0" cy="0"/>
        </a:xfrm>
      </p:grpSpPr>
      <p:sp>
        <p:nvSpPr>
          <p:cNvPr id="2" name="Text 0"/>
          <p:cNvSpPr txBox="1"/>
          <p:nvPr/>
        </p:nvSpPr>
        <p:spPr>
          <a:xfrm>
            <a:off x="566928" y="566928"/>
            <a:ext cx="11057839" cy="274320"/>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MODEL INTEGRITY, VERIFIED END TO END</a:t>
            </a:r>
            <a:endParaRPr lang="en-US" sz="1200" dirty="0"/>
          </a:p>
        </p:txBody>
      </p:sp>
      <p:sp>
        <p:nvSpPr>
          <p:cNvPr id="3" name="Text 1"/>
          <p:cNvSpPr txBox="1"/>
          <p:nvPr/>
        </p:nvSpPr>
        <p:spPr>
          <a:xfrm>
            <a:off x="566928" y="932688"/>
            <a:ext cx="11057839"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Numbers the product can stand behind</a:t>
            </a:r>
            <a:endParaRPr lang="en-US" sz="3400" dirty="0"/>
          </a:p>
        </p:txBody>
      </p:sp>
      <p:sp>
        <p:nvSpPr>
          <p:cNvPr id="4" name="Shape 2"/>
          <p:cNvSpPr/>
          <p:nvPr/>
        </p:nvSpPr>
        <p:spPr>
          <a:xfrm>
            <a:off x="566928" y="2011680"/>
            <a:ext cx="3411626" cy="3520440"/>
          </a:xfrm>
          <a:prstGeom prst="roundRect">
            <a:avLst>
              <a:gd name="adj" fmla="val 2144"/>
            </a:avLst>
          </a:prstGeom>
          <a:solidFill>
            <a:srgbClr val="12414A"/>
          </a:solidFill>
          <a:ln w="12700">
            <a:solidFill>
              <a:srgbClr val="12414A"/>
            </a:solidFill>
            <a:prstDash val="solid"/>
          </a:ln>
        </p:spPr>
      </p:sp>
      <p:sp>
        <p:nvSpPr>
          <p:cNvPr id="5" name="Text 3"/>
          <p:cNvSpPr txBox="1"/>
          <p:nvPr/>
        </p:nvSpPr>
        <p:spPr>
          <a:xfrm>
            <a:off x="932688" y="2286000"/>
            <a:ext cx="2680106" cy="868680"/>
          </a:xfrm>
          <a:prstGeom prst="rect">
            <a:avLst/>
          </a:prstGeom>
          <a:noFill/>
          <a:ln/>
        </p:spPr>
        <p:txBody>
          <a:bodyPr wrap="square" lIns="0" tIns="0" rIns="0" bIns="0" rtlCol="0" anchor="ctr"/>
          <a:lstStyle/>
          <a:p>
            <a:pPr indent="0" marL="0">
              <a:buNone/>
            </a:pPr>
            <a:r>
              <a:rPr lang="en-US" sz="4600" b="1" dirty="0">
                <a:solidFill>
                  <a:srgbClr val="02C39A"/>
                </a:solidFill>
                <a:latin typeface="Cambria" pitchFamily="34" charset="0"/>
                <a:ea typeface="Cambria" pitchFamily="34" charset="-122"/>
                <a:cs typeface="Cambria" pitchFamily="34" charset="-120"/>
              </a:rPr>
              <a:t>1.01</a:t>
            </a:r>
            <a:endParaRPr lang="en-US" sz="4600" dirty="0"/>
          </a:p>
        </p:txBody>
      </p:sp>
      <p:sp>
        <p:nvSpPr>
          <p:cNvPr id="6" name="Text 4"/>
          <p:cNvSpPr txBox="1"/>
          <p:nvPr/>
        </p:nvSpPr>
        <p:spPr>
          <a:xfrm>
            <a:off x="932688" y="3154680"/>
            <a:ext cx="2680106" cy="320040"/>
          </a:xfrm>
          <a:prstGeom prst="rect">
            <a:avLst/>
          </a:prstGeom>
          <a:noFill/>
          <a:ln/>
        </p:spPr>
        <p:txBody>
          <a:bodyPr wrap="square" lIns="0" tIns="0" rIns="0" bIns="0" rtlCol="0" anchor="ctr"/>
          <a:lstStyle/>
          <a:p>
            <a:pPr indent="0" marL="0">
              <a:buNone/>
            </a:pPr>
            <a:r>
              <a:rPr lang="en-US" sz="1300" b="1" dirty="0">
                <a:solidFill>
                  <a:srgbClr val="AECFD1"/>
                </a:solidFill>
                <a:latin typeface="Calibri" pitchFamily="34" charset="0"/>
                <a:ea typeface="Calibri" pitchFamily="34" charset="-122"/>
                <a:cs typeface="Calibri" pitchFamily="34" charset="-120"/>
              </a:rPr>
              <a:t>calibration ratio</a:t>
            </a:r>
            <a:endParaRPr lang="en-US" sz="1300" dirty="0"/>
          </a:p>
        </p:txBody>
      </p:sp>
      <p:sp>
        <p:nvSpPr>
          <p:cNvPr id="7" name="Text 5"/>
          <p:cNvSpPr txBox="1"/>
          <p:nvPr/>
        </p:nvSpPr>
        <p:spPr>
          <a:xfrm>
            <a:off x="932688" y="3657600"/>
            <a:ext cx="2680106" cy="1645920"/>
          </a:xfrm>
          <a:prstGeom prst="rect">
            <a:avLst/>
          </a:prstGeom>
          <a:noFill/>
          <a:ln/>
        </p:spPr>
        <p:txBody>
          <a:bodyPr wrap="square" lIns="0" tIns="0" rIns="0" bIns="0" rtlCol="0" anchor="ctr"/>
          <a:lstStyle/>
          <a:p>
            <a:pPr indent="0" marL="0">
              <a:lnSpc>
                <a:spcPts val="1800"/>
              </a:lnSpc>
              <a:buNone/>
            </a:pPr>
            <a:r>
              <a:rPr lang="en-US" sz="1250" dirty="0">
                <a:solidFill>
                  <a:srgbClr val="C8DEDF"/>
                </a:solidFill>
                <a:latin typeface="Calibri" pitchFamily="34" charset="0"/>
                <a:ea typeface="Calibri" pitchFamily="34" charset="-122"/>
                <a:cs typeface="Calibri" pitchFamily="34" charset="-120"/>
              </a:rPr>
              <a:t>A score of 40% means a 40% chance. The dashboard, the risk bands and the ROI panel all read the score as a probability, and now that reading is correct.</a:t>
            </a:r>
            <a:endParaRPr lang="en-US" sz="1250" dirty="0"/>
          </a:p>
        </p:txBody>
      </p:sp>
      <p:sp>
        <p:nvSpPr>
          <p:cNvPr id="8" name="Shape 6"/>
          <p:cNvSpPr/>
          <p:nvPr/>
        </p:nvSpPr>
        <p:spPr>
          <a:xfrm>
            <a:off x="4390034" y="2011680"/>
            <a:ext cx="3411626" cy="3520440"/>
          </a:xfrm>
          <a:prstGeom prst="roundRect">
            <a:avLst>
              <a:gd name="adj" fmla="val 2144"/>
            </a:avLst>
          </a:prstGeom>
          <a:solidFill>
            <a:srgbClr val="12414A"/>
          </a:solidFill>
          <a:ln w="12700">
            <a:solidFill>
              <a:srgbClr val="12414A"/>
            </a:solidFill>
            <a:prstDash val="solid"/>
          </a:ln>
        </p:spPr>
      </p:sp>
      <p:sp>
        <p:nvSpPr>
          <p:cNvPr id="9" name="Text 7"/>
          <p:cNvSpPr txBox="1"/>
          <p:nvPr/>
        </p:nvSpPr>
        <p:spPr>
          <a:xfrm>
            <a:off x="4755794" y="2286000"/>
            <a:ext cx="2680106" cy="868680"/>
          </a:xfrm>
          <a:prstGeom prst="rect">
            <a:avLst/>
          </a:prstGeom>
          <a:noFill/>
          <a:ln/>
        </p:spPr>
        <p:txBody>
          <a:bodyPr wrap="square" lIns="0" tIns="0" rIns="0" bIns="0" rtlCol="0" anchor="ctr"/>
          <a:lstStyle/>
          <a:p>
            <a:pPr indent="0" marL="0">
              <a:buNone/>
            </a:pPr>
            <a:r>
              <a:rPr lang="en-US" sz="4600" b="1" dirty="0">
                <a:solidFill>
                  <a:srgbClr val="02C39A"/>
                </a:solidFill>
                <a:latin typeface="Cambria" pitchFamily="34" charset="0"/>
                <a:ea typeface="Cambria" pitchFamily="34" charset="-122"/>
                <a:cs typeface="Cambria" pitchFamily="34" charset="-120"/>
              </a:rPr>
              <a:t>0.723</a:t>
            </a:r>
            <a:endParaRPr lang="en-US" sz="4600" dirty="0"/>
          </a:p>
        </p:txBody>
      </p:sp>
      <p:sp>
        <p:nvSpPr>
          <p:cNvPr id="10" name="Text 8"/>
          <p:cNvSpPr txBox="1"/>
          <p:nvPr/>
        </p:nvSpPr>
        <p:spPr>
          <a:xfrm>
            <a:off x="4755794" y="3154680"/>
            <a:ext cx="2680106" cy="320040"/>
          </a:xfrm>
          <a:prstGeom prst="rect">
            <a:avLst/>
          </a:prstGeom>
          <a:noFill/>
          <a:ln/>
        </p:spPr>
        <p:txBody>
          <a:bodyPr wrap="square" lIns="0" tIns="0" rIns="0" bIns="0" rtlCol="0" anchor="ctr"/>
          <a:lstStyle/>
          <a:p>
            <a:pPr indent="0" marL="0">
              <a:buNone/>
            </a:pPr>
            <a:r>
              <a:rPr lang="en-US" sz="1300" b="1" dirty="0">
                <a:solidFill>
                  <a:srgbClr val="AECFD1"/>
                </a:solidFill>
                <a:latin typeface="Calibri" pitchFamily="34" charset="0"/>
                <a:ea typeface="Calibri" pitchFamily="34" charset="-122"/>
                <a:cs typeface="Calibri" pitchFamily="34" charset="-120"/>
              </a:rPr>
              <a:t>AUC-ROC, patient-split</a:t>
            </a:r>
            <a:endParaRPr lang="en-US" sz="1300" dirty="0"/>
          </a:p>
        </p:txBody>
      </p:sp>
      <p:sp>
        <p:nvSpPr>
          <p:cNvPr id="11" name="Text 9"/>
          <p:cNvSpPr txBox="1"/>
          <p:nvPr/>
        </p:nvSpPr>
        <p:spPr>
          <a:xfrm>
            <a:off x="4755794" y="3657600"/>
            <a:ext cx="2680106" cy="1645920"/>
          </a:xfrm>
          <a:prstGeom prst="rect">
            <a:avLst/>
          </a:prstGeom>
          <a:noFill/>
          <a:ln/>
        </p:spPr>
        <p:txBody>
          <a:bodyPr wrap="square" lIns="0" tIns="0" rIns="0" bIns="0" rtlCol="0" anchor="ctr"/>
          <a:lstStyle/>
          <a:p>
            <a:pPr indent="0" marL="0">
              <a:lnSpc>
                <a:spcPts val="1800"/>
              </a:lnSpc>
              <a:buNone/>
            </a:pPr>
            <a:r>
              <a:rPr lang="en-US" sz="1250" dirty="0">
                <a:solidFill>
                  <a:srgbClr val="C8DEDF"/>
                </a:solidFill>
                <a:latin typeface="Calibri" pitchFamily="34" charset="0"/>
                <a:ea typeface="Calibri" pitchFamily="34" charset="-122"/>
                <a:cs typeface="Calibri" pitchFamily="34" charset="-120"/>
              </a:rPr>
              <a:t>Measured with GroupShuffleSplit on subject_id, so no patient appears in both training and test. The number holds up on unseen people, not just unseen rows.</a:t>
            </a:r>
            <a:endParaRPr lang="en-US" sz="1250" dirty="0"/>
          </a:p>
        </p:txBody>
      </p:sp>
      <p:sp>
        <p:nvSpPr>
          <p:cNvPr id="12" name="Shape 10"/>
          <p:cNvSpPr/>
          <p:nvPr/>
        </p:nvSpPr>
        <p:spPr>
          <a:xfrm>
            <a:off x="8213141" y="2011680"/>
            <a:ext cx="3411626" cy="3520440"/>
          </a:xfrm>
          <a:prstGeom prst="roundRect">
            <a:avLst>
              <a:gd name="adj" fmla="val 2144"/>
            </a:avLst>
          </a:prstGeom>
          <a:solidFill>
            <a:srgbClr val="12414A"/>
          </a:solidFill>
          <a:ln w="12700">
            <a:solidFill>
              <a:srgbClr val="12414A"/>
            </a:solidFill>
            <a:prstDash val="solid"/>
          </a:ln>
        </p:spPr>
      </p:sp>
      <p:sp>
        <p:nvSpPr>
          <p:cNvPr id="13" name="Text 11"/>
          <p:cNvSpPr txBox="1"/>
          <p:nvPr/>
        </p:nvSpPr>
        <p:spPr>
          <a:xfrm>
            <a:off x="8578901" y="2286000"/>
            <a:ext cx="2680106" cy="868680"/>
          </a:xfrm>
          <a:prstGeom prst="rect">
            <a:avLst/>
          </a:prstGeom>
          <a:noFill/>
          <a:ln/>
        </p:spPr>
        <p:txBody>
          <a:bodyPr wrap="square" lIns="0" tIns="0" rIns="0" bIns="0" rtlCol="0" anchor="ctr"/>
          <a:lstStyle/>
          <a:p>
            <a:pPr indent="0" marL="0">
              <a:buNone/>
            </a:pPr>
            <a:r>
              <a:rPr lang="en-US" sz="4600" b="1" dirty="0">
                <a:solidFill>
                  <a:srgbClr val="02C39A"/>
                </a:solidFill>
                <a:latin typeface="Cambria" pitchFamily="34" charset="0"/>
                <a:ea typeface="Cambria" pitchFamily="34" charset="-122"/>
                <a:cs typeface="Cambria" pitchFamily="34" charset="-120"/>
              </a:rPr>
              <a:t>94</a:t>
            </a:r>
            <a:endParaRPr lang="en-US" sz="4600" dirty="0"/>
          </a:p>
        </p:txBody>
      </p:sp>
      <p:sp>
        <p:nvSpPr>
          <p:cNvPr id="14" name="Text 12"/>
          <p:cNvSpPr txBox="1"/>
          <p:nvPr/>
        </p:nvSpPr>
        <p:spPr>
          <a:xfrm>
            <a:off x="8578901" y="3154680"/>
            <a:ext cx="2680106" cy="320040"/>
          </a:xfrm>
          <a:prstGeom prst="rect">
            <a:avLst/>
          </a:prstGeom>
          <a:noFill/>
          <a:ln/>
        </p:spPr>
        <p:txBody>
          <a:bodyPr wrap="square" lIns="0" tIns="0" rIns="0" bIns="0" rtlCol="0" anchor="ctr"/>
          <a:lstStyle/>
          <a:p>
            <a:pPr indent="0" marL="0">
              <a:buNone/>
            </a:pPr>
            <a:r>
              <a:rPr lang="en-US" sz="1300" b="1" dirty="0">
                <a:solidFill>
                  <a:srgbClr val="AECFD1"/>
                </a:solidFill>
                <a:latin typeface="Calibri" pitchFamily="34" charset="0"/>
                <a:ea typeface="Calibri" pitchFamily="34" charset="-122"/>
                <a:cs typeface="Calibri" pitchFamily="34" charset="-120"/>
              </a:rPr>
              <a:t>features, fully explained</a:t>
            </a:r>
            <a:endParaRPr lang="en-US" sz="1300" dirty="0"/>
          </a:p>
        </p:txBody>
      </p:sp>
      <p:sp>
        <p:nvSpPr>
          <p:cNvPr id="15" name="Text 13"/>
          <p:cNvSpPr txBox="1"/>
          <p:nvPr/>
        </p:nvSpPr>
        <p:spPr>
          <a:xfrm>
            <a:off x="8578901" y="3657600"/>
            <a:ext cx="2680106" cy="1645920"/>
          </a:xfrm>
          <a:prstGeom prst="rect">
            <a:avLst/>
          </a:prstGeom>
          <a:noFill/>
          <a:ln/>
        </p:spPr>
        <p:txBody>
          <a:bodyPr wrap="square" lIns="0" tIns="0" rIns="0" bIns="0" rtlCol="0" anchor="ctr"/>
          <a:lstStyle/>
          <a:p>
            <a:pPr indent="0" marL="0">
              <a:lnSpc>
                <a:spcPts val="1800"/>
              </a:lnSpc>
              <a:buNone/>
            </a:pPr>
            <a:r>
              <a:rPr lang="en-US" sz="1250" dirty="0">
                <a:solidFill>
                  <a:srgbClr val="C8DEDF"/>
                </a:solidFill>
                <a:latin typeface="Calibri" pitchFamily="34" charset="0"/>
                <a:ea typeface="Calibri" pitchFamily="34" charset="-122"/>
                <a:cs typeface="Calibri" pitchFamily="34" charset="-120"/>
              </a:rPr>
              <a:t>SHAP attribution against the model gives every patient three named drivers with clinician-facing wording, and the method's limits are documented in the module.</a:t>
            </a:r>
            <a:endParaRPr lang="en-US" sz="1250" dirty="0"/>
          </a:p>
        </p:txBody>
      </p:sp>
      <p:sp>
        <p:nvSpPr>
          <p:cNvPr id="16" name="Text 14"/>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1000" i="1" dirty="0">
                <a:solidFill>
                  <a:srgbClr val="8FB3B5"/>
                </a:solidFill>
                <a:latin typeface="Calibri" pitchFamily="34" charset="0"/>
                <a:ea typeface="Calibri" pitchFamily="34" charset="-122"/>
                <a:cs typeface="Calibri" pitchFamily="34" charset="-120"/>
              </a:rPr>
              <a:t>Model card, band thresholds and feature spec are written by the training run itself, so the served metrics and the trained model cannot drift apart.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SERVING THE MODEL</a:t>
            </a:r>
            <a:endParaRPr lang="en-US" sz="1100" dirty="0"/>
          </a:p>
        </p:txBody>
      </p:sp>
      <p:sp>
        <p:nvSpPr>
          <p:cNvPr id="3" name="Text 1"/>
          <p:cNvSpPr txBox="1"/>
          <p:nvPr/>
        </p:nvSpPr>
        <p:spPr>
          <a:xfrm>
            <a:off x="566928" y="566928"/>
            <a:ext cx="11057839" cy="658368"/>
          </a:xfrm>
          <a:prstGeom prst="rect">
            <a:avLst/>
          </a:prstGeom>
          <a:noFill/>
          <a:ln/>
        </p:spPr>
        <p:txBody>
          <a:bodyPr wrap="square" lIns="0" tIns="0" rIns="0" bIns="0" rtlCol="0" anchor="ctr"/>
          <a:lstStyle/>
          <a:p>
            <a:pPr indent="0" marL="0">
              <a:buNone/>
            </a:pPr>
            <a:r>
              <a:rPr lang="en-US" sz="3200" b="1" dirty="0">
                <a:solidFill>
                  <a:srgbClr val="16282B"/>
                </a:solidFill>
                <a:latin typeface="Cambria" pitchFamily="34" charset="0"/>
                <a:ea typeface="Cambria" pitchFamily="34" charset="-122"/>
                <a:cs typeface="Cambria" pitchFamily="34" charset="-120"/>
              </a:rPr>
              <a:t>A scoring path built for the new model</a:t>
            </a:r>
            <a:endParaRPr lang="en-US" sz="3200" dirty="0"/>
          </a:p>
        </p:txBody>
      </p:sp>
      <p:sp>
        <p:nvSpPr>
          <p:cNvPr id="4" name="Text 2"/>
          <p:cNvSpPr txBox="1"/>
          <p:nvPr/>
        </p:nvSpPr>
        <p:spPr>
          <a:xfrm>
            <a:off x="566928" y="1417320"/>
            <a:ext cx="11057839" cy="411480"/>
          </a:xfrm>
          <a:prstGeom prst="rect">
            <a:avLst/>
          </a:prstGeom>
          <a:noFill/>
          <a:ln/>
        </p:spPr>
        <p:txBody>
          <a:bodyPr wrap="square" lIns="0" tIns="0" rIns="0" bIns="0" rtlCol="0" anchor="ctr"/>
          <a:lstStyle/>
          <a:p>
            <a:pPr indent="0" marL="0">
              <a:lnSpc>
                <a:spcPts val="1900"/>
              </a:lnSpc>
              <a:buNone/>
            </a:pPr>
            <a:r>
              <a:rPr lang="en-US" sz="1400" dirty="0">
                <a:solidFill>
                  <a:srgbClr val="5E7175"/>
                </a:solidFill>
                <a:latin typeface="Calibri" pitchFamily="34" charset="0"/>
                <a:ea typeface="Calibri" pitchFamily="34" charset="-122"/>
                <a:cs typeface="Calibri" pitchFamily="34" charset="-120"/>
              </a:rPr>
              <a:t>HistGradientBoosting inside CalibratedClassifierCV gives calibrated probabilities, and a new SHAP-based explainability engine was built to match it — per-patient drivers for all 94 features.</a:t>
            </a:r>
            <a:endParaRPr lang="en-US" sz="1400" dirty="0"/>
          </a:p>
        </p:txBody>
      </p:sp>
      <p:sp>
        <p:nvSpPr>
          <p:cNvPr id="5" name="Text 3"/>
          <p:cNvSpPr txBox="1"/>
          <p:nvPr/>
        </p:nvSpPr>
        <p:spPr>
          <a:xfrm>
            <a:off x="795528" y="2011680"/>
            <a:ext cx="2377440" cy="274320"/>
          </a:xfrm>
          <a:prstGeom prst="rect">
            <a:avLst/>
          </a:prstGeom>
          <a:noFill/>
          <a:ln/>
        </p:spPr>
        <p:txBody>
          <a:bodyPr wrap="square" lIns="0" tIns="0" rIns="0" bIns="0" rtlCol="0" anchor="ctr"/>
          <a:lstStyle/>
          <a:p>
            <a:pPr indent="0" marL="0">
              <a:buNone/>
            </a:pPr>
            <a:r>
              <a:rPr lang="en-US" sz="1100" b="1" spc="100" kern="0" dirty="0">
                <a:solidFill>
                  <a:srgbClr val="5E7175"/>
                </a:solidFill>
                <a:latin typeface="Calibri" pitchFamily="34" charset="0"/>
                <a:ea typeface="Calibri" pitchFamily="34" charset="-122"/>
                <a:cs typeface="Calibri" pitchFamily="34" charset="-120"/>
              </a:rPr>
              <a:t>Component</a:t>
            </a:r>
            <a:endParaRPr lang="en-US" sz="1100" dirty="0"/>
          </a:p>
        </p:txBody>
      </p:sp>
      <p:sp>
        <p:nvSpPr>
          <p:cNvPr id="6" name="Text 4"/>
          <p:cNvSpPr txBox="1"/>
          <p:nvPr/>
        </p:nvSpPr>
        <p:spPr>
          <a:xfrm>
            <a:off x="3401568" y="2011680"/>
            <a:ext cx="3840480" cy="274320"/>
          </a:xfrm>
          <a:prstGeom prst="rect">
            <a:avLst/>
          </a:prstGeom>
          <a:noFill/>
          <a:ln/>
        </p:spPr>
        <p:txBody>
          <a:bodyPr wrap="square" lIns="0" tIns="0" rIns="0" bIns="0" rtlCol="0" anchor="ctr"/>
          <a:lstStyle/>
          <a:p>
            <a:pPr indent="0" marL="0">
              <a:buNone/>
            </a:pPr>
            <a:r>
              <a:rPr lang="en-US" sz="1100" b="1" spc="100" kern="0" dirty="0">
                <a:solidFill>
                  <a:srgbClr val="B85042"/>
                </a:solidFill>
                <a:latin typeface="Calibri" pitchFamily="34" charset="0"/>
                <a:ea typeface="Calibri" pitchFamily="34" charset="-122"/>
                <a:cs typeface="Calibri" pitchFamily="34" charset="-120"/>
              </a:rPr>
              <a:t>BASELINE</a:t>
            </a:r>
            <a:endParaRPr lang="en-US" sz="1100" dirty="0"/>
          </a:p>
        </p:txBody>
      </p:sp>
      <p:sp>
        <p:nvSpPr>
          <p:cNvPr id="7" name="Text 5"/>
          <p:cNvSpPr txBox="1"/>
          <p:nvPr/>
        </p:nvSpPr>
        <p:spPr>
          <a:xfrm>
            <a:off x="7424928" y="2011680"/>
            <a:ext cx="4023360" cy="274320"/>
          </a:xfrm>
          <a:prstGeom prst="rect">
            <a:avLst/>
          </a:prstGeom>
          <a:noFill/>
          <a:ln/>
        </p:spPr>
        <p:txBody>
          <a:bodyPr wrap="square" lIns="0" tIns="0" rIns="0" bIns="0" rtlCol="0" anchor="ctr"/>
          <a:lstStyle/>
          <a:p>
            <a:pPr indent="0" marL="0">
              <a:buNone/>
            </a:pPr>
            <a:r>
              <a:rPr lang="en-US" sz="1100" b="1" spc="100" kern="0" dirty="0">
                <a:solidFill>
                  <a:srgbClr val="028090"/>
                </a:solidFill>
                <a:latin typeface="Calibri" pitchFamily="34" charset="0"/>
                <a:ea typeface="Calibri" pitchFamily="34" charset="-122"/>
                <a:cs typeface="Calibri" pitchFamily="34" charset="-120"/>
              </a:rPr>
              <a:t>CURRENT</a:t>
            </a:r>
            <a:endParaRPr lang="en-US" sz="1100" dirty="0"/>
          </a:p>
        </p:txBody>
      </p:sp>
      <p:sp>
        <p:nvSpPr>
          <p:cNvPr id="8" name="Shape 6"/>
          <p:cNvSpPr/>
          <p:nvPr/>
        </p:nvSpPr>
        <p:spPr>
          <a:xfrm>
            <a:off x="566928" y="2377440"/>
            <a:ext cx="11057839" cy="658368"/>
          </a:xfrm>
          <a:prstGeom prst="roundRect">
            <a:avLst>
              <a:gd name="adj" fmla="val 11111"/>
            </a:avLst>
          </a:prstGeom>
          <a:solidFill>
            <a:srgbClr val="F1F6F5"/>
          </a:solidFill>
          <a:ln w="12700">
            <a:solidFill>
              <a:srgbClr val="F1F6F5"/>
            </a:solidFill>
            <a:prstDash val="solid"/>
          </a:ln>
        </p:spPr>
      </p:sp>
      <p:sp>
        <p:nvSpPr>
          <p:cNvPr id="9" name="Text 7"/>
          <p:cNvSpPr txBox="1"/>
          <p:nvPr/>
        </p:nvSpPr>
        <p:spPr>
          <a:xfrm>
            <a:off x="795528" y="2560320"/>
            <a:ext cx="2468880" cy="320040"/>
          </a:xfrm>
          <a:prstGeom prst="rect">
            <a:avLst/>
          </a:prstGeom>
          <a:noFill/>
          <a:ln/>
        </p:spPr>
        <p:txBody>
          <a:bodyPr wrap="square" lIns="0" tIns="0" rIns="0" bIns="0" rtlCol="0" anchor="ctr"/>
          <a:lstStyle/>
          <a:p>
            <a:pPr indent="0" marL="0">
              <a:buNone/>
            </a:pPr>
            <a:r>
              <a:rPr lang="en-US" sz="1300" b="1" dirty="0">
                <a:solidFill>
                  <a:srgbClr val="16282B"/>
                </a:solidFill>
                <a:latin typeface="Calibri" pitchFamily="34" charset="0"/>
                <a:ea typeface="Calibri" pitchFamily="34" charset="-122"/>
                <a:cs typeface="Calibri" pitchFamily="34" charset="-120"/>
              </a:rPr>
              <a:t>Feature builder</a:t>
            </a:r>
            <a:endParaRPr lang="en-US" sz="1300" dirty="0"/>
          </a:p>
        </p:txBody>
      </p:sp>
      <p:sp>
        <p:nvSpPr>
          <p:cNvPr id="10" name="Text 8"/>
          <p:cNvSpPr txBox="1"/>
          <p:nvPr/>
        </p:nvSpPr>
        <p:spPr>
          <a:xfrm>
            <a:off x="3401568" y="2560320"/>
            <a:ext cx="3886200" cy="320040"/>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34 diabetes features, inlined in main.py</a:t>
            </a:r>
            <a:endParaRPr lang="en-US" sz="1200" dirty="0"/>
          </a:p>
        </p:txBody>
      </p:sp>
      <p:sp>
        <p:nvSpPr>
          <p:cNvPr id="11" name="Text 9"/>
          <p:cNvSpPr txBox="1"/>
          <p:nvPr/>
        </p:nvSpPr>
        <p:spPr>
          <a:xfrm>
            <a:off x="7424928" y="2560320"/>
            <a:ext cx="4114800" cy="320040"/>
          </a:xfrm>
          <a:prstGeom prst="rect">
            <a:avLst/>
          </a:prstGeom>
          <a:noFill/>
          <a:ln/>
        </p:spPr>
        <p:txBody>
          <a:bodyPr wrap="square" lIns="0" tIns="0" rIns="0" bIns="0" rtlCol="0" anchor="ctr"/>
          <a:lstStyle/>
          <a:p>
            <a:pPr indent="0" marL="0">
              <a:buNone/>
            </a:pPr>
            <a:r>
              <a:rPr lang="en-US" sz="1200" dirty="0">
                <a:solidFill>
                  <a:srgbClr val="16282B"/>
                </a:solidFill>
                <a:latin typeface="Calibri" pitchFamily="34" charset="0"/>
                <a:ea typeface="Calibri" pitchFamily="34" charset="-122"/>
                <a:cs typeface="Calibri" pitchFamily="34" charset="-120"/>
              </a:rPr>
              <a:t>94 MIMIC features — api/mimic_scoring.py</a:t>
            </a:r>
            <a:endParaRPr lang="en-US" sz="1200" dirty="0"/>
          </a:p>
        </p:txBody>
      </p:sp>
      <p:sp>
        <p:nvSpPr>
          <p:cNvPr id="12" name="Shape 10"/>
          <p:cNvSpPr/>
          <p:nvPr/>
        </p:nvSpPr>
        <p:spPr>
          <a:xfrm>
            <a:off x="566928" y="3090672"/>
            <a:ext cx="11057839" cy="658368"/>
          </a:xfrm>
          <a:prstGeom prst="roundRect">
            <a:avLst>
              <a:gd name="adj" fmla="val 11111"/>
            </a:avLst>
          </a:prstGeom>
          <a:solidFill>
            <a:srgbClr val="FFFFFF"/>
          </a:solidFill>
          <a:ln w="12700">
            <a:solidFill>
              <a:srgbClr val="FFFFFF"/>
            </a:solidFill>
            <a:prstDash val="solid"/>
          </a:ln>
        </p:spPr>
      </p:sp>
      <p:sp>
        <p:nvSpPr>
          <p:cNvPr id="13" name="Text 11"/>
          <p:cNvSpPr txBox="1"/>
          <p:nvPr/>
        </p:nvSpPr>
        <p:spPr>
          <a:xfrm>
            <a:off x="795528" y="3273552"/>
            <a:ext cx="2468880" cy="320040"/>
          </a:xfrm>
          <a:prstGeom prst="rect">
            <a:avLst/>
          </a:prstGeom>
          <a:noFill/>
          <a:ln/>
        </p:spPr>
        <p:txBody>
          <a:bodyPr wrap="square" lIns="0" tIns="0" rIns="0" bIns="0" rtlCol="0" anchor="ctr"/>
          <a:lstStyle/>
          <a:p>
            <a:pPr indent="0" marL="0">
              <a:buNone/>
            </a:pPr>
            <a:r>
              <a:rPr lang="en-US" sz="1300" b="1" dirty="0">
                <a:solidFill>
                  <a:srgbClr val="16282B"/>
                </a:solidFill>
                <a:latin typeface="Calibri" pitchFamily="34" charset="0"/>
                <a:ea typeface="Calibri" pitchFamily="34" charset="-122"/>
                <a:cs typeface="Calibri" pitchFamily="34" charset="-120"/>
              </a:rPr>
              <a:t>Driver extraction</a:t>
            </a:r>
            <a:endParaRPr lang="en-US" sz="1300" dirty="0"/>
          </a:p>
        </p:txBody>
      </p:sp>
      <p:sp>
        <p:nvSpPr>
          <p:cNvPr id="14" name="Text 12"/>
          <p:cNvSpPr txBox="1"/>
          <p:nvPr/>
        </p:nvSpPr>
        <p:spPr>
          <a:xfrm>
            <a:off x="3401568" y="3273552"/>
            <a:ext cx="3886200" cy="320040"/>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Decision-path walker over the tree</a:t>
            </a:r>
            <a:endParaRPr lang="en-US" sz="1200" dirty="0"/>
          </a:p>
        </p:txBody>
      </p:sp>
      <p:sp>
        <p:nvSpPr>
          <p:cNvPr id="15" name="Text 13"/>
          <p:cNvSpPr txBox="1"/>
          <p:nvPr/>
        </p:nvSpPr>
        <p:spPr>
          <a:xfrm>
            <a:off x="7424928" y="3273552"/>
            <a:ext cx="4114800" cy="320040"/>
          </a:xfrm>
          <a:prstGeom prst="rect">
            <a:avLst/>
          </a:prstGeom>
          <a:noFill/>
          <a:ln/>
        </p:spPr>
        <p:txBody>
          <a:bodyPr wrap="square" lIns="0" tIns="0" rIns="0" bIns="0" rtlCol="0" anchor="ctr"/>
          <a:lstStyle/>
          <a:p>
            <a:pPr indent="0" marL="0">
              <a:buNone/>
            </a:pPr>
            <a:r>
              <a:rPr lang="en-US" sz="1200" dirty="0">
                <a:solidFill>
                  <a:srgbClr val="16282B"/>
                </a:solidFill>
                <a:latin typeface="Calibri" pitchFamily="34" charset="0"/>
                <a:ea typeface="Calibri" pitchFamily="34" charset="-122"/>
                <a:cs typeface="Calibri" pitchFamily="34" charset="-120"/>
              </a:rPr>
              <a:t>SHAP attribution with clinician-facing labels for all 94 features</a:t>
            </a:r>
            <a:endParaRPr lang="en-US" sz="1200" dirty="0"/>
          </a:p>
        </p:txBody>
      </p:sp>
      <p:sp>
        <p:nvSpPr>
          <p:cNvPr id="16" name="Shape 14"/>
          <p:cNvSpPr/>
          <p:nvPr/>
        </p:nvSpPr>
        <p:spPr>
          <a:xfrm>
            <a:off x="566928" y="3803904"/>
            <a:ext cx="11057839" cy="658368"/>
          </a:xfrm>
          <a:prstGeom prst="roundRect">
            <a:avLst>
              <a:gd name="adj" fmla="val 11111"/>
            </a:avLst>
          </a:prstGeom>
          <a:solidFill>
            <a:srgbClr val="F1F6F5"/>
          </a:solidFill>
          <a:ln w="12700">
            <a:solidFill>
              <a:srgbClr val="F1F6F5"/>
            </a:solidFill>
            <a:prstDash val="solid"/>
          </a:ln>
        </p:spPr>
      </p:sp>
      <p:sp>
        <p:nvSpPr>
          <p:cNvPr id="17" name="Text 15"/>
          <p:cNvSpPr txBox="1"/>
          <p:nvPr/>
        </p:nvSpPr>
        <p:spPr>
          <a:xfrm>
            <a:off x="795528" y="3986784"/>
            <a:ext cx="2468880" cy="320040"/>
          </a:xfrm>
          <a:prstGeom prst="rect">
            <a:avLst/>
          </a:prstGeom>
          <a:noFill/>
          <a:ln/>
        </p:spPr>
        <p:txBody>
          <a:bodyPr wrap="square" lIns="0" tIns="0" rIns="0" bIns="0" rtlCol="0" anchor="ctr"/>
          <a:lstStyle/>
          <a:p>
            <a:pPr indent="0" marL="0">
              <a:buNone/>
            </a:pPr>
            <a:r>
              <a:rPr lang="en-US" sz="1300" b="1" dirty="0">
                <a:solidFill>
                  <a:srgbClr val="16282B"/>
                </a:solidFill>
                <a:latin typeface="Calibri" pitchFamily="34" charset="0"/>
                <a:ea typeface="Calibri" pitchFamily="34" charset="-122"/>
                <a:cs typeface="Calibri" pitchFamily="34" charset="-120"/>
              </a:rPr>
              <a:t>Risk bands</a:t>
            </a:r>
            <a:endParaRPr lang="en-US" sz="1300" dirty="0"/>
          </a:p>
        </p:txBody>
      </p:sp>
      <p:sp>
        <p:nvSpPr>
          <p:cNvPr id="18" name="Text 16"/>
          <p:cNvSpPr txBox="1"/>
          <p:nvPr/>
        </p:nvSpPr>
        <p:spPr>
          <a:xfrm>
            <a:off x="3401568" y="3986784"/>
            <a:ext cx="3886200" cy="320040"/>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UCI thresholds</a:t>
            </a:r>
            <a:endParaRPr lang="en-US" sz="1200" dirty="0"/>
          </a:p>
        </p:txBody>
      </p:sp>
      <p:sp>
        <p:nvSpPr>
          <p:cNvPr id="19" name="Text 17"/>
          <p:cNvSpPr txBox="1"/>
          <p:nvPr/>
        </p:nvSpPr>
        <p:spPr>
          <a:xfrm>
            <a:off x="7424928" y="3986784"/>
            <a:ext cx="4114800" cy="320040"/>
          </a:xfrm>
          <a:prstGeom prst="rect">
            <a:avLst/>
          </a:prstGeom>
          <a:noFill/>
          <a:ln/>
        </p:spPr>
        <p:txBody>
          <a:bodyPr wrap="square" lIns="0" tIns="0" rIns="0" bIns="0" rtlCol="0" anchor="ctr"/>
          <a:lstStyle/>
          <a:p>
            <a:pPr indent="0" marL="0">
              <a:buNone/>
            </a:pPr>
            <a:r>
              <a:rPr lang="en-US" sz="1200" dirty="0">
                <a:solidFill>
                  <a:srgbClr val="16282B"/>
                </a:solidFill>
                <a:latin typeface="Calibri" pitchFamily="34" charset="0"/>
                <a:ea typeface="Calibri" pitchFamily="34" charset="-122"/>
                <a:cs typeface="Calibri" pitchFamily="34" charset="-120"/>
              </a:rPr>
              <a:t>MIMIC score distribution — high 22.43, low 16.18</a:t>
            </a:r>
            <a:endParaRPr lang="en-US" sz="1200" dirty="0"/>
          </a:p>
        </p:txBody>
      </p:sp>
      <p:sp>
        <p:nvSpPr>
          <p:cNvPr id="20" name="Shape 18"/>
          <p:cNvSpPr/>
          <p:nvPr/>
        </p:nvSpPr>
        <p:spPr>
          <a:xfrm>
            <a:off x="566928" y="4517136"/>
            <a:ext cx="11057839" cy="658368"/>
          </a:xfrm>
          <a:prstGeom prst="roundRect">
            <a:avLst>
              <a:gd name="adj" fmla="val 11111"/>
            </a:avLst>
          </a:prstGeom>
          <a:solidFill>
            <a:srgbClr val="FFFFFF"/>
          </a:solidFill>
          <a:ln w="12700">
            <a:solidFill>
              <a:srgbClr val="FFFFFF"/>
            </a:solidFill>
            <a:prstDash val="solid"/>
          </a:ln>
        </p:spPr>
      </p:sp>
      <p:sp>
        <p:nvSpPr>
          <p:cNvPr id="21" name="Text 19"/>
          <p:cNvSpPr txBox="1"/>
          <p:nvPr/>
        </p:nvSpPr>
        <p:spPr>
          <a:xfrm>
            <a:off x="795528" y="4700016"/>
            <a:ext cx="2468880" cy="320040"/>
          </a:xfrm>
          <a:prstGeom prst="rect">
            <a:avLst/>
          </a:prstGeom>
          <a:noFill/>
          <a:ln/>
        </p:spPr>
        <p:txBody>
          <a:bodyPr wrap="square" lIns="0" tIns="0" rIns="0" bIns="0" rtlCol="0" anchor="ctr"/>
          <a:lstStyle/>
          <a:p>
            <a:pPr indent="0" marL="0">
              <a:buNone/>
            </a:pPr>
            <a:r>
              <a:rPr lang="en-US" sz="1300" b="1" dirty="0">
                <a:solidFill>
                  <a:srgbClr val="16282B"/>
                </a:solidFill>
                <a:latin typeface="Calibri" pitchFamily="34" charset="0"/>
                <a:ea typeface="Calibri" pitchFamily="34" charset="-122"/>
                <a:cs typeface="Calibri" pitchFamily="34" charset="-120"/>
              </a:rPr>
              <a:t>Manual entry</a:t>
            </a:r>
            <a:endParaRPr lang="en-US" sz="1300" dirty="0"/>
          </a:p>
        </p:txBody>
      </p:sp>
      <p:sp>
        <p:nvSpPr>
          <p:cNvPr id="22" name="Text 20"/>
          <p:cNvSpPr txBox="1"/>
          <p:nvPr/>
        </p:nvSpPr>
        <p:spPr>
          <a:xfrm>
            <a:off x="3401568" y="4700016"/>
            <a:ext cx="3886200" cy="320040"/>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Hardcoded diabetes form</a:t>
            </a:r>
            <a:endParaRPr lang="en-US" sz="1200" dirty="0"/>
          </a:p>
        </p:txBody>
      </p:sp>
      <p:sp>
        <p:nvSpPr>
          <p:cNvPr id="23" name="Text 21"/>
          <p:cNvSpPr txBox="1"/>
          <p:nvPr/>
        </p:nvSpPr>
        <p:spPr>
          <a:xfrm>
            <a:off x="7424928" y="4700016"/>
            <a:ext cx="4114800" cy="320040"/>
          </a:xfrm>
          <a:prstGeom prst="rect">
            <a:avLst/>
          </a:prstGeom>
          <a:noFill/>
          <a:ln/>
        </p:spPr>
        <p:txBody>
          <a:bodyPr wrap="square" lIns="0" tIns="0" rIns="0" bIns="0" rtlCol="0" anchor="ctr"/>
          <a:lstStyle/>
          <a:p>
            <a:pPr indent="0" marL="0">
              <a:buNone/>
            </a:pPr>
            <a:r>
              <a:rPr lang="en-US" sz="1200" dirty="0">
                <a:solidFill>
                  <a:srgbClr val="16282B"/>
                </a:solidFill>
                <a:latin typeface="Calibri" pitchFamily="34" charset="0"/>
                <a:ea typeface="Calibri" pitchFamily="34" charset="-122"/>
                <a:cs typeface="Calibri" pitchFamily="34" charset="-120"/>
              </a:rPr>
              <a:t>Driven live by the model's own feature spec, blank = genuinely unknown</a:t>
            </a:r>
            <a:endParaRPr lang="en-US" sz="1200" dirty="0"/>
          </a:p>
        </p:txBody>
      </p:sp>
      <p:sp>
        <p:nvSpPr>
          <p:cNvPr id="24" name="Shape 22"/>
          <p:cNvSpPr/>
          <p:nvPr/>
        </p:nvSpPr>
        <p:spPr>
          <a:xfrm>
            <a:off x="566928" y="5394960"/>
            <a:ext cx="11057839" cy="777240"/>
          </a:xfrm>
          <a:prstGeom prst="roundRect">
            <a:avLst>
              <a:gd name="adj" fmla="val 9412"/>
            </a:avLst>
          </a:prstGeom>
          <a:solidFill>
            <a:srgbClr val="F1F6F5"/>
          </a:solidFill>
          <a:ln w="12700">
            <a:solidFill>
              <a:srgbClr val="F1F6F5"/>
            </a:solidFill>
            <a:prstDash val="solid"/>
          </a:ln>
        </p:spPr>
      </p:sp>
      <p:sp>
        <p:nvSpPr>
          <p:cNvPr id="25" name="Text 23"/>
          <p:cNvSpPr txBox="1"/>
          <p:nvPr/>
        </p:nvSpPr>
        <p:spPr>
          <a:xfrm>
            <a:off x="841248" y="5504688"/>
            <a:ext cx="10509199" cy="594360"/>
          </a:xfrm>
          <a:prstGeom prst="rect">
            <a:avLst/>
          </a:prstGeom>
          <a:noFill/>
          <a:ln/>
        </p:spPr>
        <p:txBody>
          <a:bodyPr wrap="square" lIns="0" tIns="0" rIns="0" bIns="0" rtlCol="0" anchor="ctr"/>
          <a:lstStyle/>
          <a:p>
            <a:pPr indent="0" marL="0">
              <a:lnSpc>
                <a:spcPts val="1500"/>
              </a:lnSpc>
              <a:buNone/>
            </a:pPr>
            <a:r>
              <a:rPr lang="en-US" sz="1150" b="1" dirty="0">
                <a:solidFill>
                  <a:srgbClr val="16282B"/>
                </a:solidFill>
                <a:latin typeface="Calibri" pitchFamily="34" charset="0"/>
                <a:ea typeface="Calibri" pitchFamily="34" charset="-122"/>
                <a:cs typeface="Calibri" pitchFamily="34" charset="-120"/>
              </a:rPr>
              <a:t>Verified, not assumed:  </a:t>
            </a:r>
            <a:pPr indent="0" marL="0">
              <a:lnSpc>
                <a:spcPts val="1500"/>
              </a:lnSpc>
              <a:buNone/>
            </a:pPr>
            <a:r>
              <a:rPr lang="en-US" sz="1150" dirty="0">
                <a:solidFill>
                  <a:srgbClr val="5E7175"/>
                </a:solidFill>
                <a:latin typeface="Calibri" pitchFamily="34" charset="0"/>
                <a:ea typeface="Calibri" pitchFamily="34" charset="-122"/>
                <a:cs typeface="Calibri" pitchFamily="34" charset="-120"/>
              </a:rPr>
              <a:t>predictions confirmed bitwise-identical to the training environment across 3,000 rows · SHAP attribution accuracy measured and documented in the module · 2,000 patients / 3,869 admissions loaded to MongoDB as derived data only, so no labs, ICD codes or real timestamps leave the machine.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PRODUCT WORK</a:t>
            </a:r>
            <a:endParaRPr lang="en-US" sz="1100" dirty="0"/>
          </a:p>
        </p:txBody>
      </p:sp>
      <p:sp>
        <p:nvSpPr>
          <p:cNvPr id="3" name="Text 1"/>
          <p:cNvSpPr txBox="1"/>
          <p:nvPr/>
        </p:nvSpPr>
        <p:spPr>
          <a:xfrm>
            <a:off x="566928" y="566928"/>
            <a:ext cx="11057839" cy="658368"/>
          </a:xfrm>
          <a:prstGeom prst="rect">
            <a:avLst/>
          </a:prstGeom>
          <a:noFill/>
          <a:ln/>
        </p:spPr>
        <p:txBody>
          <a:bodyPr wrap="square" lIns="0" tIns="0" rIns="0" bIns="0" rtlCol="0" anchor="ctr"/>
          <a:lstStyle/>
          <a:p>
            <a:pPr indent="0" marL="0">
              <a:buNone/>
            </a:pPr>
            <a:r>
              <a:rPr lang="en-US" sz="3200" b="1" dirty="0">
                <a:solidFill>
                  <a:srgbClr val="16282B"/>
                </a:solidFill>
                <a:latin typeface="Cambria" pitchFamily="34" charset="0"/>
                <a:ea typeface="Cambria" pitchFamily="34" charset="-122"/>
                <a:cs typeface="Cambria" pitchFamily="34" charset="-120"/>
              </a:rPr>
              <a:t>Product work on top of the baseline</a:t>
            </a:r>
            <a:endParaRPr lang="en-US" sz="3200" dirty="0"/>
          </a:p>
        </p:txBody>
      </p:sp>
      <p:sp>
        <p:nvSpPr>
          <p:cNvPr id="4" name="Shape 2"/>
          <p:cNvSpPr/>
          <p:nvPr/>
        </p:nvSpPr>
        <p:spPr>
          <a:xfrm>
            <a:off x="566928" y="1554480"/>
            <a:ext cx="5323180" cy="1965960"/>
          </a:xfrm>
          <a:prstGeom prst="roundRect">
            <a:avLst>
              <a:gd name="adj" fmla="val 3721"/>
            </a:avLst>
          </a:prstGeom>
          <a:solidFill>
            <a:srgbClr val="F1F6F5"/>
          </a:solidFill>
          <a:ln w="12700">
            <a:solidFill>
              <a:srgbClr val="F1F6F5"/>
            </a:solidFill>
            <a:prstDash val="solid"/>
          </a:ln>
        </p:spPr>
      </p:sp>
      <p:sp>
        <p:nvSpPr>
          <p:cNvPr id="5" name="Shape 3"/>
          <p:cNvSpPr/>
          <p:nvPr/>
        </p:nvSpPr>
        <p:spPr>
          <a:xfrm>
            <a:off x="859536" y="1828800"/>
            <a:ext cx="475488" cy="475488"/>
          </a:xfrm>
          <a:prstGeom prst="ellipse">
            <a:avLst/>
          </a:prstGeom>
          <a:solidFill>
            <a:srgbClr val="00A896"/>
          </a:solidFill>
          <a:ln/>
        </p:spPr>
      </p:sp>
      <p:sp>
        <p:nvSpPr>
          <p:cNvPr id="6" name="Text 4"/>
          <p:cNvSpPr txBox="1"/>
          <p:nvPr/>
        </p:nvSpPr>
        <p:spPr>
          <a:xfrm>
            <a:off x="859536" y="182880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499616" y="1865376"/>
            <a:ext cx="4088740" cy="384048"/>
          </a:xfrm>
          <a:prstGeom prst="rect">
            <a:avLst/>
          </a:prstGeom>
          <a:noFill/>
          <a:ln/>
        </p:spPr>
        <p:txBody>
          <a:bodyPr wrap="square" lIns="0" tIns="0" rIns="0" bIns="0" rtlCol="0" anchor="ctr"/>
          <a:lstStyle/>
          <a:p>
            <a:pPr indent="0" marL="0">
              <a:buNone/>
            </a:pPr>
            <a:r>
              <a:rPr lang="en-US" sz="1500" b="1" dirty="0">
                <a:solidFill>
                  <a:srgbClr val="16282B"/>
                </a:solidFill>
                <a:latin typeface="Calibri" pitchFamily="34" charset="0"/>
                <a:ea typeface="Calibri" pitchFamily="34" charset="-122"/>
                <a:cs typeface="Calibri" pitchFamily="34" charset="-120"/>
              </a:rPr>
              <a:t>AI insights: ROI + counterfactual</a:t>
            </a:r>
            <a:endParaRPr lang="en-US" sz="1500" dirty="0"/>
          </a:p>
        </p:txBody>
      </p:sp>
      <p:sp>
        <p:nvSpPr>
          <p:cNvPr id="8" name="Text 6"/>
          <p:cNvSpPr txBox="1"/>
          <p:nvPr/>
        </p:nvSpPr>
        <p:spPr>
          <a:xfrm>
            <a:off x="859536" y="2423160"/>
            <a:ext cx="4737964" cy="960120"/>
          </a:xfrm>
          <a:prstGeom prst="rect">
            <a:avLst/>
          </a:prstGeom>
          <a:noFill/>
          <a:ln/>
        </p:spPr>
        <p:txBody>
          <a:bodyPr wrap="square" lIns="0" tIns="0" rIns="0" bIns="0" rtlCol="0" anchor="ctr"/>
          <a:lstStyle/>
          <a:p>
            <a:pPr indent="0" marL="0">
              <a:lnSpc>
                <a:spcPts val="1600"/>
              </a:lnSpc>
              <a:buNone/>
            </a:pPr>
            <a:r>
              <a:rPr lang="en-US" sz="1200" dirty="0">
                <a:solidFill>
                  <a:srgbClr val="5E7175"/>
                </a:solidFill>
                <a:latin typeface="Calibri" pitchFamily="34" charset="0"/>
                <a:ea typeface="Calibri" pitchFamily="34" charset="-122"/>
                <a:cs typeface="Calibri" pitchFamily="34" charset="-120"/>
              </a:rPr>
              <a:t>gemini_insights.py with an enforced JSON schema returns a cost-avoided estimate and a counterfactual. Button-triggered, not auto-fired, to control LLM cost.</a:t>
            </a:r>
            <a:endParaRPr lang="en-US" sz="1200" dirty="0"/>
          </a:p>
        </p:txBody>
      </p:sp>
      <p:sp>
        <p:nvSpPr>
          <p:cNvPr id="9" name="Shape 7"/>
          <p:cNvSpPr/>
          <p:nvPr/>
        </p:nvSpPr>
        <p:spPr>
          <a:xfrm>
            <a:off x="6301588" y="1554480"/>
            <a:ext cx="5323180" cy="1965960"/>
          </a:xfrm>
          <a:prstGeom prst="roundRect">
            <a:avLst>
              <a:gd name="adj" fmla="val 3721"/>
            </a:avLst>
          </a:prstGeom>
          <a:solidFill>
            <a:srgbClr val="F1F6F5"/>
          </a:solidFill>
          <a:ln w="12700">
            <a:solidFill>
              <a:srgbClr val="F1F6F5"/>
            </a:solidFill>
            <a:prstDash val="solid"/>
          </a:ln>
        </p:spPr>
      </p:sp>
      <p:sp>
        <p:nvSpPr>
          <p:cNvPr id="10" name="Shape 8"/>
          <p:cNvSpPr/>
          <p:nvPr/>
        </p:nvSpPr>
        <p:spPr>
          <a:xfrm>
            <a:off x="6594196" y="1828800"/>
            <a:ext cx="475488" cy="475488"/>
          </a:xfrm>
          <a:prstGeom prst="ellipse">
            <a:avLst/>
          </a:prstGeom>
          <a:solidFill>
            <a:srgbClr val="00A896"/>
          </a:solidFill>
          <a:ln/>
        </p:spPr>
      </p:sp>
      <p:sp>
        <p:nvSpPr>
          <p:cNvPr id="11" name="Text 9"/>
          <p:cNvSpPr txBox="1"/>
          <p:nvPr/>
        </p:nvSpPr>
        <p:spPr>
          <a:xfrm>
            <a:off x="6594196" y="182880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7234276" y="1865376"/>
            <a:ext cx="4088740" cy="384048"/>
          </a:xfrm>
          <a:prstGeom prst="rect">
            <a:avLst/>
          </a:prstGeom>
          <a:noFill/>
          <a:ln/>
        </p:spPr>
        <p:txBody>
          <a:bodyPr wrap="square" lIns="0" tIns="0" rIns="0" bIns="0" rtlCol="0" anchor="ctr"/>
          <a:lstStyle/>
          <a:p>
            <a:pPr indent="0" marL="0">
              <a:buNone/>
            </a:pPr>
            <a:r>
              <a:rPr lang="en-US" sz="1500" b="1" dirty="0">
                <a:solidFill>
                  <a:srgbClr val="16282B"/>
                </a:solidFill>
                <a:latin typeface="Calibri" pitchFamily="34" charset="0"/>
                <a:ea typeface="Calibri" pitchFamily="34" charset="-122"/>
                <a:cs typeface="Calibri" pitchFamily="34" charset="-120"/>
              </a:rPr>
              <a:t>Weekly trend monitoring</a:t>
            </a:r>
            <a:endParaRPr lang="en-US" sz="1500" dirty="0"/>
          </a:p>
        </p:txBody>
      </p:sp>
      <p:sp>
        <p:nvSpPr>
          <p:cNvPr id="13" name="Text 11"/>
          <p:cNvSpPr txBox="1"/>
          <p:nvPr/>
        </p:nvSpPr>
        <p:spPr>
          <a:xfrm>
            <a:off x="6594196" y="2423160"/>
            <a:ext cx="4737964" cy="960120"/>
          </a:xfrm>
          <a:prstGeom prst="rect">
            <a:avLst/>
          </a:prstGeom>
          <a:noFill/>
          <a:ln/>
        </p:spPr>
        <p:txBody>
          <a:bodyPr wrap="square" lIns="0" tIns="0" rIns="0" bIns="0" rtlCol="0" anchor="ctr"/>
          <a:lstStyle/>
          <a:p>
            <a:pPr indent="0" marL="0">
              <a:lnSpc>
                <a:spcPts val="1600"/>
              </a:lnSpc>
              <a:buNone/>
            </a:pPr>
            <a:r>
              <a:rPr lang="en-US" sz="1200" dirty="0">
                <a:solidFill>
                  <a:srgbClr val="5E7175"/>
                </a:solidFill>
                <a:latin typeface="Calibri" pitchFamily="34" charset="0"/>
                <a:ea typeface="Calibri" pitchFamily="34" charset="-122"/>
                <a:cs typeface="Calibri" pitchFamily="34" charset="-120"/>
              </a:rPr>
              <a:t>New trend endpoint classifies each patient stable / improving / deteriorating / action required, with a per-week Gemini narrative and a trend page.</a:t>
            </a:r>
            <a:endParaRPr lang="en-US" sz="1200" dirty="0"/>
          </a:p>
        </p:txBody>
      </p:sp>
      <p:sp>
        <p:nvSpPr>
          <p:cNvPr id="14" name="Shape 12"/>
          <p:cNvSpPr/>
          <p:nvPr/>
        </p:nvSpPr>
        <p:spPr>
          <a:xfrm>
            <a:off x="566928" y="3886200"/>
            <a:ext cx="5323180" cy="1965960"/>
          </a:xfrm>
          <a:prstGeom prst="roundRect">
            <a:avLst>
              <a:gd name="adj" fmla="val 3721"/>
            </a:avLst>
          </a:prstGeom>
          <a:solidFill>
            <a:srgbClr val="F1F6F5"/>
          </a:solidFill>
          <a:ln w="12700">
            <a:solidFill>
              <a:srgbClr val="F1F6F5"/>
            </a:solidFill>
            <a:prstDash val="solid"/>
          </a:ln>
        </p:spPr>
      </p:sp>
      <p:sp>
        <p:nvSpPr>
          <p:cNvPr id="15" name="Shape 13"/>
          <p:cNvSpPr/>
          <p:nvPr/>
        </p:nvSpPr>
        <p:spPr>
          <a:xfrm>
            <a:off x="859536" y="4160520"/>
            <a:ext cx="475488" cy="475488"/>
          </a:xfrm>
          <a:prstGeom prst="ellipse">
            <a:avLst/>
          </a:prstGeom>
          <a:solidFill>
            <a:srgbClr val="00A896"/>
          </a:solidFill>
          <a:ln/>
        </p:spPr>
      </p:sp>
      <p:sp>
        <p:nvSpPr>
          <p:cNvPr id="16" name="Text 14"/>
          <p:cNvSpPr txBox="1"/>
          <p:nvPr/>
        </p:nvSpPr>
        <p:spPr>
          <a:xfrm>
            <a:off x="859536" y="416052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499616" y="4197096"/>
            <a:ext cx="4088740" cy="384048"/>
          </a:xfrm>
          <a:prstGeom prst="rect">
            <a:avLst/>
          </a:prstGeom>
          <a:noFill/>
          <a:ln/>
        </p:spPr>
        <p:txBody>
          <a:bodyPr wrap="square" lIns="0" tIns="0" rIns="0" bIns="0" rtlCol="0" anchor="ctr"/>
          <a:lstStyle/>
          <a:p>
            <a:pPr indent="0" marL="0">
              <a:buNone/>
            </a:pPr>
            <a:r>
              <a:rPr lang="en-US" sz="1500" b="1" dirty="0">
                <a:solidFill>
                  <a:srgbClr val="16282B"/>
                </a:solidFill>
                <a:latin typeface="Calibri" pitchFamily="34" charset="0"/>
                <a:ea typeface="Calibri" pitchFamily="34" charset="-122"/>
                <a:cs typeface="Calibri" pitchFamily="34" charset="-120"/>
              </a:rPr>
              <a:t>Current vs. discharge risk</a:t>
            </a:r>
            <a:endParaRPr lang="en-US" sz="1500" dirty="0"/>
          </a:p>
        </p:txBody>
      </p:sp>
      <p:sp>
        <p:nvSpPr>
          <p:cNvPr id="18" name="Text 16"/>
          <p:cNvSpPr txBox="1"/>
          <p:nvPr/>
        </p:nvSpPr>
        <p:spPr>
          <a:xfrm>
            <a:off x="859536" y="4754880"/>
            <a:ext cx="4737964" cy="960120"/>
          </a:xfrm>
          <a:prstGeom prst="rect">
            <a:avLst/>
          </a:prstGeom>
          <a:noFill/>
          <a:ln/>
        </p:spPr>
        <p:txBody>
          <a:bodyPr wrap="square" lIns="0" tIns="0" rIns="0" bIns="0" rtlCol="0" anchor="ctr"/>
          <a:lstStyle/>
          <a:p>
            <a:pPr indent="0" marL="0">
              <a:lnSpc>
                <a:spcPts val="1600"/>
              </a:lnSpc>
              <a:buNone/>
            </a:pPr>
            <a:r>
              <a:rPr lang="en-US" sz="1200" dirty="0">
                <a:solidFill>
                  <a:srgbClr val="5E7175"/>
                </a:solidFill>
                <a:latin typeface="Calibri" pitchFamily="34" charset="0"/>
                <a:ea typeface="Calibri" pitchFamily="34" charset="-122"/>
                <a:cs typeface="Calibri" pitchFamily="34" charset="-120"/>
              </a:rPr>
              <a:t>The worklist ranks on the current score, with the discharge score as context, a delta column and a trend badge. One shared classifier backs the dashboard, panel and trend page.</a:t>
            </a:r>
            <a:endParaRPr lang="en-US" sz="1200" dirty="0"/>
          </a:p>
        </p:txBody>
      </p:sp>
      <p:sp>
        <p:nvSpPr>
          <p:cNvPr id="19" name="Shape 17"/>
          <p:cNvSpPr/>
          <p:nvPr/>
        </p:nvSpPr>
        <p:spPr>
          <a:xfrm>
            <a:off x="6301588" y="3886200"/>
            <a:ext cx="5323180" cy="1965960"/>
          </a:xfrm>
          <a:prstGeom prst="roundRect">
            <a:avLst>
              <a:gd name="adj" fmla="val 3721"/>
            </a:avLst>
          </a:prstGeom>
          <a:solidFill>
            <a:srgbClr val="F1F6F5"/>
          </a:solidFill>
          <a:ln w="12700">
            <a:solidFill>
              <a:srgbClr val="F1F6F5"/>
            </a:solidFill>
            <a:prstDash val="solid"/>
          </a:ln>
        </p:spPr>
      </p:sp>
      <p:sp>
        <p:nvSpPr>
          <p:cNvPr id="20" name="Shape 18"/>
          <p:cNvSpPr/>
          <p:nvPr/>
        </p:nvSpPr>
        <p:spPr>
          <a:xfrm>
            <a:off x="6594196" y="4160520"/>
            <a:ext cx="475488" cy="475488"/>
          </a:xfrm>
          <a:prstGeom prst="ellipse">
            <a:avLst/>
          </a:prstGeom>
          <a:solidFill>
            <a:srgbClr val="00A896"/>
          </a:solidFill>
          <a:ln/>
        </p:spPr>
      </p:sp>
      <p:sp>
        <p:nvSpPr>
          <p:cNvPr id="21" name="Text 19"/>
          <p:cNvSpPr txBox="1"/>
          <p:nvPr/>
        </p:nvSpPr>
        <p:spPr>
          <a:xfrm>
            <a:off x="6594196" y="416052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7234276" y="4197096"/>
            <a:ext cx="4088740" cy="384048"/>
          </a:xfrm>
          <a:prstGeom prst="rect">
            <a:avLst/>
          </a:prstGeom>
          <a:noFill/>
          <a:ln/>
        </p:spPr>
        <p:txBody>
          <a:bodyPr wrap="square" lIns="0" tIns="0" rIns="0" bIns="0" rtlCol="0" anchor="ctr"/>
          <a:lstStyle/>
          <a:p>
            <a:pPr indent="0" marL="0">
              <a:buNone/>
            </a:pPr>
            <a:r>
              <a:rPr lang="en-US" sz="1500" b="1" dirty="0">
                <a:solidFill>
                  <a:srgbClr val="16282B"/>
                </a:solidFill>
                <a:latin typeface="Calibri" pitchFamily="34" charset="0"/>
                <a:ea typeface="Calibri" pitchFamily="34" charset="-122"/>
                <a:cs typeface="Calibri" pitchFamily="34" charset="-120"/>
              </a:rPr>
              <a:t>UI polish</a:t>
            </a:r>
            <a:endParaRPr lang="en-US" sz="1500" dirty="0"/>
          </a:p>
        </p:txBody>
      </p:sp>
      <p:sp>
        <p:nvSpPr>
          <p:cNvPr id="23" name="Text 21"/>
          <p:cNvSpPr txBox="1"/>
          <p:nvPr/>
        </p:nvSpPr>
        <p:spPr>
          <a:xfrm>
            <a:off x="6594196" y="4754880"/>
            <a:ext cx="4737964" cy="960120"/>
          </a:xfrm>
          <a:prstGeom prst="rect">
            <a:avLst/>
          </a:prstGeom>
          <a:noFill/>
          <a:ln/>
        </p:spPr>
        <p:txBody>
          <a:bodyPr wrap="square" lIns="0" tIns="0" rIns="0" bIns="0" rtlCol="0" anchor="ctr"/>
          <a:lstStyle/>
          <a:p>
            <a:pPr indent="0" marL="0">
              <a:lnSpc>
                <a:spcPts val="1600"/>
              </a:lnSpc>
              <a:buNone/>
            </a:pPr>
            <a:r>
              <a:rPr lang="en-US" sz="1200" dirty="0">
                <a:solidFill>
                  <a:srgbClr val="5E7175"/>
                </a:solidFill>
                <a:latin typeface="Calibri" pitchFamily="34" charset="0"/>
                <a:ea typeface="Calibri" pitchFamily="34" charset="-122"/>
                <a:cs typeface="Calibri" pitchFamily="34" charset="-120"/>
              </a:rPr>
              <a:t>The dashboard slide-over was rebuilt on real CSS transforms with deferred unmount, so its open and close animations play properly on every load.</a:t>
            </a:r>
            <a:endParaRPr lang="en-US" sz="1200" dirty="0"/>
          </a:p>
        </p:txBody>
      </p:sp>
      <p:sp>
        <p:nvSpPr>
          <p:cNvPr id="24" name="Text 22"/>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1000" i="1" dirty="0">
                <a:solidFill>
                  <a:srgbClr val="5E7175"/>
                </a:solidFill>
                <a:latin typeface="Calibri" pitchFamily="34" charset="0"/>
                <a:ea typeface="Calibri" pitchFamily="34" charset="-122"/>
                <a:cs typeface="Calibri" pitchFamily="34" charset="-120"/>
              </a:rPr>
              <a:t>Four new frontend files (534 lines) and nine modified; mock.js grew from 146 to 467 lines to keep the dashboard demonstrable without a database.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2E36"/>
        </a:solidFill>
      </p:bgPr>
    </p:bg>
    <p:spTree>
      <p:nvGrpSpPr>
        <p:cNvPr id="1" name=""/>
        <p:cNvGrpSpPr/>
        <p:nvPr/>
      </p:nvGrpSpPr>
      <p:grpSpPr>
        <a:xfrm>
          <a:off x="0" y="0"/>
          <a:ext cx="0" cy="0"/>
          <a:chOff x="0" y="0"/>
          <a:chExt cx="0" cy="0"/>
        </a:xfrm>
      </p:grpSpPr>
      <p:sp>
        <p:nvSpPr>
          <p:cNvPr id="2" name="Text 0"/>
          <p:cNvSpPr txBox="1"/>
          <p:nvPr/>
        </p:nvSpPr>
        <p:spPr>
          <a:xfrm>
            <a:off x="566928" y="566928"/>
            <a:ext cx="11057839" cy="274320"/>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CONTINUOUS MONITORING</a:t>
            </a:r>
            <a:endParaRPr lang="en-US" sz="1200" dirty="0"/>
          </a:p>
        </p:txBody>
      </p:sp>
      <p:sp>
        <p:nvSpPr>
          <p:cNvPr id="3" name="Text 1"/>
          <p:cNvSpPr txBox="1"/>
          <p:nvPr/>
        </p:nvSpPr>
        <p:spPr>
          <a:xfrm>
            <a:off x="566928" y="932688"/>
            <a:ext cx="11057839" cy="6858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Monitoring, scoped and bridged</a:t>
            </a:r>
            <a:endParaRPr lang="en-US" sz="3600" dirty="0"/>
          </a:p>
        </p:txBody>
      </p:sp>
      <p:sp>
        <p:nvSpPr>
          <p:cNvPr id="4" name="Shape 2"/>
          <p:cNvSpPr/>
          <p:nvPr/>
        </p:nvSpPr>
        <p:spPr>
          <a:xfrm>
            <a:off x="566928" y="2011680"/>
            <a:ext cx="5349240" cy="3520440"/>
          </a:xfrm>
          <a:prstGeom prst="roundRect">
            <a:avLst>
              <a:gd name="adj" fmla="val 2078"/>
            </a:avLst>
          </a:prstGeom>
          <a:solidFill>
            <a:srgbClr val="12414A"/>
          </a:solidFill>
          <a:ln w="12700">
            <a:solidFill>
              <a:srgbClr val="12414A"/>
            </a:solidFill>
            <a:prstDash val="solid"/>
          </a:ln>
        </p:spPr>
      </p:sp>
      <p:sp>
        <p:nvSpPr>
          <p:cNvPr id="5" name="Text 3"/>
          <p:cNvSpPr txBox="1"/>
          <p:nvPr/>
        </p:nvSpPr>
        <p:spPr>
          <a:xfrm>
            <a:off x="950976" y="2286000"/>
            <a:ext cx="4572000" cy="548640"/>
          </a:xfrm>
          <a:prstGeom prst="rect">
            <a:avLst/>
          </a:prstGeom>
          <a:noFill/>
          <a:ln/>
        </p:spPr>
        <p:txBody>
          <a:bodyPr wrap="square" lIns="0" tIns="0" rIns="0" bIns="0" rtlCol="0" anchor="ctr"/>
          <a:lstStyle/>
          <a:p>
            <a:pPr indent="0" marL="0">
              <a:buNone/>
            </a:pPr>
            <a:r>
              <a:rPr lang="en-US" sz="3200" b="1" dirty="0">
                <a:solidFill>
                  <a:srgbClr val="02C39A"/>
                </a:solidFill>
                <a:latin typeface="Cambria" pitchFamily="34" charset="0"/>
                <a:ea typeface="Cambria" pitchFamily="34" charset="-122"/>
                <a:cs typeface="Cambria" pitchFamily="34" charset="-120"/>
              </a:rPr>
              <a:t>A telemetry feed</a:t>
            </a:r>
            <a:endParaRPr lang="en-US" sz="3200" dirty="0"/>
          </a:p>
        </p:txBody>
      </p:sp>
      <p:sp>
        <p:nvSpPr>
          <p:cNvPr id="6" name="Text 4"/>
          <p:cNvSpPr txBox="1"/>
          <p:nvPr/>
        </p:nvSpPr>
        <p:spPr>
          <a:xfrm>
            <a:off x="950976" y="2834640"/>
            <a:ext cx="4480560" cy="365760"/>
          </a:xfrm>
          <a:prstGeom prst="rect">
            <a:avLst/>
          </a:prstGeom>
          <a:noFill/>
          <a:ln/>
        </p:spPr>
        <p:txBody>
          <a:bodyPr wrap="square" lIns="0" tIns="0" rIns="0" bIns="0" rtlCol="0" anchor="ctr"/>
          <a:lstStyle/>
          <a:p>
            <a:pPr indent="0" marL="0">
              <a:buNone/>
            </a:pPr>
            <a:r>
              <a:rPr lang="en-US" sz="1300" dirty="0">
                <a:solidFill>
                  <a:srgbClr val="AECFD1"/>
                </a:solidFill>
                <a:latin typeface="Calibri" pitchFamily="34" charset="0"/>
                <a:ea typeface="Calibri" pitchFamily="34" charset="-122"/>
                <a:cs typeface="Calibri" pitchFamily="34" charset="-120"/>
              </a:rPr>
              <a:t>is what weekly monitoring runs on</a:t>
            </a:r>
            <a:endParaRPr lang="en-US" sz="1300" dirty="0"/>
          </a:p>
        </p:txBody>
      </p:sp>
      <p:sp>
        <p:nvSpPr>
          <p:cNvPr id="7" name="Text 5"/>
          <p:cNvSpPr txBox="1"/>
          <p:nvPr/>
        </p:nvSpPr>
        <p:spPr>
          <a:xfrm>
            <a:off x="950976" y="3310128"/>
            <a:ext cx="4572000" cy="201168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C8DEDF"/>
                </a:solidFill>
                <a:latin typeface="Calibri" pitchFamily="34" charset="0"/>
                <a:ea typeface="Calibri" pitchFamily="34" charset="-122"/>
                <a:cs typeface="Calibri" pitchFamily="34" charset="-120"/>
              </a:rPr>
              <a:t>Watching a patient week by week means data has to arrive every week.</a:t>
            </a:r>
            <a:endParaRPr lang="en-US" sz="1200" dirty="0"/>
          </a:p>
          <a:p>
            <a:pPr marL="342900" indent="-342900">
              <a:lnSpc>
                <a:spcPts val="1700"/>
              </a:lnSpc>
              <a:spcAft>
                <a:spcPts val="700"/>
              </a:spcAft>
              <a:buSzPct val="100000"/>
              <a:buChar char="•"/>
            </a:pPr>
            <a:r>
              <a:rPr lang="en-US" sz="1200" dirty="0">
                <a:solidFill>
                  <a:srgbClr val="C8DEDF"/>
                </a:solidFill>
                <a:latin typeface="Calibri" pitchFamily="34" charset="0"/>
                <a:ea typeface="Calibri" pitchFamily="34" charset="-122"/>
                <a:cs typeface="Calibri" pitchFamily="34" charset="-120"/>
              </a:rPr>
              <a:t>Research extracts capture clinic visits, which happen when a patient turns up. A weekly cadence comes from a live source instead — Preventra's own app and connected devices, or a wearables dataset such as All of Us.</a:t>
            </a:r>
            <a:endParaRPr lang="en-US" sz="1200" dirty="0"/>
          </a:p>
          <a:p>
            <a:pPr marL="342900" indent="-342900">
              <a:lnSpc>
                <a:spcPts val="1700"/>
              </a:lnSpc>
              <a:spcAft>
                <a:spcPts val="700"/>
              </a:spcAft>
              <a:buSzPct val="100000"/>
              <a:buChar char="•"/>
            </a:pPr>
            <a:r>
              <a:rPr lang="en-US" sz="1200" dirty="0">
                <a:solidFill>
                  <a:srgbClr val="C8DEDF"/>
                </a:solidFill>
                <a:latin typeface="Calibri" pitchFamily="34" charset="0"/>
                <a:ea typeface="Calibri" pitchFamily="34" charset="-122"/>
                <a:cs typeface="Calibri" pitchFamily="34" charset="-120"/>
              </a:rPr>
              <a:t>Establishing that early meant the screens were designed around the input that will feed them.</a:t>
            </a:r>
            <a:endParaRPr lang="en-US" sz="1200" dirty="0"/>
          </a:p>
        </p:txBody>
      </p:sp>
      <p:sp>
        <p:nvSpPr>
          <p:cNvPr id="8" name="Shape 6"/>
          <p:cNvSpPr/>
          <p:nvPr/>
        </p:nvSpPr>
        <p:spPr>
          <a:xfrm>
            <a:off x="6327648" y="2011680"/>
            <a:ext cx="5297119" cy="3520440"/>
          </a:xfrm>
          <a:prstGeom prst="roundRect">
            <a:avLst>
              <a:gd name="adj" fmla="val 2078"/>
            </a:avLst>
          </a:prstGeom>
          <a:solidFill>
            <a:srgbClr val="12414A"/>
          </a:solidFill>
          <a:ln w="12700">
            <a:solidFill>
              <a:srgbClr val="12414A"/>
            </a:solidFill>
            <a:prstDash val="solid"/>
          </a:ln>
        </p:spPr>
      </p:sp>
      <p:sp>
        <p:nvSpPr>
          <p:cNvPr id="9" name="Text 7"/>
          <p:cNvSpPr txBox="1"/>
          <p:nvPr/>
        </p:nvSpPr>
        <p:spPr>
          <a:xfrm>
            <a:off x="6711696" y="2286000"/>
            <a:ext cx="448056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Shipping the experience today</a:t>
            </a:r>
            <a:endParaRPr lang="en-US" sz="1700" dirty="0"/>
          </a:p>
        </p:txBody>
      </p:sp>
      <p:sp>
        <p:nvSpPr>
          <p:cNvPr id="10" name="Text 8"/>
          <p:cNvSpPr txBox="1"/>
          <p:nvPr/>
        </p:nvSpPr>
        <p:spPr>
          <a:xfrm>
            <a:off x="6711696" y="2852928"/>
            <a:ext cx="4526280" cy="228600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C8DEDF"/>
                </a:solidFill>
                <a:latin typeface="Calibri" pitchFamily="34" charset="0"/>
                <a:ea typeface="Calibri" pitchFamily="34" charset="-122"/>
                <a:cs typeface="Calibri" pitchFamily="34" charset="-120"/>
              </a:rPr>
              <a:t>The weekly trend surface is live — status banner, trend chart, per-week driver cards and a Gemini explanation for each week.</a:t>
            </a:r>
            <a:endParaRPr lang="en-US" sz="1200" dirty="0"/>
          </a:p>
          <a:p>
            <a:pPr marL="342900" indent="-342900">
              <a:lnSpc>
                <a:spcPts val="1700"/>
              </a:lnSpc>
              <a:spcAft>
                <a:spcPts val="700"/>
              </a:spcAft>
              <a:buSzPct val="100000"/>
              <a:buChar char="•"/>
            </a:pPr>
            <a:r>
              <a:rPr lang="en-US" sz="1200" dirty="0">
                <a:solidFill>
                  <a:srgbClr val="C8DEDF"/>
                </a:solidFill>
                <a:latin typeface="Calibri" pitchFamily="34" charset="0"/>
                <a:ea typeface="Calibri" pitchFamily="34" charset="-122"/>
                <a:cs typeface="Calibri" pitchFamily="34" charset="-120"/>
              </a:rPr>
              <a:t>The discharge score comes from the real calibrated model with real SHAP attribution. Each weekly panel applies documented clinical rules to vitals, adherence and pharmacy records, and every document records which of the two produced it.</a:t>
            </a:r>
            <a:endParaRPr lang="en-US" sz="1200" dirty="0"/>
          </a:p>
          <a:p>
            <a:pPr marL="342900" indent="-342900">
              <a:lnSpc>
                <a:spcPts val="1700"/>
              </a:lnSpc>
              <a:spcAft>
                <a:spcPts val="700"/>
              </a:spcAft>
              <a:buSzPct val="100000"/>
              <a:buChar char="•"/>
            </a:pPr>
            <a:r>
              <a:rPr lang="en-US" sz="1200" dirty="0">
                <a:solidFill>
                  <a:srgbClr val="C8DEDF"/>
                </a:solidFill>
                <a:latin typeface="Calibri" pitchFamily="34" charset="0"/>
                <a:ea typeface="Calibri" pitchFamily="34" charset="-122"/>
                <a:cs typeface="Calibri" pitchFamily="34" charset="-120"/>
              </a:rPr>
              <a:t>When a live feed arrives, it replaces one input. The endpoints, the UI and the explanations stay exactly as they are.</a:t>
            </a:r>
            <a:endParaRPr lang="en-US" sz="1200" dirty="0"/>
          </a:p>
        </p:txBody>
      </p:sp>
      <p:sp>
        <p:nvSpPr>
          <p:cNvPr id="11" name="Text 9"/>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1000" i="1" dirty="0">
                <a:solidFill>
                  <a:srgbClr val="8FB3B5"/>
                </a:solidFill>
                <a:latin typeface="Calibri" pitchFamily="34" charset="0"/>
                <a:ea typeface="Calibri" pitchFamily="34" charset="-122"/>
                <a:cs typeface="Calibri" pitchFamily="34" charset="-120"/>
              </a:rPr>
              <a:t>Scoping the requirement from measured data is what lets the monitoring surface be built once and connected later.</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CLINICAL CONTEXT</a:t>
            </a:r>
            <a:endParaRPr lang="en-US" sz="1100" dirty="0"/>
          </a:p>
        </p:txBody>
      </p:sp>
      <p:sp>
        <p:nvSpPr>
          <p:cNvPr id="3" name="Text 1"/>
          <p:cNvSpPr txBox="1"/>
          <p:nvPr/>
        </p:nvSpPr>
        <p:spPr>
          <a:xfrm>
            <a:off x="566928" y="566928"/>
            <a:ext cx="11057839" cy="658368"/>
          </a:xfrm>
          <a:prstGeom prst="rect">
            <a:avLst/>
          </a:prstGeom>
          <a:noFill/>
          <a:ln/>
        </p:spPr>
        <p:txBody>
          <a:bodyPr wrap="square" lIns="0" tIns="0" rIns="0" bIns="0" rtlCol="0" anchor="ctr"/>
          <a:lstStyle/>
          <a:p>
            <a:pPr indent="0" marL="0">
              <a:buNone/>
            </a:pPr>
            <a:r>
              <a:rPr lang="en-US" sz="3200" b="1" dirty="0">
                <a:solidFill>
                  <a:srgbClr val="16282B"/>
                </a:solidFill>
                <a:latin typeface="Cambria" pitchFamily="34" charset="0"/>
                <a:ea typeface="Cambria" pitchFamily="34" charset="-122"/>
                <a:cs typeface="Cambria" pitchFamily="34" charset="-120"/>
              </a:rPr>
              <a:t>Clinical context and the monitoring surface</a:t>
            </a:r>
            <a:endParaRPr lang="en-US" sz="3200" dirty="0"/>
          </a:p>
        </p:txBody>
      </p:sp>
      <p:sp>
        <p:nvSpPr>
          <p:cNvPr id="4" name="Shape 2"/>
          <p:cNvSpPr/>
          <p:nvPr/>
        </p:nvSpPr>
        <p:spPr>
          <a:xfrm>
            <a:off x="566928" y="1536192"/>
            <a:ext cx="5486400" cy="3931920"/>
          </a:xfrm>
          <a:prstGeom prst="roundRect">
            <a:avLst>
              <a:gd name="adj" fmla="val 1860"/>
            </a:avLst>
          </a:prstGeom>
          <a:solidFill>
            <a:srgbClr val="F1F6F5"/>
          </a:solidFill>
          <a:ln w="12700">
            <a:solidFill>
              <a:srgbClr val="F1F6F5"/>
            </a:solidFill>
            <a:prstDash val="solid"/>
          </a:ln>
        </p:spPr>
      </p:sp>
      <p:sp>
        <p:nvSpPr>
          <p:cNvPr id="5" name="Shape 3"/>
          <p:cNvSpPr/>
          <p:nvPr/>
        </p:nvSpPr>
        <p:spPr>
          <a:xfrm>
            <a:off x="859536" y="1792224"/>
            <a:ext cx="457200" cy="457200"/>
          </a:xfrm>
          <a:prstGeom prst="ellipse">
            <a:avLst/>
          </a:prstGeom>
          <a:solidFill>
            <a:srgbClr val="028090"/>
          </a:solidFill>
          <a:ln/>
        </p:spPr>
      </p:sp>
      <p:sp>
        <p:nvSpPr>
          <p:cNvPr id="6" name="Text 4"/>
          <p:cNvSpPr txBox="1"/>
          <p:nvPr/>
        </p:nvSpPr>
        <p:spPr>
          <a:xfrm>
            <a:off x="859536" y="179222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Dx</a:t>
            </a:r>
            <a:endParaRPr lang="en-US" sz="1200" dirty="0"/>
          </a:p>
        </p:txBody>
      </p:sp>
      <p:sp>
        <p:nvSpPr>
          <p:cNvPr id="7" name="Text 5"/>
          <p:cNvSpPr txBox="1"/>
          <p:nvPr/>
        </p:nvSpPr>
        <p:spPr>
          <a:xfrm>
            <a:off x="1481328" y="1819656"/>
            <a:ext cx="4206240" cy="365760"/>
          </a:xfrm>
          <a:prstGeom prst="rect">
            <a:avLst/>
          </a:prstGeom>
          <a:noFill/>
          <a:ln/>
        </p:spPr>
        <p:txBody>
          <a:bodyPr wrap="square" lIns="0" tIns="0" rIns="0" bIns="0" rtlCol="0" anchor="ctr"/>
          <a:lstStyle/>
          <a:p>
            <a:pPr indent="0" marL="0">
              <a:buNone/>
            </a:pPr>
            <a:r>
              <a:rPr lang="en-US" sz="1700" b="1" dirty="0">
                <a:solidFill>
                  <a:srgbClr val="16282B"/>
                </a:solidFill>
                <a:latin typeface="Calibri" pitchFamily="34" charset="0"/>
                <a:ea typeface="Calibri" pitchFamily="34" charset="-122"/>
                <a:cs typeface="Calibri" pitchFamily="34" charset="-120"/>
              </a:rPr>
              <a:t>Admission diagnoses</a:t>
            </a:r>
            <a:endParaRPr lang="en-US" sz="1700" dirty="0"/>
          </a:p>
        </p:txBody>
      </p:sp>
      <p:sp>
        <p:nvSpPr>
          <p:cNvPr id="8" name="Text 6"/>
          <p:cNvSpPr txBox="1"/>
          <p:nvPr/>
        </p:nvSpPr>
        <p:spPr>
          <a:xfrm>
            <a:off x="859536" y="2377440"/>
            <a:ext cx="4901184" cy="292608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16282B"/>
                </a:solidFill>
                <a:latin typeface="Calibri" pitchFamily="34" charset="0"/>
                <a:ea typeface="Calibri" pitchFamily="34" charset="-122"/>
                <a:cs typeface="Calibri" pitchFamily="34" charset="-120"/>
              </a:rPr>
              <a:t>models/mimic_diagnoses.py attaches the principal ICD diagnosis plus three secondaries, so a risk score sits next to a clinical reason.</a:t>
            </a:r>
            <a:endParaRPr lang="en-US" sz="1200" dirty="0"/>
          </a:p>
          <a:p>
            <a:pPr marL="342900" indent="-342900">
              <a:lnSpc>
                <a:spcPts val="1700"/>
              </a:lnSpc>
              <a:spcAft>
                <a:spcPts val="700"/>
              </a:spcAft>
              <a:buSzPct val="100000"/>
              <a:buChar char="•"/>
            </a:pPr>
            <a:r>
              <a:rPr lang="en-US" sz="1200" dirty="0">
                <a:solidFill>
                  <a:srgbClr val="16282B"/>
                </a:solidFill>
                <a:latin typeface="Calibri" pitchFamily="34" charset="0"/>
                <a:ea typeface="Calibri" pitchFamily="34" charset="-122"/>
                <a:cs typeface="Calibri" pitchFamily="34" charset="-120"/>
              </a:rPr>
              <a:t>Both ICD-9 and ICD-10 are keyed on the code-and-version pair, so a diagnosis is always the right one for that code set.</a:t>
            </a:r>
            <a:endParaRPr lang="en-US" sz="1200" dirty="0"/>
          </a:p>
          <a:p>
            <a:pPr marL="342900" indent="-342900">
              <a:lnSpc>
                <a:spcPts val="1700"/>
              </a:lnSpc>
              <a:spcAft>
                <a:spcPts val="700"/>
              </a:spcAft>
              <a:buSzPct val="100000"/>
              <a:buChar char="•"/>
            </a:pPr>
            <a:r>
              <a:rPr lang="en-US" sz="1200" dirty="0">
                <a:solidFill>
                  <a:srgbClr val="16282B"/>
                </a:solidFill>
                <a:latin typeface="Calibri" pitchFamily="34" charset="0"/>
                <a:ea typeface="Calibri" pitchFamily="34" charset="-122"/>
                <a:cs typeface="Calibri" pitchFamily="34" charset="-120"/>
              </a:rPr>
              <a:t>Patient identity is matched on the admission key rather than inferred from lab values, which keeps every diagnosis attributable to the correct stay.</a:t>
            </a:r>
            <a:endParaRPr lang="en-US" sz="1200" dirty="0"/>
          </a:p>
          <a:p>
            <a:pPr marL="342900" indent="-342900">
              <a:lnSpc>
                <a:spcPts val="1700"/>
              </a:lnSpc>
              <a:spcAft>
                <a:spcPts val="700"/>
              </a:spcAft>
              <a:buSzPct val="100000"/>
              <a:buChar char="•"/>
            </a:pPr>
            <a:r>
              <a:rPr lang="en-US" sz="1200" dirty="0">
                <a:solidFill>
                  <a:srgbClr val="16282B"/>
                </a:solidFill>
                <a:latin typeface="Calibri" pitchFamily="34" charset="0"/>
                <a:ea typeface="Calibri" pitchFamily="34" charset="-122"/>
                <a:cs typeface="Calibri" pitchFamily="34" charset="-120"/>
              </a:rPr>
              <a:t>Enabled by carrying the admission id through the training matrix — a one-line change in the notebook's final cell.</a:t>
            </a:r>
            <a:endParaRPr lang="en-US" sz="1200" dirty="0"/>
          </a:p>
        </p:txBody>
      </p:sp>
      <p:sp>
        <p:nvSpPr>
          <p:cNvPr id="9" name="Shape 7"/>
          <p:cNvSpPr/>
          <p:nvPr/>
        </p:nvSpPr>
        <p:spPr>
          <a:xfrm>
            <a:off x="6464808" y="1536192"/>
            <a:ext cx="5166360" cy="3931920"/>
          </a:xfrm>
          <a:prstGeom prst="roundRect">
            <a:avLst>
              <a:gd name="adj" fmla="val 1860"/>
            </a:avLst>
          </a:prstGeom>
          <a:solidFill>
            <a:srgbClr val="F1F6F5"/>
          </a:solidFill>
          <a:ln w="12700">
            <a:solidFill>
              <a:srgbClr val="F1F6F5"/>
            </a:solidFill>
            <a:prstDash val="solid"/>
          </a:ln>
        </p:spPr>
      </p:sp>
      <p:sp>
        <p:nvSpPr>
          <p:cNvPr id="10" name="Shape 8"/>
          <p:cNvSpPr/>
          <p:nvPr/>
        </p:nvSpPr>
        <p:spPr>
          <a:xfrm>
            <a:off x="6757416" y="1792224"/>
            <a:ext cx="457200" cy="457200"/>
          </a:xfrm>
          <a:prstGeom prst="ellipse">
            <a:avLst/>
          </a:prstGeom>
          <a:solidFill>
            <a:srgbClr val="00A896"/>
          </a:solidFill>
          <a:ln/>
        </p:spPr>
      </p:sp>
      <p:sp>
        <p:nvSpPr>
          <p:cNvPr id="11" name="Text 9"/>
          <p:cNvSpPr txBox="1"/>
          <p:nvPr/>
        </p:nvSpPr>
        <p:spPr>
          <a:xfrm>
            <a:off x="6757416" y="179222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Wk</a:t>
            </a:r>
            <a:endParaRPr lang="en-US" sz="1200" dirty="0"/>
          </a:p>
        </p:txBody>
      </p:sp>
      <p:sp>
        <p:nvSpPr>
          <p:cNvPr id="12" name="Text 10"/>
          <p:cNvSpPr txBox="1"/>
          <p:nvPr/>
        </p:nvSpPr>
        <p:spPr>
          <a:xfrm>
            <a:off x="7379208" y="1819656"/>
            <a:ext cx="3931920" cy="365760"/>
          </a:xfrm>
          <a:prstGeom prst="rect">
            <a:avLst/>
          </a:prstGeom>
          <a:noFill/>
          <a:ln/>
        </p:spPr>
        <p:txBody>
          <a:bodyPr wrap="square" lIns="0" tIns="0" rIns="0" bIns="0" rtlCol="0" anchor="ctr"/>
          <a:lstStyle/>
          <a:p>
            <a:pPr indent="0" marL="0">
              <a:buNone/>
            </a:pPr>
            <a:r>
              <a:rPr lang="en-US" sz="1700" b="1" dirty="0">
                <a:solidFill>
                  <a:srgbClr val="16282B"/>
                </a:solidFill>
                <a:latin typeface="Calibri" pitchFamily="34" charset="0"/>
                <a:ea typeface="Calibri" pitchFamily="34" charset="-122"/>
                <a:cs typeface="Calibri" pitchFamily="34" charset="-120"/>
              </a:rPr>
              <a:t>Weekly monitoring surface</a:t>
            </a:r>
            <a:endParaRPr lang="en-US" sz="1700" dirty="0"/>
          </a:p>
        </p:txBody>
      </p:sp>
      <p:sp>
        <p:nvSpPr>
          <p:cNvPr id="13" name="Text 11"/>
          <p:cNvSpPr txBox="1"/>
          <p:nvPr/>
        </p:nvSpPr>
        <p:spPr>
          <a:xfrm>
            <a:off x="6757416" y="2377440"/>
            <a:ext cx="4572000" cy="292608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16282B"/>
                </a:solidFill>
                <a:latin typeface="Calibri" pitchFamily="34" charset="0"/>
                <a:ea typeface="Calibri" pitchFamily="34" charset="-122"/>
                <a:cs typeface="Calibri" pitchFamily="34" charset="-120"/>
              </a:rPr>
              <a:t>Real in every weekly panel: the calibrated model doing the scoring, the SHAP attribution behind each driver, and the patient's discharge feature vector.</a:t>
            </a:r>
            <a:endParaRPr lang="en-US" sz="1200" dirty="0"/>
          </a:p>
          <a:p>
            <a:pPr marL="342900" indent="-342900">
              <a:lnSpc>
                <a:spcPts val="1700"/>
              </a:lnSpc>
              <a:spcAft>
                <a:spcPts val="700"/>
              </a:spcAft>
              <a:buSzPct val="100000"/>
              <a:buChar char="•"/>
            </a:pPr>
            <a:r>
              <a:rPr lang="en-US" sz="1200" dirty="0">
                <a:solidFill>
                  <a:srgbClr val="16282B"/>
                </a:solidFill>
                <a:latin typeface="Calibri" pitchFamily="34" charset="0"/>
                <a:ea typeface="Calibri" pitchFamily="34" charset="-122"/>
                <a:cs typeface="Calibri" pitchFamily="34" charset="-120"/>
              </a:rPr>
              <a:t>Trajectories are drawn from the model's own calibrated probability, so the cohort reproduces the real event rate and risk rises ahead of a return.</a:t>
            </a:r>
            <a:endParaRPr lang="en-US" sz="1200" dirty="0"/>
          </a:p>
          <a:p>
            <a:pPr marL="342900" indent="-342900">
              <a:lnSpc>
                <a:spcPts val="1700"/>
              </a:lnSpc>
              <a:spcAft>
                <a:spcPts val="700"/>
              </a:spcAft>
              <a:buSzPct val="100000"/>
              <a:buChar char="•"/>
            </a:pPr>
            <a:r>
              <a:rPr lang="en-US" sz="1200" dirty="0">
                <a:solidFill>
                  <a:srgbClr val="16282B"/>
                </a:solidFill>
                <a:latin typeface="Calibri" pitchFamily="34" charset="0"/>
                <a:ea typeface="Calibri" pitchFamily="34" charset="-122"/>
                <a:cs typeface="Calibri" pitchFamily="34" charset="-120"/>
              </a:rPr>
              <a:t>Every document is labelled with its source, so simulated inputs are always distinguishable from live ones.</a:t>
            </a:r>
            <a:endParaRPr lang="en-US" sz="1200" dirty="0"/>
          </a:p>
          <a:p>
            <a:pPr marL="342900" indent="-342900">
              <a:lnSpc>
                <a:spcPts val="1700"/>
              </a:lnSpc>
              <a:spcAft>
                <a:spcPts val="700"/>
              </a:spcAft>
              <a:buSzPct val="100000"/>
              <a:buChar char="•"/>
            </a:pPr>
            <a:r>
              <a:rPr lang="en-US" sz="1200" dirty="0">
                <a:solidFill>
                  <a:srgbClr val="16282B"/>
                </a:solidFill>
                <a:latin typeface="Calibri" pitchFamily="34" charset="0"/>
                <a:ea typeface="Calibri" pitchFamily="34" charset="-122"/>
                <a:cs typeface="Calibri" pitchFamily="34" charset="-120"/>
              </a:rPr>
              <a:t>The full monitoring experience is demonstrable now, and connects to a live feed without UI or API changes.</a:t>
            </a:r>
            <a:endParaRPr lang="en-US" sz="1200" dirty="0"/>
          </a:p>
        </p:txBody>
      </p:sp>
      <p:sp>
        <p:nvSpPr>
          <p:cNvPr id="14" name="Text 12"/>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1000" i="1" dirty="0">
                <a:solidFill>
                  <a:srgbClr val="5E7175"/>
                </a:solidFill>
                <a:latin typeface="Calibri" pitchFamily="34" charset="0"/>
                <a:ea typeface="Calibri" pitchFamily="34" charset="-122"/>
                <a:cs typeface="Calibri" pitchFamily="34" charset="-120"/>
              </a:rPr>
              <a:t>Shipped alongside: refreshed model artefacts and consistency work across the worklist and trend panel.</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BASELINE VS CURRENT</a:t>
            </a:r>
            <a:endParaRPr lang="en-US" sz="1100" dirty="0"/>
          </a:p>
        </p:txBody>
      </p:sp>
      <p:sp>
        <p:nvSpPr>
          <p:cNvPr id="3" name="Text 1"/>
          <p:cNvSpPr txBox="1"/>
          <p:nvPr/>
        </p:nvSpPr>
        <p:spPr>
          <a:xfrm>
            <a:off x="566928" y="566928"/>
            <a:ext cx="11057839" cy="658368"/>
          </a:xfrm>
          <a:prstGeom prst="rect">
            <a:avLst/>
          </a:prstGeom>
          <a:noFill/>
          <a:ln/>
        </p:spPr>
        <p:txBody>
          <a:bodyPr wrap="square" lIns="0" tIns="0" rIns="0" bIns="0" rtlCol="0" anchor="ctr"/>
          <a:lstStyle/>
          <a:p>
            <a:pPr indent="0" marL="0">
              <a:buNone/>
            </a:pPr>
            <a:r>
              <a:rPr lang="en-US" sz="3200" b="1" dirty="0">
                <a:solidFill>
                  <a:srgbClr val="16282B"/>
                </a:solidFill>
                <a:latin typeface="Cambria" pitchFamily="34" charset="0"/>
                <a:ea typeface="Cambria" pitchFamily="34" charset="-122"/>
                <a:cs typeface="Cambria" pitchFamily="34" charset="-120"/>
              </a:rPr>
              <a:t>How far the model has come</a:t>
            </a:r>
            <a:endParaRPr lang="en-US" sz="3200" dirty="0"/>
          </a:p>
        </p:txBody>
      </p:sp>
      <p:sp>
        <p:nvSpPr>
          <p:cNvPr id="4" name="Text 2"/>
          <p:cNvSpPr txBox="1"/>
          <p:nvPr/>
        </p:nvSpPr>
        <p:spPr>
          <a:xfrm>
            <a:off x="795528" y="1463040"/>
            <a:ext cx="2743200" cy="256032"/>
          </a:xfrm>
          <a:prstGeom prst="rect">
            <a:avLst/>
          </a:prstGeom>
          <a:noFill/>
          <a:ln/>
        </p:spPr>
        <p:txBody>
          <a:bodyPr wrap="square" lIns="0" tIns="0" rIns="0" bIns="0" rtlCol="0" anchor="ctr"/>
          <a:lstStyle/>
          <a:p>
            <a:pPr indent="0" marL="0">
              <a:buNone/>
            </a:pPr>
            <a:r>
              <a:rPr lang="en-US" sz="1100" b="1" spc="100" kern="0" dirty="0">
                <a:solidFill>
                  <a:srgbClr val="5E7175"/>
                </a:solidFill>
                <a:latin typeface="Calibri" pitchFamily="34" charset="0"/>
                <a:ea typeface="Calibri" pitchFamily="34" charset="-122"/>
                <a:cs typeface="Calibri" pitchFamily="34" charset="-120"/>
              </a:rPr>
              <a:t>Dimension</a:t>
            </a:r>
            <a:endParaRPr lang="en-US" sz="1100" dirty="0"/>
          </a:p>
        </p:txBody>
      </p:sp>
      <p:sp>
        <p:nvSpPr>
          <p:cNvPr id="5" name="Text 3"/>
          <p:cNvSpPr txBox="1"/>
          <p:nvPr/>
        </p:nvSpPr>
        <p:spPr>
          <a:xfrm>
            <a:off x="3767328" y="1463040"/>
            <a:ext cx="4023360" cy="256032"/>
          </a:xfrm>
          <a:prstGeom prst="rect">
            <a:avLst/>
          </a:prstGeom>
          <a:noFill/>
          <a:ln/>
        </p:spPr>
        <p:txBody>
          <a:bodyPr wrap="square" lIns="0" tIns="0" rIns="0" bIns="0" rtlCol="0" anchor="ctr"/>
          <a:lstStyle/>
          <a:p>
            <a:pPr indent="0" marL="0">
              <a:buNone/>
            </a:pPr>
            <a:r>
              <a:rPr lang="en-US" sz="1100" b="1" spc="100" kern="0" dirty="0">
                <a:solidFill>
                  <a:srgbClr val="B85042"/>
                </a:solidFill>
                <a:latin typeface="Calibri" pitchFamily="34" charset="0"/>
                <a:ea typeface="Calibri" pitchFamily="34" charset="-122"/>
                <a:cs typeface="Calibri" pitchFamily="34" charset="-120"/>
              </a:rPr>
              <a:t>BASELINE — UCI DECISION TREE</a:t>
            </a:r>
            <a:endParaRPr lang="en-US" sz="1100" dirty="0"/>
          </a:p>
        </p:txBody>
      </p:sp>
      <p:sp>
        <p:nvSpPr>
          <p:cNvPr id="6" name="Text 4"/>
          <p:cNvSpPr txBox="1"/>
          <p:nvPr/>
        </p:nvSpPr>
        <p:spPr>
          <a:xfrm>
            <a:off x="7973568" y="1463040"/>
            <a:ext cx="3657600" cy="256032"/>
          </a:xfrm>
          <a:prstGeom prst="rect">
            <a:avLst/>
          </a:prstGeom>
          <a:noFill/>
          <a:ln/>
        </p:spPr>
        <p:txBody>
          <a:bodyPr wrap="square" lIns="0" tIns="0" rIns="0" bIns="0" rtlCol="0" anchor="ctr"/>
          <a:lstStyle/>
          <a:p>
            <a:pPr indent="0" marL="0">
              <a:buNone/>
            </a:pPr>
            <a:r>
              <a:rPr lang="en-US" sz="1100" b="1" spc="100" kern="0" dirty="0">
                <a:solidFill>
                  <a:srgbClr val="028090"/>
                </a:solidFill>
                <a:latin typeface="Calibri" pitchFamily="34" charset="0"/>
                <a:ea typeface="Calibri" pitchFamily="34" charset="-122"/>
                <a:cs typeface="Calibri" pitchFamily="34" charset="-120"/>
              </a:rPr>
              <a:t>CURRENT — MIMIC HGB</a:t>
            </a:r>
            <a:endParaRPr lang="en-US" sz="1100" dirty="0"/>
          </a:p>
        </p:txBody>
      </p:sp>
      <p:sp>
        <p:nvSpPr>
          <p:cNvPr id="7" name="Shape 5"/>
          <p:cNvSpPr/>
          <p:nvPr/>
        </p:nvSpPr>
        <p:spPr>
          <a:xfrm>
            <a:off x="566928" y="1755648"/>
            <a:ext cx="11057839" cy="384048"/>
          </a:xfrm>
          <a:prstGeom prst="roundRect">
            <a:avLst>
              <a:gd name="adj" fmla="val 19048"/>
            </a:avLst>
          </a:prstGeom>
          <a:solidFill>
            <a:srgbClr val="F1F6F5"/>
          </a:solidFill>
          <a:ln w="12700">
            <a:solidFill>
              <a:srgbClr val="F1F6F5"/>
            </a:solidFill>
            <a:prstDash val="solid"/>
          </a:ln>
        </p:spPr>
      </p:sp>
      <p:sp>
        <p:nvSpPr>
          <p:cNvPr id="8" name="Text 6"/>
          <p:cNvSpPr txBox="1"/>
          <p:nvPr/>
        </p:nvSpPr>
        <p:spPr>
          <a:xfrm>
            <a:off x="795528" y="1819656"/>
            <a:ext cx="2834640" cy="256032"/>
          </a:xfrm>
          <a:prstGeom prst="rect">
            <a:avLst/>
          </a:prstGeom>
          <a:noFill/>
          <a:ln/>
        </p:spPr>
        <p:txBody>
          <a:bodyPr wrap="square" lIns="0" tIns="0" rIns="0" bIns="0" rtlCol="0" anchor="ctr"/>
          <a:lstStyle/>
          <a:p>
            <a:pPr indent="0" marL="0">
              <a:buNone/>
            </a:pPr>
            <a:r>
              <a:rPr lang="en-US" sz="1200" b="1" dirty="0">
                <a:solidFill>
                  <a:srgbClr val="16282B"/>
                </a:solidFill>
                <a:latin typeface="Calibri" pitchFamily="34" charset="0"/>
                <a:ea typeface="Calibri" pitchFamily="34" charset="-122"/>
                <a:cs typeface="Calibri" pitchFamily="34" charset="-120"/>
              </a:rPr>
              <a:t>Dataset</a:t>
            </a:r>
            <a:endParaRPr lang="en-US" sz="1200" dirty="0"/>
          </a:p>
        </p:txBody>
      </p:sp>
      <p:sp>
        <p:nvSpPr>
          <p:cNvPr id="9" name="Text 7"/>
          <p:cNvSpPr txBox="1"/>
          <p:nvPr/>
        </p:nvSpPr>
        <p:spPr>
          <a:xfrm>
            <a:off x="3767328" y="1819656"/>
            <a:ext cx="4114800" cy="256032"/>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UCI Diabetes — 101,766 encounters</a:t>
            </a:r>
            <a:endParaRPr lang="en-US" sz="1200" dirty="0"/>
          </a:p>
        </p:txBody>
      </p:sp>
      <p:sp>
        <p:nvSpPr>
          <p:cNvPr id="10" name="Text 8"/>
          <p:cNvSpPr txBox="1"/>
          <p:nvPr/>
        </p:nvSpPr>
        <p:spPr>
          <a:xfrm>
            <a:off x="7973568" y="1819656"/>
            <a:ext cx="3657600" cy="256032"/>
          </a:xfrm>
          <a:prstGeom prst="rect">
            <a:avLst/>
          </a:prstGeom>
          <a:noFill/>
          <a:ln/>
        </p:spPr>
        <p:txBody>
          <a:bodyPr wrap="square" lIns="0" tIns="0" rIns="0" bIns="0" rtlCol="0" anchor="ctr"/>
          <a:lstStyle/>
          <a:p>
            <a:pPr indent="0" marL="0">
              <a:buNone/>
            </a:pPr>
            <a:r>
              <a:rPr lang="en-US" sz="1200" dirty="0">
                <a:solidFill>
                  <a:srgbClr val="16282B"/>
                </a:solidFill>
                <a:latin typeface="Calibri" pitchFamily="34" charset="0"/>
                <a:ea typeface="Calibri" pitchFamily="34" charset="-122"/>
                <a:cs typeface="Calibri" pitchFamily="34" charset="-120"/>
              </a:rPr>
              <a:t>MIMIC-IV — 296,760 stays / 148,669 patients</a:t>
            </a:r>
            <a:endParaRPr lang="en-US" sz="1200" dirty="0"/>
          </a:p>
        </p:txBody>
      </p:sp>
      <p:sp>
        <p:nvSpPr>
          <p:cNvPr id="11" name="Shape 9"/>
          <p:cNvSpPr/>
          <p:nvPr/>
        </p:nvSpPr>
        <p:spPr>
          <a:xfrm>
            <a:off x="566928" y="2176272"/>
            <a:ext cx="11057839" cy="384048"/>
          </a:xfrm>
          <a:prstGeom prst="roundRect">
            <a:avLst>
              <a:gd name="adj" fmla="val 19048"/>
            </a:avLst>
          </a:prstGeom>
          <a:solidFill>
            <a:srgbClr val="FFFFFF"/>
          </a:solidFill>
          <a:ln w="12700">
            <a:solidFill>
              <a:srgbClr val="FFFFFF"/>
            </a:solidFill>
            <a:prstDash val="solid"/>
          </a:ln>
        </p:spPr>
      </p:sp>
      <p:sp>
        <p:nvSpPr>
          <p:cNvPr id="12" name="Text 10"/>
          <p:cNvSpPr txBox="1"/>
          <p:nvPr/>
        </p:nvSpPr>
        <p:spPr>
          <a:xfrm>
            <a:off x="795528" y="2240280"/>
            <a:ext cx="2834640" cy="256032"/>
          </a:xfrm>
          <a:prstGeom prst="rect">
            <a:avLst/>
          </a:prstGeom>
          <a:noFill/>
          <a:ln/>
        </p:spPr>
        <p:txBody>
          <a:bodyPr wrap="square" lIns="0" tIns="0" rIns="0" bIns="0" rtlCol="0" anchor="ctr"/>
          <a:lstStyle/>
          <a:p>
            <a:pPr indent="0" marL="0">
              <a:buNone/>
            </a:pPr>
            <a:r>
              <a:rPr lang="en-US" sz="1200" b="1" dirty="0">
                <a:solidFill>
                  <a:srgbClr val="16282B"/>
                </a:solidFill>
                <a:latin typeface="Calibri" pitchFamily="34" charset="0"/>
                <a:ea typeface="Calibri" pitchFamily="34" charset="-122"/>
                <a:cs typeface="Calibri" pitchFamily="34" charset="-120"/>
              </a:rPr>
              <a:t>Population</a:t>
            </a:r>
            <a:endParaRPr lang="en-US" sz="1200" dirty="0"/>
          </a:p>
        </p:txBody>
      </p:sp>
      <p:sp>
        <p:nvSpPr>
          <p:cNvPr id="13" name="Text 11"/>
          <p:cNvSpPr txBox="1"/>
          <p:nvPr/>
        </p:nvSpPr>
        <p:spPr>
          <a:xfrm>
            <a:off x="3767328" y="2240280"/>
            <a:ext cx="4114800" cy="256032"/>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Diabetic inpatients, single encounter</a:t>
            </a:r>
            <a:endParaRPr lang="en-US" sz="1200" dirty="0"/>
          </a:p>
        </p:txBody>
      </p:sp>
      <p:sp>
        <p:nvSpPr>
          <p:cNvPr id="14" name="Text 12"/>
          <p:cNvSpPr txBox="1"/>
          <p:nvPr/>
        </p:nvSpPr>
        <p:spPr>
          <a:xfrm>
            <a:off x="7973568" y="2240280"/>
            <a:ext cx="3657600" cy="256032"/>
          </a:xfrm>
          <a:prstGeom prst="rect">
            <a:avLst/>
          </a:prstGeom>
          <a:noFill/>
          <a:ln/>
        </p:spPr>
        <p:txBody>
          <a:bodyPr wrap="square" lIns="0" tIns="0" rIns="0" bIns="0" rtlCol="0" anchor="ctr"/>
          <a:lstStyle/>
          <a:p>
            <a:pPr indent="0" marL="0">
              <a:buNone/>
            </a:pPr>
            <a:r>
              <a:rPr lang="en-US" sz="1200" dirty="0">
                <a:solidFill>
                  <a:srgbClr val="16282B"/>
                </a:solidFill>
                <a:latin typeface="Calibri" pitchFamily="34" charset="0"/>
                <a:ea typeface="Calibri" pitchFamily="34" charset="-122"/>
                <a:cs typeface="Calibri" pitchFamily="34" charset="-120"/>
              </a:rPr>
              <a:t>All-cause adult inpatient, longitudinal</a:t>
            </a:r>
            <a:endParaRPr lang="en-US" sz="1200" dirty="0"/>
          </a:p>
        </p:txBody>
      </p:sp>
      <p:sp>
        <p:nvSpPr>
          <p:cNvPr id="15" name="Shape 13"/>
          <p:cNvSpPr/>
          <p:nvPr/>
        </p:nvSpPr>
        <p:spPr>
          <a:xfrm>
            <a:off x="566928" y="2596896"/>
            <a:ext cx="11057839" cy="384048"/>
          </a:xfrm>
          <a:prstGeom prst="roundRect">
            <a:avLst>
              <a:gd name="adj" fmla="val 19048"/>
            </a:avLst>
          </a:prstGeom>
          <a:solidFill>
            <a:srgbClr val="F1F6F5"/>
          </a:solidFill>
          <a:ln w="12700">
            <a:solidFill>
              <a:srgbClr val="F1F6F5"/>
            </a:solidFill>
            <a:prstDash val="solid"/>
          </a:ln>
        </p:spPr>
      </p:sp>
      <p:sp>
        <p:nvSpPr>
          <p:cNvPr id="16" name="Text 14"/>
          <p:cNvSpPr txBox="1"/>
          <p:nvPr/>
        </p:nvSpPr>
        <p:spPr>
          <a:xfrm>
            <a:off x="795528" y="2660904"/>
            <a:ext cx="2834640" cy="256032"/>
          </a:xfrm>
          <a:prstGeom prst="rect">
            <a:avLst/>
          </a:prstGeom>
          <a:noFill/>
          <a:ln/>
        </p:spPr>
        <p:txBody>
          <a:bodyPr wrap="square" lIns="0" tIns="0" rIns="0" bIns="0" rtlCol="0" anchor="ctr"/>
          <a:lstStyle/>
          <a:p>
            <a:pPr indent="0" marL="0">
              <a:buNone/>
            </a:pPr>
            <a:r>
              <a:rPr lang="en-US" sz="1200" b="1" dirty="0">
                <a:solidFill>
                  <a:srgbClr val="16282B"/>
                </a:solidFill>
                <a:latin typeface="Calibri" pitchFamily="34" charset="0"/>
                <a:ea typeface="Calibri" pitchFamily="34" charset="-122"/>
                <a:cs typeface="Calibri" pitchFamily="34" charset="-120"/>
              </a:rPr>
              <a:t>Features</a:t>
            </a:r>
            <a:endParaRPr lang="en-US" sz="1200" dirty="0"/>
          </a:p>
        </p:txBody>
      </p:sp>
      <p:sp>
        <p:nvSpPr>
          <p:cNvPr id="17" name="Text 15"/>
          <p:cNvSpPr txBox="1"/>
          <p:nvPr/>
        </p:nvSpPr>
        <p:spPr>
          <a:xfrm>
            <a:off x="3767328" y="2660904"/>
            <a:ext cx="4114800" cy="256032"/>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~25–34</a:t>
            </a:r>
            <a:endParaRPr lang="en-US" sz="1200" dirty="0"/>
          </a:p>
        </p:txBody>
      </p:sp>
      <p:sp>
        <p:nvSpPr>
          <p:cNvPr id="18" name="Text 16"/>
          <p:cNvSpPr txBox="1"/>
          <p:nvPr/>
        </p:nvSpPr>
        <p:spPr>
          <a:xfrm>
            <a:off x="7973568" y="2660904"/>
            <a:ext cx="3657600" cy="256032"/>
          </a:xfrm>
          <a:prstGeom prst="rect">
            <a:avLst/>
          </a:prstGeom>
          <a:noFill/>
          <a:ln/>
        </p:spPr>
        <p:txBody>
          <a:bodyPr wrap="square" lIns="0" tIns="0" rIns="0" bIns="0" rtlCol="0" anchor="ctr"/>
          <a:lstStyle/>
          <a:p>
            <a:pPr indent="0" marL="0">
              <a:buNone/>
            </a:pPr>
            <a:r>
              <a:rPr lang="en-US" sz="1200" dirty="0">
                <a:solidFill>
                  <a:srgbClr val="16282B"/>
                </a:solidFill>
                <a:latin typeface="Calibri" pitchFamily="34" charset="0"/>
                <a:ea typeface="Calibri" pitchFamily="34" charset="-122"/>
                <a:cs typeface="Calibri" pitchFamily="34" charset="-120"/>
              </a:rPr>
              <a:t>94</a:t>
            </a:r>
            <a:endParaRPr lang="en-US" sz="1200" dirty="0"/>
          </a:p>
        </p:txBody>
      </p:sp>
      <p:sp>
        <p:nvSpPr>
          <p:cNvPr id="19" name="Shape 17"/>
          <p:cNvSpPr/>
          <p:nvPr/>
        </p:nvSpPr>
        <p:spPr>
          <a:xfrm>
            <a:off x="566928" y="3017520"/>
            <a:ext cx="11057839" cy="384048"/>
          </a:xfrm>
          <a:prstGeom prst="roundRect">
            <a:avLst>
              <a:gd name="adj" fmla="val 19048"/>
            </a:avLst>
          </a:prstGeom>
          <a:solidFill>
            <a:srgbClr val="FFFFFF"/>
          </a:solidFill>
          <a:ln w="12700">
            <a:solidFill>
              <a:srgbClr val="FFFFFF"/>
            </a:solidFill>
            <a:prstDash val="solid"/>
          </a:ln>
        </p:spPr>
      </p:sp>
      <p:sp>
        <p:nvSpPr>
          <p:cNvPr id="20" name="Text 18"/>
          <p:cNvSpPr txBox="1"/>
          <p:nvPr/>
        </p:nvSpPr>
        <p:spPr>
          <a:xfrm>
            <a:off x="795528" y="3081528"/>
            <a:ext cx="2834640" cy="256032"/>
          </a:xfrm>
          <a:prstGeom prst="rect">
            <a:avLst/>
          </a:prstGeom>
          <a:noFill/>
          <a:ln/>
        </p:spPr>
        <p:txBody>
          <a:bodyPr wrap="square" lIns="0" tIns="0" rIns="0" bIns="0" rtlCol="0" anchor="ctr"/>
          <a:lstStyle/>
          <a:p>
            <a:pPr indent="0" marL="0">
              <a:buNone/>
            </a:pPr>
            <a:r>
              <a:rPr lang="en-US" sz="1200" b="1" dirty="0">
                <a:solidFill>
                  <a:srgbClr val="16282B"/>
                </a:solidFill>
                <a:latin typeface="Calibri" pitchFamily="34" charset="0"/>
                <a:ea typeface="Calibri" pitchFamily="34" charset="-122"/>
                <a:cs typeface="Calibri" pitchFamily="34" charset="-120"/>
              </a:rPr>
              <a:t>Algorithm</a:t>
            </a:r>
            <a:endParaRPr lang="en-US" sz="1200" dirty="0"/>
          </a:p>
        </p:txBody>
      </p:sp>
      <p:sp>
        <p:nvSpPr>
          <p:cNvPr id="21" name="Text 19"/>
          <p:cNvSpPr txBox="1"/>
          <p:nvPr/>
        </p:nvSpPr>
        <p:spPr>
          <a:xfrm>
            <a:off x="3767328" y="3081528"/>
            <a:ext cx="4114800" cy="256032"/>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DecisionTree, balanced + importance</a:t>
            </a:r>
            <a:endParaRPr lang="en-US" sz="1200" dirty="0"/>
          </a:p>
        </p:txBody>
      </p:sp>
      <p:sp>
        <p:nvSpPr>
          <p:cNvPr id="22" name="Text 20"/>
          <p:cNvSpPr txBox="1"/>
          <p:nvPr/>
        </p:nvSpPr>
        <p:spPr>
          <a:xfrm>
            <a:off x="7973568" y="3081528"/>
            <a:ext cx="3657600" cy="256032"/>
          </a:xfrm>
          <a:prstGeom prst="rect">
            <a:avLst/>
          </a:prstGeom>
          <a:noFill/>
          <a:ln/>
        </p:spPr>
        <p:txBody>
          <a:bodyPr wrap="square" lIns="0" tIns="0" rIns="0" bIns="0" rtlCol="0" anchor="ctr"/>
          <a:lstStyle/>
          <a:p>
            <a:pPr indent="0" marL="0">
              <a:buNone/>
            </a:pPr>
            <a:r>
              <a:rPr lang="en-US" sz="1200" dirty="0">
                <a:solidFill>
                  <a:srgbClr val="16282B"/>
                </a:solidFill>
                <a:latin typeface="Calibri" pitchFamily="34" charset="0"/>
                <a:ea typeface="Calibri" pitchFamily="34" charset="-122"/>
                <a:cs typeface="Calibri" pitchFamily="34" charset="-120"/>
              </a:rPr>
              <a:t>HistGradientBoosting + isotonic calibration</a:t>
            </a:r>
            <a:endParaRPr lang="en-US" sz="1200" dirty="0"/>
          </a:p>
        </p:txBody>
      </p:sp>
      <p:sp>
        <p:nvSpPr>
          <p:cNvPr id="23" name="Shape 21"/>
          <p:cNvSpPr/>
          <p:nvPr/>
        </p:nvSpPr>
        <p:spPr>
          <a:xfrm>
            <a:off x="566928" y="3438144"/>
            <a:ext cx="11057839" cy="384048"/>
          </a:xfrm>
          <a:prstGeom prst="roundRect">
            <a:avLst>
              <a:gd name="adj" fmla="val 19048"/>
            </a:avLst>
          </a:prstGeom>
          <a:solidFill>
            <a:srgbClr val="F1F6F5"/>
          </a:solidFill>
          <a:ln w="12700">
            <a:solidFill>
              <a:srgbClr val="F1F6F5"/>
            </a:solidFill>
            <a:prstDash val="solid"/>
          </a:ln>
        </p:spPr>
      </p:sp>
      <p:sp>
        <p:nvSpPr>
          <p:cNvPr id="24" name="Text 22"/>
          <p:cNvSpPr txBox="1"/>
          <p:nvPr/>
        </p:nvSpPr>
        <p:spPr>
          <a:xfrm>
            <a:off x="795528" y="3502152"/>
            <a:ext cx="2834640" cy="256032"/>
          </a:xfrm>
          <a:prstGeom prst="rect">
            <a:avLst/>
          </a:prstGeom>
          <a:noFill/>
          <a:ln/>
        </p:spPr>
        <p:txBody>
          <a:bodyPr wrap="square" lIns="0" tIns="0" rIns="0" bIns="0" rtlCol="0" anchor="ctr"/>
          <a:lstStyle/>
          <a:p>
            <a:pPr indent="0" marL="0">
              <a:buNone/>
            </a:pPr>
            <a:r>
              <a:rPr lang="en-US" sz="1200" b="1" dirty="0">
                <a:solidFill>
                  <a:srgbClr val="16282B"/>
                </a:solidFill>
                <a:latin typeface="Calibri" pitchFamily="34" charset="0"/>
                <a:ea typeface="Calibri" pitchFamily="34" charset="-122"/>
                <a:cs typeface="Calibri" pitchFamily="34" charset="-120"/>
              </a:rPr>
              <a:t>AUC-ROC</a:t>
            </a:r>
            <a:endParaRPr lang="en-US" sz="1200" dirty="0"/>
          </a:p>
        </p:txBody>
      </p:sp>
      <p:sp>
        <p:nvSpPr>
          <p:cNvPr id="25" name="Text 23"/>
          <p:cNvSpPr txBox="1"/>
          <p:nvPr/>
        </p:nvSpPr>
        <p:spPr>
          <a:xfrm>
            <a:off x="3767328" y="3502152"/>
            <a:ext cx="4114800" cy="256032"/>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0.706</a:t>
            </a:r>
            <a:endParaRPr lang="en-US" sz="1200" dirty="0"/>
          </a:p>
        </p:txBody>
      </p:sp>
      <p:sp>
        <p:nvSpPr>
          <p:cNvPr id="26" name="Text 24"/>
          <p:cNvSpPr txBox="1"/>
          <p:nvPr/>
        </p:nvSpPr>
        <p:spPr>
          <a:xfrm>
            <a:off x="7973568" y="3502152"/>
            <a:ext cx="3657600" cy="256032"/>
          </a:xfrm>
          <a:prstGeom prst="rect">
            <a:avLst/>
          </a:prstGeom>
          <a:noFill/>
          <a:ln/>
        </p:spPr>
        <p:txBody>
          <a:bodyPr wrap="square" lIns="0" tIns="0" rIns="0" bIns="0" rtlCol="0" anchor="ctr"/>
          <a:lstStyle/>
          <a:p>
            <a:pPr indent="0" marL="0">
              <a:buNone/>
            </a:pPr>
            <a:r>
              <a:rPr lang="en-US" sz="1200" dirty="0">
                <a:solidFill>
                  <a:srgbClr val="16282B"/>
                </a:solidFill>
                <a:latin typeface="Calibri" pitchFamily="34" charset="0"/>
                <a:ea typeface="Calibri" pitchFamily="34" charset="-122"/>
                <a:cs typeface="Calibri" pitchFamily="34" charset="-120"/>
              </a:rPr>
              <a:t>0.723</a:t>
            </a:r>
            <a:endParaRPr lang="en-US" sz="1200" dirty="0"/>
          </a:p>
        </p:txBody>
      </p:sp>
      <p:sp>
        <p:nvSpPr>
          <p:cNvPr id="27" name="Shape 25"/>
          <p:cNvSpPr/>
          <p:nvPr/>
        </p:nvSpPr>
        <p:spPr>
          <a:xfrm>
            <a:off x="566928" y="3858768"/>
            <a:ext cx="11057839" cy="384048"/>
          </a:xfrm>
          <a:prstGeom prst="roundRect">
            <a:avLst>
              <a:gd name="adj" fmla="val 19048"/>
            </a:avLst>
          </a:prstGeom>
          <a:solidFill>
            <a:srgbClr val="FFFFFF"/>
          </a:solidFill>
          <a:ln w="12700">
            <a:solidFill>
              <a:srgbClr val="FFFFFF"/>
            </a:solidFill>
            <a:prstDash val="solid"/>
          </a:ln>
        </p:spPr>
      </p:sp>
      <p:sp>
        <p:nvSpPr>
          <p:cNvPr id="28" name="Text 26"/>
          <p:cNvSpPr txBox="1"/>
          <p:nvPr/>
        </p:nvSpPr>
        <p:spPr>
          <a:xfrm>
            <a:off x="795528" y="3922776"/>
            <a:ext cx="2834640" cy="256032"/>
          </a:xfrm>
          <a:prstGeom prst="rect">
            <a:avLst/>
          </a:prstGeom>
          <a:noFill/>
          <a:ln/>
        </p:spPr>
        <p:txBody>
          <a:bodyPr wrap="square" lIns="0" tIns="0" rIns="0" bIns="0" rtlCol="0" anchor="ctr"/>
          <a:lstStyle/>
          <a:p>
            <a:pPr indent="0" marL="0">
              <a:buNone/>
            </a:pPr>
            <a:r>
              <a:rPr lang="en-US" sz="1200" b="1" dirty="0">
                <a:solidFill>
                  <a:srgbClr val="16282B"/>
                </a:solidFill>
                <a:latin typeface="Calibri" pitchFamily="34" charset="0"/>
                <a:ea typeface="Calibri" pitchFamily="34" charset="-122"/>
                <a:cs typeface="Calibri" pitchFamily="34" charset="-120"/>
              </a:rPr>
              <a:t>AUC-PR / Brier</a:t>
            </a:r>
            <a:endParaRPr lang="en-US" sz="1200" dirty="0"/>
          </a:p>
        </p:txBody>
      </p:sp>
      <p:sp>
        <p:nvSpPr>
          <p:cNvPr id="29" name="Text 27"/>
          <p:cNvSpPr txBox="1"/>
          <p:nvPr/>
        </p:nvSpPr>
        <p:spPr>
          <a:xfrm>
            <a:off x="3767328" y="3922776"/>
            <a:ext cx="4114800" cy="256032"/>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not reported</a:t>
            </a:r>
            <a:endParaRPr lang="en-US" sz="1200" dirty="0"/>
          </a:p>
        </p:txBody>
      </p:sp>
      <p:sp>
        <p:nvSpPr>
          <p:cNvPr id="30" name="Text 28"/>
          <p:cNvSpPr txBox="1"/>
          <p:nvPr/>
        </p:nvSpPr>
        <p:spPr>
          <a:xfrm>
            <a:off x="7973568" y="3922776"/>
            <a:ext cx="3657600" cy="256032"/>
          </a:xfrm>
          <a:prstGeom prst="rect">
            <a:avLst/>
          </a:prstGeom>
          <a:noFill/>
          <a:ln/>
        </p:spPr>
        <p:txBody>
          <a:bodyPr wrap="square" lIns="0" tIns="0" rIns="0" bIns="0" rtlCol="0" anchor="ctr"/>
          <a:lstStyle/>
          <a:p>
            <a:pPr indent="0" marL="0">
              <a:buNone/>
            </a:pPr>
            <a:r>
              <a:rPr lang="en-US" sz="1200" dirty="0">
                <a:solidFill>
                  <a:srgbClr val="16282B"/>
                </a:solidFill>
                <a:latin typeface="Calibri" pitchFamily="34" charset="0"/>
                <a:ea typeface="Calibri" pitchFamily="34" charset="-122"/>
                <a:cs typeface="Calibri" pitchFamily="34" charset="-120"/>
              </a:rPr>
              <a:t>0.392 / 0.140</a:t>
            </a:r>
            <a:endParaRPr lang="en-US" sz="1200" dirty="0"/>
          </a:p>
        </p:txBody>
      </p:sp>
      <p:sp>
        <p:nvSpPr>
          <p:cNvPr id="31" name="Shape 29"/>
          <p:cNvSpPr/>
          <p:nvPr/>
        </p:nvSpPr>
        <p:spPr>
          <a:xfrm>
            <a:off x="566928" y="4279392"/>
            <a:ext cx="11057839" cy="384048"/>
          </a:xfrm>
          <a:prstGeom prst="roundRect">
            <a:avLst>
              <a:gd name="adj" fmla="val 19048"/>
            </a:avLst>
          </a:prstGeom>
          <a:solidFill>
            <a:srgbClr val="F1F6F5"/>
          </a:solidFill>
          <a:ln w="12700">
            <a:solidFill>
              <a:srgbClr val="F1F6F5"/>
            </a:solidFill>
            <a:prstDash val="solid"/>
          </a:ln>
        </p:spPr>
      </p:sp>
      <p:sp>
        <p:nvSpPr>
          <p:cNvPr id="32" name="Text 30"/>
          <p:cNvSpPr txBox="1"/>
          <p:nvPr/>
        </p:nvSpPr>
        <p:spPr>
          <a:xfrm>
            <a:off x="795528" y="4343400"/>
            <a:ext cx="2834640" cy="256032"/>
          </a:xfrm>
          <a:prstGeom prst="rect">
            <a:avLst/>
          </a:prstGeom>
          <a:noFill/>
          <a:ln/>
        </p:spPr>
        <p:txBody>
          <a:bodyPr wrap="square" lIns="0" tIns="0" rIns="0" bIns="0" rtlCol="0" anchor="ctr"/>
          <a:lstStyle/>
          <a:p>
            <a:pPr indent="0" marL="0">
              <a:buNone/>
            </a:pPr>
            <a:r>
              <a:rPr lang="en-US" sz="1200" b="1" dirty="0">
                <a:solidFill>
                  <a:srgbClr val="16282B"/>
                </a:solidFill>
                <a:latin typeface="Calibri" pitchFamily="34" charset="0"/>
                <a:ea typeface="Calibri" pitchFamily="34" charset="-122"/>
                <a:cs typeface="Calibri" pitchFamily="34" charset="-120"/>
              </a:rPr>
              <a:t>Calibration ratio</a:t>
            </a:r>
            <a:endParaRPr lang="en-US" sz="1200" dirty="0"/>
          </a:p>
        </p:txBody>
      </p:sp>
      <p:sp>
        <p:nvSpPr>
          <p:cNvPr id="33" name="Text 31"/>
          <p:cNvSpPr txBox="1"/>
          <p:nvPr/>
        </p:nvSpPr>
        <p:spPr>
          <a:xfrm>
            <a:off x="3767328" y="4343400"/>
            <a:ext cx="4114800" cy="256032"/>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not calibrated</a:t>
            </a:r>
            <a:endParaRPr lang="en-US" sz="1200" dirty="0"/>
          </a:p>
        </p:txBody>
      </p:sp>
      <p:sp>
        <p:nvSpPr>
          <p:cNvPr id="34" name="Text 32"/>
          <p:cNvSpPr txBox="1"/>
          <p:nvPr/>
        </p:nvSpPr>
        <p:spPr>
          <a:xfrm>
            <a:off x="7973568" y="4343400"/>
            <a:ext cx="3657600" cy="256032"/>
          </a:xfrm>
          <a:prstGeom prst="rect">
            <a:avLst/>
          </a:prstGeom>
          <a:noFill/>
          <a:ln/>
        </p:spPr>
        <p:txBody>
          <a:bodyPr wrap="square" lIns="0" tIns="0" rIns="0" bIns="0" rtlCol="0" anchor="ctr"/>
          <a:lstStyle/>
          <a:p>
            <a:pPr indent="0" marL="0">
              <a:buNone/>
            </a:pPr>
            <a:r>
              <a:rPr lang="en-US" sz="1200" dirty="0">
                <a:solidFill>
                  <a:srgbClr val="16282B"/>
                </a:solidFill>
                <a:latin typeface="Calibri" pitchFamily="34" charset="0"/>
                <a:ea typeface="Calibri" pitchFamily="34" charset="-122"/>
                <a:cs typeface="Calibri" pitchFamily="34" charset="-120"/>
              </a:rPr>
              <a:t>1.01 — scores read as probabilities</a:t>
            </a:r>
            <a:endParaRPr lang="en-US" sz="1200" dirty="0"/>
          </a:p>
        </p:txBody>
      </p:sp>
      <p:sp>
        <p:nvSpPr>
          <p:cNvPr id="35" name="Shape 33"/>
          <p:cNvSpPr/>
          <p:nvPr/>
        </p:nvSpPr>
        <p:spPr>
          <a:xfrm>
            <a:off x="566928" y="4700016"/>
            <a:ext cx="11057839" cy="384048"/>
          </a:xfrm>
          <a:prstGeom prst="roundRect">
            <a:avLst>
              <a:gd name="adj" fmla="val 19048"/>
            </a:avLst>
          </a:prstGeom>
          <a:solidFill>
            <a:srgbClr val="FFFFFF"/>
          </a:solidFill>
          <a:ln w="12700">
            <a:solidFill>
              <a:srgbClr val="FFFFFF"/>
            </a:solidFill>
            <a:prstDash val="solid"/>
          </a:ln>
        </p:spPr>
      </p:sp>
      <p:sp>
        <p:nvSpPr>
          <p:cNvPr id="36" name="Text 34"/>
          <p:cNvSpPr txBox="1"/>
          <p:nvPr/>
        </p:nvSpPr>
        <p:spPr>
          <a:xfrm>
            <a:off x="795528" y="4764024"/>
            <a:ext cx="2834640" cy="256032"/>
          </a:xfrm>
          <a:prstGeom prst="rect">
            <a:avLst/>
          </a:prstGeom>
          <a:noFill/>
          <a:ln/>
        </p:spPr>
        <p:txBody>
          <a:bodyPr wrap="square" lIns="0" tIns="0" rIns="0" bIns="0" rtlCol="0" anchor="ctr"/>
          <a:lstStyle/>
          <a:p>
            <a:pPr indent="0" marL="0">
              <a:buNone/>
            </a:pPr>
            <a:r>
              <a:rPr lang="en-US" sz="1200" b="1" dirty="0">
                <a:solidFill>
                  <a:srgbClr val="16282B"/>
                </a:solidFill>
                <a:latin typeface="Calibri" pitchFamily="34" charset="0"/>
                <a:ea typeface="Calibri" pitchFamily="34" charset="-122"/>
                <a:cs typeface="Calibri" pitchFamily="34" charset="-120"/>
              </a:rPr>
              <a:t>Precision (readmit)</a:t>
            </a:r>
            <a:endParaRPr lang="en-US" sz="1200" dirty="0"/>
          </a:p>
        </p:txBody>
      </p:sp>
      <p:sp>
        <p:nvSpPr>
          <p:cNvPr id="37" name="Text 35"/>
          <p:cNvSpPr txBox="1"/>
          <p:nvPr/>
        </p:nvSpPr>
        <p:spPr>
          <a:xfrm>
            <a:off x="3767328" y="4764024"/>
            <a:ext cx="4114800" cy="256032"/>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not reported</a:t>
            </a:r>
            <a:endParaRPr lang="en-US" sz="1200" dirty="0"/>
          </a:p>
        </p:txBody>
      </p:sp>
      <p:sp>
        <p:nvSpPr>
          <p:cNvPr id="38" name="Text 36"/>
          <p:cNvSpPr txBox="1"/>
          <p:nvPr/>
        </p:nvSpPr>
        <p:spPr>
          <a:xfrm>
            <a:off x="7973568" y="4764024"/>
            <a:ext cx="3657600" cy="256032"/>
          </a:xfrm>
          <a:prstGeom prst="rect">
            <a:avLst/>
          </a:prstGeom>
          <a:noFill/>
          <a:ln/>
        </p:spPr>
        <p:txBody>
          <a:bodyPr wrap="square" lIns="0" tIns="0" rIns="0" bIns="0" rtlCol="0" anchor="ctr"/>
          <a:lstStyle/>
          <a:p>
            <a:pPr indent="0" marL="0">
              <a:buNone/>
            </a:pPr>
            <a:r>
              <a:rPr lang="en-US" sz="1200" dirty="0">
                <a:solidFill>
                  <a:srgbClr val="16282B"/>
                </a:solidFill>
                <a:latin typeface="Calibri" pitchFamily="34" charset="0"/>
                <a:ea typeface="Calibri" pitchFamily="34" charset="-122"/>
                <a:cs typeface="Calibri" pitchFamily="34" charset="-120"/>
              </a:rPr>
              <a:t>0.342 at 0.601 recall</a:t>
            </a:r>
            <a:endParaRPr lang="en-US" sz="1200" dirty="0"/>
          </a:p>
        </p:txBody>
      </p:sp>
      <p:sp>
        <p:nvSpPr>
          <p:cNvPr id="39" name="Shape 37"/>
          <p:cNvSpPr/>
          <p:nvPr/>
        </p:nvSpPr>
        <p:spPr>
          <a:xfrm>
            <a:off x="566928" y="5120640"/>
            <a:ext cx="11057839" cy="384048"/>
          </a:xfrm>
          <a:prstGeom prst="roundRect">
            <a:avLst>
              <a:gd name="adj" fmla="val 19048"/>
            </a:avLst>
          </a:prstGeom>
          <a:solidFill>
            <a:srgbClr val="F1F6F5"/>
          </a:solidFill>
          <a:ln w="12700">
            <a:solidFill>
              <a:srgbClr val="F1F6F5"/>
            </a:solidFill>
            <a:prstDash val="solid"/>
          </a:ln>
        </p:spPr>
      </p:sp>
      <p:sp>
        <p:nvSpPr>
          <p:cNvPr id="40" name="Text 38"/>
          <p:cNvSpPr txBox="1"/>
          <p:nvPr/>
        </p:nvSpPr>
        <p:spPr>
          <a:xfrm>
            <a:off x="795528" y="5184648"/>
            <a:ext cx="2834640" cy="256032"/>
          </a:xfrm>
          <a:prstGeom prst="rect">
            <a:avLst/>
          </a:prstGeom>
          <a:noFill/>
          <a:ln/>
        </p:spPr>
        <p:txBody>
          <a:bodyPr wrap="square" lIns="0" tIns="0" rIns="0" bIns="0" rtlCol="0" anchor="ctr"/>
          <a:lstStyle/>
          <a:p>
            <a:pPr indent="0" marL="0">
              <a:buNone/>
            </a:pPr>
            <a:r>
              <a:rPr lang="en-US" sz="1200" b="1" dirty="0">
                <a:solidFill>
                  <a:srgbClr val="16282B"/>
                </a:solidFill>
                <a:latin typeface="Calibri" pitchFamily="34" charset="0"/>
                <a:ea typeface="Calibri" pitchFamily="34" charset="-122"/>
                <a:cs typeface="Calibri" pitchFamily="34" charset="-120"/>
              </a:rPr>
              <a:t>Split discipline</a:t>
            </a:r>
            <a:endParaRPr lang="en-US" sz="1200" dirty="0"/>
          </a:p>
        </p:txBody>
      </p:sp>
      <p:sp>
        <p:nvSpPr>
          <p:cNvPr id="41" name="Text 39"/>
          <p:cNvSpPr txBox="1"/>
          <p:nvPr/>
        </p:nvSpPr>
        <p:spPr>
          <a:xfrm>
            <a:off x="3767328" y="5184648"/>
            <a:ext cx="4114800" cy="256032"/>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row-level</a:t>
            </a:r>
            <a:endParaRPr lang="en-US" sz="1200" dirty="0"/>
          </a:p>
        </p:txBody>
      </p:sp>
      <p:sp>
        <p:nvSpPr>
          <p:cNvPr id="42" name="Text 40"/>
          <p:cNvSpPr txBox="1"/>
          <p:nvPr/>
        </p:nvSpPr>
        <p:spPr>
          <a:xfrm>
            <a:off x="7973568" y="5184648"/>
            <a:ext cx="3657600" cy="256032"/>
          </a:xfrm>
          <a:prstGeom prst="rect">
            <a:avLst/>
          </a:prstGeom>
          <a:noFill/>
          <a:ln/>
        </p:spPr>
        <p:txBody>
          <a:bodyPr wrap="square" lIns="0" tIns="0" rIns="0" bIns="0" rtlCol="0" anchor="ctr"/>
          <a:lstStyle/>
          <a:p>
            <a:pPr indent="0" marL="0">
              <a:buNone/>
            </a:pPr>
            <a:r>
              <a:rPr lang="en-US" sz="1200" dirty="0">
                <a:solidFill>
                  <a:srgbClr val="16282B"/>
                </a:solidFill>
                <a:latin typeface="Calibri" pitchFamily="34" charset="0"/>
                <a:ea typeface="Calibri" pitchFamily="34" charset="-122"/>
                <a:cs typeface="Calibri" pitchFamily="34" charset="-120"/>
              </a:rPr>
              <a:t>by patient — GroupShuffleSplit on subject_id</a:t>
            </a:r>
            <a:endParaRPr lang="en-US" sz="1200" dirty="0"/>
          </a:p>
        </p:txBody>
      </p:sp>
      <p:sp>
        <p:nvSpPr>
          <p:cNvPr id="43" name="Shape 41"/>
          <p:cNvSpPr/>
          <p:nvPr/>
        </p:nvSpPr>
        <p:spPr>
          <a:xfrm>
            <a:off x="566928" y="5541264"/>
            <a:ext cx="11057839" cy="384048"/>
          </a:xfrm>
          <a:prstGeom prst="roundRect">
            <a:avLst>
              <a:gd name="adj" fmla="val 19048"/>
            </a:avLst>
          </a:prstGeom>
          <a:solidFill>
            <a:srgbClr val="FFFFFF"/>
          </a:solidFill>
          <a:ln w="12700">
            <a:solidFill>
              <a:srgbClr val="FFFFFF"/>
            </a:solidFill>
            <a:prstDash val="solid"/>
          </a:ln>
        </p:spPr>
      </p:sp>
      <p:sp>
        <p:nvSpPr>
          <p:cNvPr id="44" name="Text 42"/>
          <p:cNvSpPr txBox="1"/>
          <p:nvPr/>
        </p:nvSpPr>
        <p:spPr>
          <a:xfrm>
            <a:off x="795528" y="5605272"/>
            <a:ext cx="2834640" cy="256032"/>
          </a:xfrm>
          <a:prstGeom prst="rect">
            <a:avLst/>
          </a:prstGeom>
          <a:noFill/>
          <a:ln/>
        </p:spPr>
        <p:txBody>
          <a:bodyPr wrap="square" lIns="0" tIns="0" rIns="0" bIns="0" rtlCol="0" anchor="ctr"/>
          <a:lstStyle/>
          <a:p>
            <a:pPr indent="0" marL="0">
              <a:buNone/>
            </a:pPr>
            <a:r>
              <a:rPr lang="en-US" sz="1200" b="1" dirty="0">
                <a:solidFill>
                  <a:srgbClr val="16282B"/>
                </a:solidFill>
                <a:latin typeface="Calibri" pitchFamily="34" charset="0"/>
                <a:ea typeface="Calibri" pitchFamily="34" charset="-122"/>
                <a:cs typeface="Calibri" pitchFamily="34" charset="-120"/>
              </a:rPr>
              <a:t>Explainability</a:t>
            </a:r>
            <a:endParaRPr lang="en-US" sz="1200" dirty="0"/>
          </a:p>
        </p:txBody>
      </p:sp>
      <p:sp>
        <p:nvSpPr>
          <p:cNvPr id="45" name="Text 43"/>
          <p:cNvSpPr txBox="1"/>
          <p:nvPr/>
        </p:nvSpPr>
        <p:spPr>
          <a:xfrm>
            <a:off x="3767328" y="5605272"/>
            <a:ext cx="4114800" cy="256032"/>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decision-path walker</a:t>
            </a:r>
            <a:endParaRPr lang="en-US" sz="1200" dirty="0"/>
          </a:p>
        </p:txBody>
      </p:sp>
      <p:sp>
        <p:nvSpPr>
          <p:cNvPr id="46" name="Text 44"/>
          <p:cNvSpPr txBox="1"/>
          <p:nvPr/>
        </p:nvSpPr>
        <p:spPr>
          <a:xfrm>
            <a:off x="7973568" y="5605272"/>
            <a:ext cx="3657600" cy="256032"/>
          </a:xfrm>
          <a:prstGeom prst="rect">
            <a:avLst/>
          </a:prstGeom>
          <a:noFill/>
          <a:ln/>
        </p:spPr>
        <p:txBody>
          <a:bodyPr wrap="square" lIns="0" tIns="0" rIns="0" bIns="0" rtlCol="0" anchor="ctr"/>
          <a:lstStyle/>
          <a:p>
            <a:pPr indent="0" marL="0">
              <a:buNone/>
            </a:pPr>
            <a:r>
              <a:rPr lang="en-US" sz="1200" dirty="0">
                <a:solidFill>
                  <a:srgbClr val="16282B"/>
                </a:solidFill>
                <a:latin typeface="Calibri" pitchFamily="34" charset="0"/>
                <a:ea typeface="Calibri" pitchFamily="34" charset="-122"/>
                <a:cs typeface="Calibri" pitchFamily="34" charset="-120"/>
              </a:rPr>
              <a:t>SHAP, with clinician-facing labels</a:t>
            </a:r>
            <a:endParaRPr lang="en-US" sz="1200" dirty="0"/>
          </a:p>
        </p:txBody>
      </p:sp>
      <p:sp>
        <p:nvSpPr>
          <p:cNvPr id="47" name="Text 45"/>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1000" i="1" dirty="0">
                <a:solidFill>
                  <a:srgbClr val="5E7175"/>
                </a:solidFill>
                <a:latin typeface="Calibri" pitchFamily="34" charset="0"/>
                <a:ea typeface="Calibri" pitchFamily="34" charset="-122"/>
                <a:cs typeface="Calibri" pitchFamily="34" charset="-120"/>
              </a:rPr>
              <a:t>A 2025 meta-analysis puts the pooled readmission AUC at 0.71, so the model performs at the literature norm on a far broader population — and now with calibrated, patient-split, fully explainable output.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DELIVERED THIS PHASE</a:t>
            </a:r>
            <a:endParaRPr lang="en-US" sz="1100" dirty="0"/>
          </a:p>
        </p:txBody>
      </p:sp>
      <p:sp>
        <p:nvSpPr>
          <p:cNvPr id="3" name="Text 1"/>
          <p:cNvSpPr txBox="1"/>
          <p:nvPr/>
        </p:nvSpPr>
        <p:spPr>
          <a:xfrm>
            <a:off x="566928" y="566928"/>
            <a:ext cx="11057839" cy="658368"/>
          </a:xfrm>
          <a:prstGeom prst="rect">
            <a:avLst/>
          </a:prstGeom>
          <a:noFill/>
          <a:ln/>
        </p:spPr>
        <p:txBody>
          <a:bodyPr wrap="square" lIns="0" tIns="0" rIns="0" bIns="0" rtlCol="0" anchor="ctr"/>
          <a:lstStyle/>
          <a:p>
            <a:pPr indent="0" marL="0">
              <a:buNone/>
            </a:pPr>
            <a:r>
              <a:rPr lang="en-US" sz="3200" b="1" dirty="0">
                <a:solidFill>
                  <a:srgbClr val="16282B"/>
                </a:solidFill>
                <a:latin typeface="Cambria" pitchFamily="34" charset="0"/>
                <a:ea typeface="Cambria" pitchFamily="34" charset="-122"/>
                <a:cs typeface="Cambria" pitchFamily="34" charset="-120"/>
              </a:rPr>
              <a:t>What was built</a:t>
            </a:r>
            <a:endParaRPr lang="en-US" sz="3200" dirty="0"/>
          </a:p>
        </p:txBody>
      </p:sp>
      <p:sp>
        <p:nvSpPr>
          <p:cNvPr id="4" name="Text 2"/>
          <p:cNvSpPr txBox="1"/>
          <p:nvPr/>
        </p:nvSpPr>
        <p:spPr>
          <a:xfrm>
            <a:off x="566928" y="1572768"/>
            <a:ext cx="2514600" cy="777240"/>
          </a:xfrm>
          <a:prstGeom prst="rect">
            <a:avLst/>
          </a:prstGeom>
          <a:noFill/>
          <a:ln/>
        </p:spPr>
        <p:txBody>
          <a:bodyPr wrap="square" lIns="0" tIns="0" rIns="0" bIns="0" rtlCol="0" anchor="ctr"/>
          <a:lstStyle/>
          <a:p>
            <a:pPr indent="0" marL="0">
              <a:buNone/>
            </a:pPr>
            <a:r>
              <a:rPr lang="en-US" sz="4400" b="1" dirty="0">
                <a:solidFill>
                  <a:srgbClr val="028090"/>
                </a:solidFill>
                <a:latin typeface="Cambria" pitchFamily="34" charset="0"/>
                <a:ea typeface="Cambria" pitchFamily="34" charset="-122"/>
                <a:cs typeface="Cambria" pitchFamily="34" charset="-120"/>
              </a:rPr>
              <a:t>1,119</a:t>
            </a:r>
            <a:endParaRPr lang="en-US" sz="4400" dirty="0"/>
          </a:p>
        </p:txBody>
      </p:sp>
      <p:sp>
        <p:nvSpPr>
          <p:cNvPr id="5" name="Text 3"/>
          <p:cNvSpPr txBox="1"/>
          <p:nvPr/>
        </p:nvSpPr>
        <p:spPr>
          <a:xfrm>
            <a:off x="566928" y="2350008"/>
            <a:ext cx="2514600" cy="292608"/>
          </a:xfrm>
          <a:prstGeom prst="rect">
            <a:avLst/>
          </a:prstGeom>
          <a:noFill/>
          <a:ln/>
        </p:spPr>
        <p:txBody>
          <a:bodyPr wrap="square" lIns="0" tIns="0" rIns="0" bIns="0" rtlCol="0" anchor="ctr"/>
          <a:lstStyle/>
          <a:p>
            <a:pPr indent="0" marL="0">
              <a:buNone/>
            </a:pPr>
            <a:r>
              <a:rPr lang="en-US" sz="1300" b="1" dirty="0">
                <a:solidFill>
                  <a:srgbClr val="16282B"/>
                </a:solidFill>
                <a:latin typeface="Calibri" pitchFamily="34" charset="0"/>
                <a:ea typeface="Calibri" pitchFamily="34" charset="-122"/>
                <a:cs typeface="Calibri" pitchFamily="34" charset="-120"/>
              </a:rPr>
              <a:t>lines of new backend</a:t>
            </a:r>
            <a:endParaRPr lang="en-US" sz="1300" dirty="0"/>
          </a:p>
        </p:txBody>
      </p:sp>
      <p:sp>
        <p:nvSpPr>
          <p:cNvPr id="6" name="Text 4"/>
          <p:cNvSpPr txBox="1"/>
          <p:nvPr/>
        </p:nvSpPr>
        <p:spPr>
          <a:xfrm>
            <a:off x="566928" y="2633472"/>
            <a:ext cx="2514600" cy="548640"/>
          </a:xfrm>
          <a:prstGeom prst="rect">
            <a:avLst/>
          </a:prstGeom>
          <a:noFill/>
          <a:ln/>
        </p:spPr>
        <p:txBody>
          <a:bodyPr wrap="square" lIns="0" tIns="0" rIns="0" bIns="0" rtlCol="0" anchor="ctr"/>
          <a:lstStyle/>
          <a:p>
            <a:pPr indent="0" marL="0">
              <a:buNone/>
            </a:pPr>
            <a:r>
              <a:rPr lang="en-US" sz="1100" dirty="0">
                <a:solidFill>
                  <a:srgbClr val="5E7175"/>
                </a:solidFill>
                <a:latin typeface="Calibri" pitchFamily="34" charset="0"/>
                <a:ea typeface="Calibri" pitchFamily="34" charset="-122"/>
                <a:cs typeface="Calibri" pitchFamily="34" charset="-120"/>
              </a:rPr>
              <a:t>mimic_drivers 398 · gemini_insights 337 · mimic_scoring 243 · mimic_diagnoses 141</a:t>
            </a:r>
            <a:endParaRPr lang="en-US" sz="1100" dirty="0"/>
          </a:p>
        </p:txBody>
      </p:sp>
      <p:sp>
        <p:nvSpPr>
          <p:cNvPr id="7" name="Text 5"/>
          <p:cNvSpPr txBox="1"/>
          <p:nvPr/>
        </p:nvSpPr>
        <p:spPr>
          <a:xfrm>
            <a:off x="3447288" y="1572768"/>
            <a:ext cx="2514600" cy="777240"/>
          </a:xfrm>
          <a:prstGeom prst="rect">
            <a:avLst/>
          </a:prstGeom>
          <a:noFill/>
          <a:ln/>
        </p:spPr>
        <p:txBody>
          <a:bodyPr wrap="square" lIns="0" tIns="0" rIns="0" bIns="0" rtlCol="0" anchor="ctr"/>
          <a:lstStyle/>
          <a:p>
            <a:pPr indent="0" marL="0">
              <a:buNone/>
            </a:pPr>
            <a:r>
              <a:rPr lang="en-US" sz="4400" b="1" dirty="0">
                <a:solidFill>
                  <a:srgbClr val="028090"/>
                </a:solidFill>
                <a:latin typeface="Cambria" pitchFamily="34" charset="0"/>
                <a:ea typeface="Cambria" pitchFamily="34" charset="-122"/>
                <a:cs typeface="Cambria" pitchFamily="34" charset="-120"/>
              </a:rPr>
              <a:t>1,316</a:t>
            </a:r>
            <a:endParaRPr lang="en-US" sz="4400" dirty="0"/>
          </a:p>
        </p:txBody>
      </p:sp>
      <p:sp>
        <p:nvSpPr>
          <p:cNvPr id="8" name="Text 6"/>
          <p:cNvSpPr txBox="1"/>
          <p:nvPr/>
        </p:nvSpPr>
        <p:spPr>
          <a:xfrm>
            <a:off x="3447288" y="2350008"/>
            <a:ext cx="2514600" cy="292608"/>
          </a:xfrm>
          <a:prstGeom prst="rect">
            <a:avLst/>
          </a:prstGeom>
          <a:noFill/>
          <a:ln/>
        </p:spPr>
        <p:txBody>
          <a:bodyPr wrap="square" lIns="0" tIns="0" rIns="0" bIns="0" rtlCol="0" anchor="ctr"/>
          <a:lstStyle/>
          <a:p>
            <a:pPr indent="0" marL="0">
              <a:buNone/>
            </a:pPr>
            <a:r>
              <a:rPr lang="en-US" sz="1300" b="1" dirty="0">
                <a:solidFill>
                  <a:srgbClr val="16282B"/>
                </a:solidFill>
                <a:latin typeface="Calibri" pitchFamily="34" charset="0"/>
                <a:ea typeface="Calibri" pitchFamily="34" charset="-122"/>
                <a:cs typeface="Calibri" pitchFamily="34" charset="-120"/>
              </a:rPr>
              <a:t>lines of new scripts</a:t>
            </a:r>
            <a:endParaRPr lang="en-US" sz="1300" dirty="0"/>
          </a:p>
        </p:txBody>
      </p:sp>
      <p:sp>
        <p:nvSpPr>
          <p:cNvPr id="9" name="Text 7"/>
          <p:cNvSpPr txBox="1"/>
          <p:nvPr/>
        </p:nvSpPr>
        <p:spPr>
          <a:xfrm>
            <a:off x="3447288" y="2633472"/>
            <a:ext cx="2514600" cy="548640"/>
          </a:xfrm>
          <a:prstGeom prst="rect">
            <a:avLst/>
          </a:prstGeom>
          <a:noFill/>
          <a:ln/>
        </p:spPr>
        <p:txBody>
          <a:bodyPr wrap="square" lIns="0" tIns="0" rIns="0" bIns="0" rtlCol="0" anchor="ctr"/>
          <a:lstStyle/>
          <a:p>
            <a:pPr indent="0" marL="0">
              <a:buNone/>
            </a:pPr>
            <a:r>
              <a:rPr lang="en-US" sz="1100" dirty="0">
                <a:solidFill>
                  <a:srgbClr val="5E7175"/>
                </a:solidFill>
                <a:latin typeface="Calibri" pitchFamily="34" charset="0"/>
                <a:ea typeface="Calibri" pitchFamily="34" charset="-122"/>
                <a:cs typeface="Calibri" pitchFamily="34" charset="-120"/>
              </a:rPr>
              <a:t>weekly simulator 426 · Mongo ETL 347 · transfer test 299 · feasibility 244</a:t>
            </a:r>
            <a:endParaRPr lang="en-US" sz="1100" dirty="0"/>
          </a:p>
        </p:txBody>
      </p:sp>
      <p:sp>
        <p:nvSpPr>
          <p:cNvPr id="10" name="Text 8"/>
          <p:cNvSpPr txBox="1"/>
          <p:nvPr/>
        </p:nvSpPr>
        <p:spPr>
          <a:xfrm>
            <a:off x="6327648" y="1572768"/>
            <a:ext cx="2514600" cy="777240"/>
          </a:xfrm>
          <a:prstGeom prst="rect">
            <a:avLst/>
          </a:prstGeom>
          <a:noFill/>
          <a:ln/>
        </p:spPr>
        <p:txBody>
          <a:bodyPr wrap="square" lIns="0" tIns="0" rIns="0" bIns="0" rtlCol="0" anchor="ctr"/>
          <a:lstStyle/>
          <a:p>
            <a:pPr indent="0" marL="0">
              <a:buNone/>
            </a:pPr>
            <a:r>
              <a:rPr lang="en-US" sz="4400" b="1" dirty="0">
                <a:solidFill>
                  <a:srgbClr val="028090"/>
                </a:solidFill>
                <a:latin typeface="Cambria" pitchFamily="34" charset="0"/>
                <a:ea typeface="Cambria" pitchFamily="34" charset="-122"/>
                <a:cs typeface="Cambria" pitchFamily="34" charset="-120"/>
              </a:rPr>
              <a:t>534</a:t>
            </a:r>
            <a:endParaRPr lang="en-US" sz="4400" dirty="0"/>
          </a:p>
        </p:txBody>
      </p:sp>
      <p:sp>
        <p:nvSpPr>
          <p:cNvPr id="11" name="Text 9"/>
          <p:cNvSpPr txBox="1"/>
          <p:nvPr/>
        </p:nvSpPr>
        <p:spPr>
          <a:xfrm>
            <a:off x="6327648" y="2350008"/>
            <a:ext cx="2514600" cy="292608"/>
          </a:xfrm>
          <a:prstGeom prst="rect">
            <a:avLst/>
          </a:prstGeom>
          <a:noFill/>
          <a:ln/>
        </p:spPr>
        <p:txBody>
          <a:bodyPr wrap="square" lIns="0" tIns="0" rIns="0" bIns="0" rtlCol="0" anchor="ctr"/>
          <a:lstStyle/>
          <a:p>
            <a:pPr indent="0" marL="0">
              <a:buNone/>
            </a:pPr>
            <a:r>
              <a:rPr lang="en-US" sz="1300" b="1" dirty="0">
                <a:solidFill>
                  <a:srgbClr val="16282B"/>
                </a:solidFill>
                <a:latin typeface="Calibri" pitchFamily="34" charset="0"/>
                <a:ea typeface="Calibri" pitchFamily="34" charset="-122"/>
                <a:cs typeface="Calibri" pitchFamily="34" charset="-120"/>
              </a:rPr>
              <a:t>lines of new frontend</a:t>
            </a:r>
            <a:endParaRPr lang="en-US" sz="1300" dirty="0"/>
          </a:p>
        </p:txBody>
      </p:sp>
      <p:sp>
        <p:nvSpPr>
          <p:cNvPr id="12" name="Text 10"/>
          <p:cNvSpPr txBox="1"/>
          <p:nvPr/>
        </p:nvSpPr>
        <p:spPr>
          <a:xfrm>
            <a:off x="6327648" y="2633472"/>
            <a:ext cx="2514600" cy="548640"/>
          </a:xfrm>
          <a:prstGeom prst="rect">
            <a:avLst/>
          </a:prstGeom>
          <a:noFill/>
          <a:ln/>
        </p:spPr>
        <p:txBody>
          <a:bodyPr wrap="square" lIns="0" tIns="0" rIns="0" bIns="0" rtlCol="0" anchor="ctr"/>
          <a:lstStyle/>
          <a:p>
            <a:pPr indent="0" marL="0">
              <a:buNone/>
            </a:pPr>
            <a:r>
              <a:rPr lang="en-US" sz="1100" dirty="0">
                <a:solidFill>
                  <a:srgbClr val="5E7175"/>
                </a:solidFill>
                <a:latin typeface="Calibri" pitchFamily="34" charset="0"/>
                <a:ea typeface="Calibri" pitchFamily="34" charset="-122"/>
                <a:cs typeface="Calibri" pitchFamily="34" charset="-120"/>
              </a:rPr>
              <a:t>WeeklyTrendPanel 322 · AiInsightsPanel 124 · TrendStatusBadge 67</a:t>
            </a:r>
            <a:endParaRPr lang="en-US" sz="1100" dirty="0"/>
          </a:p>
        </p:txBody>
      </p:sp>
      <p:sp>
        <p:nvSpPr>
          <p:cNvPr id="13" name="Text 11"/>
          <p:cNvSpPr txBox="1"/>
          <p:nvPr/>
        </p:nvSpPr>
        <p:spPr>
          <a:xfrm>
            <a:off x="9208008" y="1572768"/>
            <a:ext cx="2423160" cy="777240"/>
          </a:xfrm>
          <a:prstGeom prst="rect">
            <a:avLst/>
          </a:prstGeom>
          <a:noFill/>
          <a:ln/>
        </p:spPr>
        <p:txBody>
          <a:bodyPr wrap="square" lIns="0" tIns="0" rIns="0" bIns="0" rtlCol="0" anchor="ctr"/>
          <a:lstStyle/>
          <a:p>
            <a:pPr indent="0" marL="0">
              <a:buNone/>
            </a:pPr>
            <a:r>
              <a:rPr lang="en-US" sz="4400" b="1" dirty="0">
                <a:solidFill>
                  <a:srgbClr val="028090"/>
                </a:solidFill>
                <a:latin typeface="Cambria" pitchFamily="34" charset="0"/>
                <a:ea typeface="Cambria" pitchFamily="34" charset="-122"/>
                <a:cs typeface="Cambria" pitchFamily="34" charset="-120"/>
              </a:rPr>
              <a:t>6</a:t>
            </a:r>
            <a:endParaRPr lang="en-US" sz="4400" dirty="0"/>
          </a:p>
        </p:txBody>
      </p:sp>
      <p:sp>
        <p:nvSpPr>
          <p:cNvPr id="14" name="Text 12"/>
          <p:cNvSpPr txBox="1"/>
          <p:nvPr/>
        </p:nvSpPr>
        <p:spPr>
          <a:xfrm>
            <a:off x="9208008" y="2350008"/>
            <a:ext cx="2423160" cy="292608"/>
          </a:xfrm>
          <a:prstGeom prst="rect">
            <a:avLst/>
          </a:prstGeom>
          <a:noFill/>
          <a:ln/>
        </p:spPr>
        <p:txBody>
          <a:bodyPr wrap="square" lIns="0" tIns="0" rIns="0" bIns="0" rtlCol="0" anchor="ctr"/>
          <a:lstStyle/>
          <a:p>
            <a:pPr indent="0" marL="0">
              <a:buNone/>
            </a:pPr>
            <a:r>
              <a:rPr lang="en-US" sz="1300" b="1" dirty="0">
                <a:solidFill>
                  <a:srgbClr val="16282B"/>
                </a:solidFill>
                <a:latin typeface="Calibri" pitchFamily="34" charset="0"/>
                <a:ea typeface="Calibri" pitchFamily="34" charset="-122"/>
                <a:cs typeface="Calibri" pitchFamily="34" charset="-120"/>
              </a:rPr>
              <a:t>new notebooks</a:t>
            </a:r>
            <a:endParaRPr lang="en-US" sz="1300" dirty="0"/>
          </a:p>
        </p:txBody>
      </p:sp>
      <p:sp>
        <p:nvSpPr>
          <p:cNvPr id="15" name="Text 13"/>
          <p:cNvSpPr txBox="1"/>
          <p:nvPr/>
        </p:nvSpPr>
        <p:spPr>
          <a:xfrm>
            <a:off x="9208008" y="2633472"/>
            <a:ext cx="2423160" cy="548640"/>
          </a:xfrm>
          <a:prstGeom prst="rect">
            <a:avLst/>
          </a:prstGeom>
          <a:noFill/>
          <a:ln/>
        </p:spPr>
        <p:txBody>
          <a:bodyPr wrap="square" lIns="0" tIns="0" rIns="0" bIns="0" rtlCol="0" anchor="ctr"/>
          <a:lstStyle/>
          <a:p>
            <a:pPr indent="0" marL="0">
              <a:buNone/>
            </a:pPr>
            <a:r>
              <a:rPr lang="en-US" sz="1100" dirty="0">
                <a:solidFill>
                  <a:srgbClr val="5E7175"/>
                </a:solidFill>
                <a:latin typeface="Calibri" pitchFamily="34" charset="0"/>
                <a:ea typeface="Calibri" pitchFamily="34" charset="-122"/>
                <a:cs typeface="Calibri" pitchFamily="34" charset="-120"/>
              </a:rPr>
              <a:t>CMS feature engineering, MIMIC EDA, Phase 1 and Phase 2 training</a:t>
            </a:r>
            <a:endParaRPr lang="en-US" sz="1100" dirty="0"/>
          </a:p>
        </p:txBody>
      </p:sp>
      <p:sp>
        <p:nvSpPr>
          <p:cNvPr id="16" name="Shape 14"/>
          <p:cNvSpPr/>
          <p:nvPr/>
        </p:nvSpPr>
        <p:spPr>
          <a:xfrm>
            <a:off x="566928" y="3794760"/>
            <a:ext cx="11057839" cy="2148840"/>
          </a:xfrm>
          <a:prstGeom prst="roundRect">
            <a:avLst>
              <a:gd name="adj" fmla="val 3404"/>
            </a:avLst>
          </a:prstGeom>
          <a:solidFill>
            <a:srgbClr val="F1F6F5"/>
          </a:solidFill>
          <a:ln w="12700">
            <a:solidFill>
              <a:srgbClr val="F1F6F5"/>
            </a:solidFill>
            <a:prstDash val="solid"/>
          </a:ln>
        </p:spPr>
      </p:sp>
      <p:sp>
        <p:nvSpPr>
          <p:cNvPr id="17" name="Text 15"/>
          <p:cNvSpPr txBox="1"/>
          <p:nvPr/>
        </p:nvSpPr>
        <p:spPr>
          <a:xfrm>
            <a:off x="886968" y="3977640"/>
            <a:ext cx="3657600" cy="320040"/>
          </a:xfrm>
          <a:prstGeom prst="rect">
            <a:avLst/>
          </a:prstGeom>
          <a:noFill/>
          <a:ln/>
        </p:spPr>
        <p:txBody>
          <a:bodyPr wrap="square" lIns="0" tIns="0" rIns="0" bIns="0" rtlCol="0" anchor="ctr"/>
          <a:lstStyle/>
          <a:p>
            <a:pPr indent="0" marL="0">
              <a:buNone/>
            </a:pPr>
            <a:r>
              <a:rPr lang="en-US" sz="1500" b="1" dirty="0">
                <a:solidFill>
                  <a:srgbClr val="16282B"/>
                </a:solidFill>
                <a:latin typeface="Calibri" pitchFamily="34" charset="0"/>
                <a:ea typeface="Calibri" pitchFamily="34" charset="-122"/>
                <a:cs typeface="Calibri" pitchFamily="34" charset="-120"/>
              </a:rPr>
              <a:t>Also changed</a:t>
            </a:r>
            <a:endParaRPr lang="en-US" sz="1500" dirty="0"/>
          </a:p>
        </p:txBody>
      </p:sp>
      <p:sp>
        <p:nvSpPr>
          <p:cNvPr id="18" name="Text 16"/>
          <p:cNvSpPr txBox="1"/>
          <p:nvPr/>
        </p:nvSpPr>
        <p:spPr>
          <a:xfrm>
            <a:off x="886968" y="4370832"/>
            <a:ext cx="5120640" cy="14173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5E7175"/>
                </a:solidFill>
                <a:latin typeface="Calibri" pitchFamily="34" charset="0"/>
                <a:ea typeface="Calibri" pitchFamily="34" charset="-122"/>
                <a:cs typeface="Calibri" pitchFamily="34" charset="-120"/>
              </a:rPr>
              <a:t>api/main.py grew to 1,520 lines while shedding 292 lines of superseded scoring code</a:t>
            </a:r>
            <a:endParaRPr lang="en-US" sz="1200" dirty="0"/>
          </a:p>
          <a:p>
            <a:pPr marL="342900" indent="-342900">
              <a:lnSpc>
                <a:spcPts val="1700"/>
              </a:lnSpc>
              <a:spcAft>
                <a:spcPts val="700"/>
              </a:spcAft>
              <a:buSzPct val="100000"/>
              <a:buChar char="•"/>
            </a:pPr>
            <a:r>
              <a:rPr lang="en-US" sz="1200" dirty="0">
                <a:solidFill>
                  <a:srgbClr val="5E7175"/>
                </a:solidFill>
                <a:latin typeface="Calibri" pitchFamily="34" charset="0"/>
                <a:ea typeface="Calibri" pitchFamily="34" charset="-122"/>
                <a:cs typeface="Calibri" pitchFamily="34" charset="-120"/>
              </a:rPr>
              <a:t>API surface 20 → 24 endpoints: trend, ai-insights, week-narrative, manual-entry schema</a:t>
            </a:r>
            <a:endParaRPr lang="en-US" sz="1200" dirty="0"/>
          </a:p>
          <a:p>
            <a:pPr marL="342900" indent="-342900">
              <a:lnSpc>
                <a:spcPts val="1700"/>
              </a:lnSpc>
              <a:spcAft>
                <a:spcPts val="700"/>
              </a:spcAft>
              <a:buSzPct val="100000"/>
              <a:buChar char="•"/>
            </a:pPr>
            <a:r>
              <a:rPr lang="en-US" sz="1200" dirty="0">
                <a:solidFill>
                  <a:srgbClr val="5E7175"/>
                </a:solidFill>
                <a:latin typeface="Calibri" pitchFamily="34" charset="0"/>
                <a:ea typeface="Calibri" pitchFamily="34" charset="-122"/>
                <a:cs typeface="Calibri" pitchFamily="34" charset="-120"/>
              </a:rPr>
              <a:t>Nine frontend files modified; mock.js 146 → 467 lines</a:t>
            </a:r>
            <a:endParaRPr lang="en-US" sz="1200" dirty="0"/>
          </a:p>
        </p:txBody>
      </p:sp>
      <p:sp>
        <p:nvSpPr>
          <p:cNvPr id="19" name="Text 17"/>
          <p:cNvSpPr txBox="1"/>
          <p:nvPr/>
        </p:nvSpPr>
        <p:spPr>
          <a:xfrm>
            <a:off x="6327648" y="4370832"/>
            <a:ext cx="5029200" cy="141732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5E7175"/>
                </a:solidFill>
                <a:latin typeface="Calibri" pitchFamily="34" charset="0"/>
                <a:ea typeface="Calibri" pitchFamily="34" charset="-122"/>
                <a:cs typeface="Calibri" pitchFamily="34" charset="-120"/>
              </a:rPr>
              <a:t>New analysis documents: donesofar, NewData, lateFusionApproach, WhatToDoWhenModelPlateaus, cms_migration_guide</a:t>
            </a:r>
            <a:endParaRPr lang="en-US" sz="1200" dirty="0"/>
          </a:p>
          <a:p>
            <a:pPr marL="342900" indent="-342900">
              <a:lnSpc>
                <a:spcPts val="1700"/>
              </a:lnSpc>
              <a:spcAft>
                <a:spcPts val="700"/>
              </a:spcAft>
              <a:buSzPct val="100000"/>
              <a:buChar char="•"/>
            </a:pPr>
            <a:r>
              <a:rPr lang="en-US" sz="1200" dirty="0">
                <a:solidFill>
                  <a:srgbClr val="5E7175"/>
                </a:solidFill>
                <a:latin typeface="Calibri" pitchFamily="34" charset="0"/>
                <a:ea typeface="Calibri" pitchFamily="34" charset="-122"/>
                <a:cs typeface="Calibri" pitchFamily="34" charset="-120"/>
              </a:rPr>
              <a:t>New specs: mimic_feature_spec.json, band_thresholds_mimic.json, model_card_phase1.json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HOW THE CALLS WERE MADE</a:t>
            </a:r>
            <a:endParaRPr lang="en-US" sz="1100" dirty="0"/>
          </a:p>
        </p:txBody>
      </p:sp>
      <p:sp>
        <p:nvSpPr>
          <p:cNvPr id="3" name="Text 1"/>
          <p:cNvSpPr txBox="1"/>
          <p:nvPr/>
        </p:nvSpPr>
        <p:spPr>
          <a:xfrm>
            <a:off x="566928" y="566928"/>
            <a:ext cx="11057839" cy="658368"/>
          </a:xfrm>
          <a:prstGeom prst="rect">
            <a:avLst/>
          </a:prstGeom>
          <a:noFill/>
          <a:ln/>
        </p:spPr>
        <p:txBody>
          <a:bodyPr wrap="square" lIns="0" tIns="0" rIns="0" bIns="0" rtlCol="0" anchor="ctr"/>
          <a:lstStyle/>
          <a:p>
            <a:pPr indent="0" marL="0">
              <a:buNone/>
            </a:pPr>
            <a:r>
              <a:rPr lang="en-US" sz="3200" b="1" dirty="0">
                <a:solidFill>
                  <a:srgbClr val="16282B"/>
                </a:solidFill>
                <a:latin typeface="Cambria" pitchFamily="34" charset="0"/>
                <a:ea typeface="Cambria" pitchFamily="34" charset="-122"/>
                <a:cs typeface="Cambria" pitchFamily="34" charset="-120"/>
              </a:rPr>
              <a:t>Decisions grounded in measurement</a:t>
            </a:r>
            <a:endParaRPr lang="en-US" sz="3200" dirty="0"/>
          </a:p>
        </p:txBody>
      </p:sp>
      <p:sp>
        <p:nvSpPr>
          <p:cNvPr id="4" name="Shape 2"/>
          <p:cNvSpPr/>
          <p:nvPr/>
        </p:nvSpPr>
        <p:spPr>
          <a:xfrm>
            <a:off x="566928" y="1536192"/>
            <a:ext cx="11057839" cy="621792"/>
          </a:xfrm>
          <a:prstGeom prst="roundRect">
            <a:avLst>
              <a:gd name="adj" fmla="val 11765"/>
            </a:avLst>
          </a:prstGeom>
          <a:solidFill>
            <a:srgbClr val="F1F6F5"/>
          </a:solidFill>
          <a:ln w="12700">
            <a:solidFill>
              <a:srgbClr val="F1F6F5"/>
            </a:solidFill>
            <a:prstDash val="solid"/>
          </a:ln>
        </p:spPr>
      </p:sp>
      <p:sp>
        <p:nvSpPr>
          <p:cNvPr id="5" name="Text 3"/>
          <p:cNvSpPr txBox="1"/>
          <p:nvPr/>
        </p:nvSpPr>
        <p:spPr>
          <a:xfrm>
            <a:off x="822960" y="1719072"/>
            <a:ext cx="3657600" cy="292608"/>
          </a:xfrm>
          <a:prstGeom prst="rect">
            <a:avLst/>
          </a:prstGeom>
          <a:noFill/>
          <a:ln/>
        </p:spPr>
        <p:txBody>
          <a:bodyPr wrap="square" lIns="0" tIns="0" rIns="0" bIns="0" rtlCol="0" anchor="ctr"/>
          <a:lstStyle/>
          <a:p>
            <a:pPr indent="0" marL="0">
              <a:buNone/>
            </a:pPr>
            <a:r>
              <a:rPr lang="en-US" sz="1250" b="1" dirty="0">
                <a:solidFill>
                  <a:srgbClr val="16282B"/>
                </a:solidFill>
                <a:latin typeface="Calibri" pitchFamily="34" charset="0"/>
                <a:ea typeface="Calibri" pitchFamily="34" charset="-122"/>
                <a:cs typeface="Calibri" pitchFamily="34" charset="-120"/>
              </a:rPr>
              <a:t>Which dataset to build on</a:t>
            </a:r>
            <a:endParaRPr lang="en-US" sz="1250" dirty="0"/>
          </a:p>
        </p:txBody>
      </p:sp>
      <p:sp>
        <p:nvSpPr>
          <p:cNvPr id="6" name="Text 4"/>
          <p:cNvSpPr txBox="1"/>
          <p:nvPr/>
        </p:nvSpPr>
        <p:spPr>
          <a:xfrm>
            <a:off x="4590288" y="1719072"/>
            <a:ext cx="1737360" cy="29260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MIMIC-IV</a:t>
            </a:r>
            <a:endParaRPr lang="en-US" sz="1250" dirty="0"/>
          </a:p>
        </p:txBody>
      </p:sp>
      <p:sp>
        <p:nvSpPr>
          <p:cNvPr id="7" name="Text 5"/>
          <p:cNvSpPr txBox="1"/>
          <p:nvPr/>
        </p:nvSpPr>
        <p:spPr>
          <a:xfrm>
            <a:off x="6419088" y="1719072"/>
            <a:ext cx="4931359" cy="292608"/>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Chosen for preserved real-world correlations, scale and longitudinal history.</a:t>
            </a:r>
            <a:endParaRPr lang="en-US" sz="1200" dirty="0"/>
          </a:p>
        </p:txBody>
      </p:sp>
      <p:sp>
        <p:nvSpPr>
          <p:cNvPr id="8" name="Shape 6"/>
          <p:cNvSpPr/>
          <p:nvPr/>
        </p:nvSpPr>
        <p:spPr>
          <a:xfrm>
            <a:off x="566928" y="2203704"/>
            <a:ext cx="11057839" cy="621792"/>
          </a:xfrm>
          <a:prstGeom prst="roundRect">
            <a:avLst>
              <a:gd name="adj" fmla="val 11765"/>
            </a:avLst>
          </a:prstGeom>
          <a:solidFill>
            <a:srgbClr val="FFFFFF"/>
          </a:solidFill>
          <a:ln w="12700">
            <a:solidFill>
              <a:srgbClr val="FFFFFF"/>
            </a:solidFill>
            <a:prstDash val="solid"/>
          </a:ln>
        </p:spPr>
      </p:sp>
      <p:sp>
        <p:nvSpPr>
          <p:cNvPr id="9" name="Text 7"/>
          <p:cNvSpPr txBox="1"/>
          <p:nvPr/>
        </p:nvSpPr>
        <p:spPr>
          <a:xfrm>
            <a:off x="822960" y="2386584"/>
            <a:ext cx="3657600" cy="292608"/>
          </a:xfrm>
          <a:prstGeom prst="rect">
            <a:avLst/>
          </a:prstGeom>
          <a:noFill/>
          <a:ln/>
        </p:spPr>
        <p:txBody>
          <a:bodyPr wrap="square" lIns="0" tIns="0" rIns="0" bIns="0" rtlCol="0" anchor="ctr"/>
          <a:lstStyle/>
          <a:p>
            <a:pPr indent="0" marL="0">
              <a:buNone/>
            </a:pPr>
            <a:r>
              <a:rPr lang="en-US" sz="1250" b="1" dirty="0">
                <a:solidFill>
                  <a:srgbClr val="16282B"/>
                </a:solidFill>
                <a:latin typeface="Calibri" pitchFamily="34" charset="0"/>
                <a:ea typeface="Calibri" pitchFamily="34" charset="-122"/>
                <a:cs typeface="Calibri" pitchFamily="34" charset="-120"/>
              </a:rPr>
              <a:t>How to source continuous monitoring</a:t>
            </a:r>
            <a:endParaRPr lang="en-US" sz="1250" dirty="0"/>
          </a:p>
        </p:txBody>
      </p:sp>
      <p:sp>
        <p:nvSpPr>
          <p:cNvPr id="10" name="Text 8"/>
          <p:cNvSpPr txBox="1"/>
          <p:nvPr/>
        </p:nvSpPr>
        <p:spPr>
          <a:xfrm>
            <a:off x="4590288" y="2386584"/>
            <a:ext cx="1737360" cy="29260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Telemetry feed</a:t>
            </a:r>
            <a:endParaRPr lang="en-US" sz="1250" dirty="0"/>
          </a:p>
        </p:txBody>
      </p:sp>
      <p:sp>
        <p:nvSpPr>
          <p:cNvPr id="11" name="Text 9"/>
          <p:cNvSpPr txBox="1"/>
          <p:nvPr/>
        </p:nvSpPr>
        <p:spPr>
          <a:xfrm>
            <a:off x="6419088" y="2386584"/>
            <a:ext cx="4931359" cy="292608"/>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Profiling set the requirement precisely, so the surface was built against the right input.</a:t>
            </a:r>
            <a:endParaRPr lang="en-US" sz="1200" dirty="0"/>
          </a:p>
        </p:txBody>
      </p:sp>
      <p:sp>
        <p:nvSpPr>
          <p:cNvPr id="12" name="Shape 10"/>
          <p:cNvSpPr/>
          <p:nvPr/>
        </p:nvSpPr>
        <p:spPr>
          <a:xfrm>
            <a:off x="566928" y="2871216"/>
            <a:ext cx="11057839" cy="621792"/>
          </a:xfrm>
          <a:prstGeom prst="roundRect">
            <a:avLst>
              <a:gd name="adj" fmla="val 11765"/>
            </a:avLst>
          </a:prstGeom>
          <a:solidFill>
            <a:srgbClr val="F1F6F5"/>
          </a:solidFill>
          <a:ln w="12700">
            <a:solidFill>
              <a:srgbClr val="F1F6F5"/>
            </a:solidFill>
            <a:prstDash val="solid"/>
          </a:ln>
        </p:spPr>
      </p:sp>
      <p:sp>
        <p:nvSpPr>
          <p:cNvPr id="13" name="Text 11"/>
          <p:cNvSpPr txBox="1"/>
          <p:nvPr/>
        </p:nvSpPr>
        <p:spPr>
          <a:xfrm>
            <a:off x="822960" y="3054096"/>
            <a:ext cx="3657600" cy="292608"/>
          </a:xfrm>
          <a:prstGeom prst="rect">
            <a:avLst/>
          </a:prstGeom>
          <a:noFill/>
          <a:ln/>
        </p:spPr>
        <p:txBody>
          <a:bodyPr wrap="square" lIns="0" tIns="0" rIns="0" bIns="0" rtlCol="0" anchor="ctr"/>
          <a:lstStyle/>
          <a:p>
            <a:pPr indent="0" marL="0">
              <a:buNone/>
            </a:pPr>
            <a:r>
              <a:rPr lang="en-US" sz="1250" b="1" dirty="0">
                <a:solidFill>
                  <a:srgbClr val="16282B"/>
                </a:solidFill>
                <a:latin typeface="Calibri" pitchFamily="34" charset="0"/>
                <a:ea typeface="Calibri" pitchFamily="34" charset="-122"/>
                <a:cs typeface="Calibri" pitchFamily="34" charset="-120"/>
              </a:rPr>
              <a:t>How the model ports to a new site</a:t>
            </a:r>
            <a:endParaRPr lang="en-US" sz="1250" dirty="0"/>
          </a:p>
        </p:txBody>
      </p:sp>
      <p:sp>
        <p:nvSpPr>
          <p:cNvPr id="14" name="Text 12"/>
          <p:cNvSpPr txBox="1"/>
          <p:nvPr/>
        </p:nvSpPr>
        <p:spPr>
          <a:xfrm>
            <a:off x="4590288" y="3054096"/>
            <a:ext cx="1737360" cy="29260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Retrain locally</a:t>
            </a:r>
            <a:endParaRPr lang="en-US" sz="1250" dirty="0"/>
          </a:p>
        </p:txBody>
      </p:sp>
      <p:sp>
        <p:nvSpPr>
          <p:cNvPr id="15" name="Text 13"/>
          <p:cNvSpPr txBox="1"/>
          <p:nvPr/>
        </p:nvSpPr>
        <p:spPr>
          <a:xfrm>
            <a:off x="6419088" y="3054096"/>
            <a:ext cx="4931359" cy="292608"/>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Measured: the pipeline transfers and reaches 0.670 on a retrain, so each site gets a fitted model.</a:t>
            </a:r>
            <a:endParaRPr lang="en-US" sz="1200" dirty="0"/>
          </a:p>
        </p:txBody>
      </p:sp>
      <p:sp>
        <p:nvSpPr>
          <p:cNvPr id="16" name="Shape 14"/>
          <p:cNvSpPr/>
          <p:nvPr/>
        </p:nvSpPr>
        <p:spPr>
          <a:xfrm>
            <a:off x="566928" y="3538728"/>
            <a:ext cx="11057839" cy="621792"/>
          </a:xfrm>
          <a:prstGeom prst="roundRect">
            <a:avLst>
              <a:gd name="adj" fmla="val 11765"/>
            </a:avLst>
          </a:prstGeom>
          <a:solidFill>
            <a:srgbClr val="FFFFFF"/>
          </a:solidFill>
          <a:ln w="12700">
            <a:solidFill>
              <a:srgbClr val="FFFFFF"/>
            </a:solidFill>
            <a:prstDash val="solid"/>
          </a:ln>
        </p:spPr>
      </p:sp>
      <p:sp>
        <p:nvSpPr>
          <p:cNvPr id="17" name="Text 15"/>
          <p:cNvSpPr txBox="1"/>
          <p:nvPr/>
        </p:nvSpPr>
        <p:spPr>
          <a:xfrm>
            <a:off x="822960" y="3721608"/>
            <a:ext cx="3657600" cy="292608"/>
          </a:xfrm>
          <a:prstGeom prst="rect">
            <a:avLst/>
          </a:prstGeom>
          <a:noFill/>
          <a:ln/>
        </p:spPr>
        <p:txBody>
          <a:bodyPr wrap="square" lIns="0" tIns="0" rIns="0" bIns="0" rtlCol="0" anchor="ctr"/>
          <a:lstStyle/>
          <a:p>
            <a:pPr indent="0" marL="0">
              <a:buNone/>
            </a:pPr>
            <a:r>
              <a:rPr lang="en-US" sz="1250" b="1" dirty="0">
                <a:solidFill>
                  <a:srgbClr val="16282B"/>
                </a:solidFill>
                <a:latin typeface="Calibri" pitchFamily="34" charset="0"/>
                <a:ea typeface="Calibri" pitchFamily="34" charset="-122"/>
                <a:cs typeface="Calibri" pitchFamily="34" charset="-120"/>
              </a:rPr>
              <a:t>How diagnoses attach to a score</a:t>
            </a:r>
            <a:endParaRPr lang="en-US" sz="1250" dirty="0"/>
          </a:p>
        </p:txBody>
      </p:sp>
      <p:sp>
        <p:nvSpPr>
          <p:cNvPr id="18" name="Text 16"/>
          <p:cNvSpPr txBox="1"/>
          <p:nvPr/>
        </p:nvSpPr>
        <p:spPr>
          <a:xfrm>
            <a:off x="4590288" y="3721608"/>
            <a:ext cx="1737360" cy="29260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On the admission key</a:t>
            </a:r>
            <a:endParaRPr lang="en-US" sz="1250" dirty="0"/>
          </a:p>
        </p:txBody>
      </p:sp>
      <p:sp>
        <p:nvSpPr>
          <p:cNvPr id="19" name="Text 17"/>
          <p:cNvSpPr txBox="1"/>
          <p:nvPr/>
        </p:nvSpPr>
        <p:spPr>
          <a:xfrm>
            <a:off x="6419088" y="3721608"/>
            <a:ext cx="4931359" cy="292608"/>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Identity is matched exactly rather than inferred, so every diagnosis belongs to the right stay.</a:t>
            </a:r>
            <a:endParaRPr lang="en-US" sz="1200" dirty="0"/>
          </a:p>
        </p:txBody>
      </p:sp>
      <p:sp>
        <p:nvSpPr>
          <p:cNvPr id="20" name="Shape 18"/>
          <p:cNvSpPr/>
          <p:nvPr/>
        </p:nvSpPr>
        <p:spPr>
          <a:xfrm>
            <a:off x="566928" y="4206240"/>
            <a:ext cx="11057839" cy="621792"/>
          </a:xfrm>
          <a:prstGeom prst="roundRect">
            <a:avLst>
              <a:gd name="adj" fmla="val 11765"/>
            </a:avLst>
          </a:prstGeom>
          <a:solidFill>
            <a:srgbClr val="F1F6F5"/>
          </a:solidFill>
          <a:ln w="12700">
            <a:solidFill>
              <a:srgbClr val="F1F6F5"/>
            </a:solidFill>
            <a:prstDash val="solid"/>
          </a:ln>
        </p:spPr>
      </p:sp>
      <p:sp>
        <p:nvSpPr>
          <p:cNvPr id="21" name="Text 19"/>
          <p:cNvSpPr txBox="1"/>
          <p:nvPr/>
        </p:nvSpPr>
        <p:spPr>
          <a:xfrm>
            <a:off x="822960" y="4389120"/>
            <a:ext cx="3657600" cy="292608"/>
          </a:xfrm>
          <a:prstGeom prst="rect">
            <a:avLst/>
          </a:prstGeom>
          <a:noFill/>
          <a:ln/>
        </p:spPr>
        <p:txBody>
          <a:bodyPr wrap="square" lIns="0" tIns="0" rIns="0" bIns="0" rtlCol="0" anchor="ctr"/>
          <a:lstStyle/>
          <a:p>
            <a:pPr indent="0" marL="0">
              <a:buNone/>
            </a:pPr>
            <a:r>
              <a:rPr lang="en-US" sz="1250" b="1" dirty="0">
                <a:solidFill>
                  <a:srgbClr val="16282B"/>
                </a:solidFill>
                <a:latin typeface="Calibri" pitchFamily="34" charset="0"/>
                <a:ea typeface="Calibri" pitchFamily="34" charset="-122"/>
                <a:cs typeface="Calibri" pitchFamily="34" charset="-120"/>
              </a:rPr>
              <a:t>Which runtime to serve on</a:t>
            </a:r>
            <a:endParaRPr lang="en-US" sz="1250" dirty="0"/>
          </a:p>
        </p:txBody>
      </p:sp>
      <p:sp>
        <p:nvSpPr>
          <p:cNvPr id="22" name="Text 20"/>
          <p:cNvSpPr txBox="1"/>
          <p:nvPr/>
        </p:nvSpPr>
        <p:spPr>
          <a:xfrm>
            <a:off x="4590288" y="4389120"/>
            <a:ext cx="1737360" cy="29260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Current environment</a:t>
            </a:r>
            <a:endParaRPr lang="en-US" sz="1250" dirty="0"/>
          </a:p>
        </p:txBody>
      </p:sp>
      <p:sp>
        <p:nvSpPr>
          <p:cNvPr id="23" name="Text 21"/>
          <p:cNvSpPr txBox="1"/>
          <p:nvPr/>
        </p:nvSpPr>
        <p:spPr>
          <a:xfrm>
            <a:off x="6419088" y="4389120"/>
            <a:ext cx="4931359" cy="292608"/>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Predictions confirmed bitwise-identical to the training environment across 3,000 rows.</a:t>
            </a:r>
            <a:endParaRPr lang="en-US" sz="1200" dirty="0"/>
          </a:p>
        </p:txBody>
      </p:sp>
      <p:sp>
        <p:nvSpPr>
          <p:cNvPr id="24" name="Shape 22"/>
          <p:cNvSpPr/>
          <p:nvPr/>
        </p:nvSpPr>
        <p:spPr>
          <a:xfrm>
            <a:off x="566928" y="4873752"/>
            <a:ext cx="11057839" cy="621792"/>
          </a:xfrm>
          <a:prstGeom prst="roundRect">
            <a:avLst>
              <a:gd name="adj" fmla="val 11765"/>
            </a:avLst>
          </a:prstGeom>
          <a:solidFill>
            <a:srgbClr val="FFFFFF"/>
          </a:solidFill>
          <a:ln w="12700">
            <a:solidFill>
              <a:srgbClr val="FFFFFF"/>
            </a:solidFill>
            <a:prstDash val="solid"/>
          </a:ln>
        </p:spPr>
      </p:sp>
      <p:sp>
        <p:nvSpPr>
          <p:cNvPr id="25" name="Text 23"/>
          <p:cNvSpPr txBox="1"/>
          <p:nvPr/>
        </p:nvSpPr>
        <p:spPr>
          <a:xfrm>
            <a:off x="822960" y="5056632"/>
            <a:ext cx="3657600" cy="292608"/>
          </a:xfrm>
          <a:prstGeom prst="rect">
            <a:avLst/>
          </a:prstGeom>
          <a:noFill/>
          <a:ln/>
        </p:spPr>
        <p:txBody>
          <a:bodyPr wrap="square" lIns="0" tIns="0" rIns="0" bIns="0" rtlCol="0" anchor="ctr"/>
          <a:lstStyle/>
          <a:p>
            <a:pPr indent="0" marL="0">
              <a:buNone/>
            </a:pPr>
            <a:r>
              <a:rPr lang="en-US" sz="1250" b="1" dirty="0">
                <a:solidFill>
                  <a:srgbClr val="16282B"/>
                </a:solidFill>
                <a:latin typeface="Calibri" pitchFamily="34" charset="0"/>
                <a:ea typeface="Calibri" pitchFamily="34" charset="-122"/>
                <a:cs typeface="Calibri" pitchFamily="34" charset="-120"/>
              </a:rPr>
              <a:t>How to combine claims and clinical</a:t>
            </a:r>
            <a:endParaRPr lang="en-US" sz="1250" dirty="0"/>
          </a:p>
        </p:txBody>
      </p:sp>
      <p:sp>
        <p:nvSpPr>
          <p:cNvPr id="26" name="Text 24"/>
          <p:cNvSpPr txBox="1"/>
          <p:nvPr/>
        </p:nvSpPr>
        <p:spPr>
          <a:xfrm>
            <a:off x="4590288" y="5056632"/>
            <a:ext cx="1737360" cy="29260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Late fusion</a:t>
            </a:r>
            <a:endParaRPr lang="en-US" sz="1250" dirty="0"/>
          </a:p>
        </p:txBody>
      </p:sp>
      <p:sp>
        <p:nvSpPr>
          <p:cNvPr id="27" name="Text 25"/>
          <p:cNvSpPr txBox="1"/>
          <p:nvPr/>
        </p:nvSpPr>
        <p:spPr>
          <a:xfrm>
            <a:off x="6419088" y="5056632"/>
            <a:ext cx="4931359" cy="292608"/>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Two calibrated experts and a fusion layer, with calibration as the prerequisite.</a:t>
            </a:r>
            <a:endParaRPr lang="en-US" sz="1200" dirty="0"/>
          </a:p>
        </p:txBody>
      </p:sp>
      <p:sp>
        <p:nvSpPr>
          <p:cNvPr id="28" name="Shape 26"/>
          <p:cNvSpPr/>
          <p:nvPr/>
        </p:nvSpPr>
        <p:spPr>
          <a:xfrm>
            <a:off x="566928" y="5541264"/>
            <a:ext cx="11057839" cy="621792"/>
          </a:xfrm>
          <a:prstGeom prst="roundRect">
            <a:avLst>
              <a:gd name="adj" fmla="val 11765"/>
            </a:avLst>
          </a:prstGeom>
          <a:solidFill>
            <a:srgbClr val="F1F6F5"/>
          </a:solidFill>
          <a:ln w="12700">
            <a:solidFill>
              <a:srgbClr val="F1F6F5"/>
            </a:solidFill>
            <a:prstDash val="solid"/>
          </a:ln>
        </p:spPr>
      </p:sp>
      <p:sp>
        <p:nvSpPr>
          <p:cNvPr id="29" name="Text 27"/>
          <p:cNvSpPr txBox="1"/>
          <p:nvPr/>
        </p:nvSpPr>
        <p:spPr>
          <a:xfrm>
            <a:off x="822960" y="5724144"/>
            <a:ext cx="3657600" cy="292608"/>
          </a:xfrm>
          <a:prstGeom prst="rect">
            <a:avLst/>
          </a:prstGeom>
          <a:noFill/>
          <a:ln/>
        </p:spPr>
        <p:txBody>
          <a:bodyPr wrap="square" lIns="0" tIns="0" rIns="0" bIns="0" rtlCol="0" anchor="ctr"/>
          <a:lstStyle/>
          <a:p>
            <a:pPr indent="0" marL="0">
              <a:buNone/>
            </a:pPr>
            <a:r>
              <a:rPr lang="en-US" sz="1250" b="1" dirty="0">
                <a:solidFill>
                  <a:srgbClr val="16282B"/>
                </a:solidFill>
                <a:latin typeface="Calibri" pitchFamily="34" charset="0"/>
                <a:ea typeface="Calibri" pitchFamily="34" charset="-122"/>
                <a:cs typeface="Calibri" pitchFamily="34" charset="-120"/>
              </a:rPr>
              <a:t>How to keep improving from here</a:t>
            </a:r>
            <a:endParaRPr lang="en-US" sz="1250" dirty="0"/>
          </a:p>
        </p:txBody>
      </p:sp>
      <p:sp>
        <p:nvSpPr>
          <p:cNvPr id="30" name="Text 28"/>
          <p:cNvSpPr txBox="1"/>
          <p:nvPr/>
        </p:nvSpPr>
        <p:spPr>
          <a:xfrm>
            <a:off x="4590288" y="5724144"/>
            <a:ext cx="1737360" cy="29260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Data-centric</a:t>
            </a:r>
            <a:endParaRPr lang="en-US" sz="1250" dirty="0"/>
          </a:p>
        </p:txBody>
      </p:sp>
      <p:sp>
        <p:nvSpPr>
          <p:cNvPr id="31" name="Text 29"/>
          <p:cNvSpPr txBox="1"/>
          <p:nvPr/>
        </p:nvSpPr>
        <p:spPr>
          <a:xfrm>
            <a:off x="6419088" y="5724144"/>
            <a:ext cx="4931359" cy="292608"/>
          </a:xfrm>
          <a:prstGeom prst="rect">
            <a:avLst/>
          </a:prstGeom>
          <a:noFill/>
          <a:ln/>
        </p:spPr>
        <p:txBody>
          <a:bodyPr wrap="square" lIns="0" tIns="0" rIns="0" bIns="0" rtlCol="0" anchor="ctr"/>
          <a:lstStyle/>
          <a:p>
            <a:pPr indent="0" marL="0">
              <a:buNone/>
            </a:pPr>
            <a:r>
              <a:rPr lang="en-US" sz="1200" dirty="0">
                <a:solidFill>
                  <a:srgbClr val="5E7175"/>
                </a:solidFill>
                <a:latin typeface="Calibri" pitchFamily="34" charset="0"/>
                <a:ea typeface="Calibri" pitchFamily="34" charset="-122"/>
                <a:cs typeface="Calibri" pitchFamily="34" charset="-120"/>
              </a:rPr>
              <a:t>Rank rather than classify, deterministic guardrails, and richer inputs at the source.</a:t>
            </a:r>
            <a:endParaRPr lang="en-US" sz="1200" dirty="0"/>
          </a:p>
        </p:txBody>
      </p:sp>
      <p:sp>
        <p:nvSpPr>
          <p:cNvPr id="32" name="Text 30"/>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1000" i="1" dirty="0">
                <a:solidFill>
                  <a:srgbClr val="5E7175"/>
                </a:solidFill>
                <a:latin typeface="Calibri" pitchFamily="34" charset="0"/>
                <a:ea typeface="Calibri" pitchFamily="34" charset="-122"/>
                <a:cs typeface="Calibri" pitchFamily="34" charset="-120"/>
              </a:rPr>
              <a:t>Each call was settled by a measurement rather than an assumption, which is what makes them durable.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ROADMAP</a:t>
            </a:r>
            <a:endParaRPr lang="en-US" sz="1100" dirty="0"/>
          </a:p>
        </p:txBody>
      </p:sp>
      <p:sp>
        <p:nvSpPr>
          <p:cNvPr id="3" name="Text 1"/>
          <p:cNvSpPr txBox="1"/>
          <p:nvPr/>
        </p:nvSpPr>
        <p:spPr>
          <a:xfrm>
            <a:off x="566928" y="566928"/>
            <a:ext cx="11057839" cy="658368"/>
          </a:xfrm>
          <a:prstGeom prst="rect">
            <a:avLst/>
          </a:prstGeom>
          <a:noFill/>
          <a:ln/>
        </p:spPr>
        <p:txBody>
          <a:bodyPr wrap="square" lIns="0" tIns="0" rIns="0" bIns="0" rtlCol="0" anchor="ctr"/>
          <a:lstStyle/>
          <a:p>
            <a:pPr indent="0" marL="0">
              <a:buNone/>
            </a:pPr>
            <a:r>
              <a:rPr lang="en-US" sz="3200" b="1" dirty="0">
                <a:solidFill>
                  <a:srgbClr val="16282B"/>
                </a:solidFill>
                <a:latin typeface="Cambria" pitchFamily="34" charset="0"/>
                <a:ea typeface="Cambria" pitchFamily="34" charset="-122"/>
                <a:cs typeface="Cambria" pitchFamily="34" charset="-120"/>
              </a:rPr>
              <a:t>What comes next</a:t>
            </a:r>
            <a:endParaRPr lang="en-US" sz="3200" dirty="0"/>
          </a:p>
        </p:txBody>
      </p:sp>
      <p:sp>
        <p:nvSpPr>
          <p:cNvPr id="4" name="Shape 2"/>
          <p:cNvSpPr/>
          <p:nvPr/>
        </p:nvSpPr>
        <p:spPr>
          <a:xfrm>
            <a:off x="566928" y="1536192"/>
            <a:ext cx="5323180" cy="1097280"/>
          </a:xfrm>
          <a:prstGeom prst="roundRect">
            <a:avLst>
              <a:gd name="adj" fmla="val 6667"/>
            </a:avLst>
          </a:prstGeom>
          <a:solidFill>
            <a:srgbClr val="F1F6F5"/>
          </a:solidFill>
          <a:ln w="12700">
            <a:solidFill>
              <a:srgbClr val="F1F6F5"/>
            </a:solidFill>
            <a:prstDash val="solid"/>
          </a:ln>
        </p:spPr>
      </p:sp>
      <p:sp>
        <p:nvSpPr>
          <p:cNvPr id="5" name="Shape 3"/>
          <p:cNvSpPr/>
          <p:nvPr/>
        </p:nvSpPr>
        <p:spPr>
          <a:xfrm>
            <a:off x="822960" y="1810512"/>
            <a:ext cx="420624" cy="420624"/>
          </a:xfrm>
          <a:prstGeom prst="ellipse">
            <a:avLst/>
          </a:prstGeom>
          <a:solidFill>
            <a:srgbClr val="028090"/>
          </a:solidFill>
          <a:ln/>
        </p:spPr>
      </p:sp>
      <p:sp>
        <p:nvSpPr>
          <p:cNvPr id="6" name="Text 4"/>
          <p:cNvSpPr txBox="1"/>
          <p:nvPr/>
        </p:nvSpPr>
        <p:spPr>
          <a:xfrm>
            <a:off x="822960" y="181051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408176" y="1691640"/>
            <a:ext cx="4225900" cy="320040"/>
          </a:xfrm>
          <a:prstGeom prst="rect">
            <a:avLst/>
          </a:prstGeom>
          <a:noFill/>
          <a:ln/>
        </p:spPr>
        <p:txBody>
          <a:bodyPr wrap="square" lIns="0" tIns="0" rIns="0" bIns="0" rtlCol="0" anchor="ctr"/>
          <a:lstStyle/>
          <a:p>
            <a:pPr indent="0" marL="0">
              <a:buNone/>
            </a:pPr>
            <a:r>
              <a:rPr lang="en-US" sz="1350" b="1" dirty="0">
                <a:solidFill>
                  <a:srgbClr val="16282B"/>
                </a:solidFill>
                <a:latin typeface="Calibri" pitchFamily="34" charset="0"/>
                <a:ea typeface="Calibri" pitchFamily="34" charset="-122"/>
                <a:cs typeface="Calibri" pitchFamily="34" charset="-120"/>
              </a:rPr>
              <a:t>Connect a live monitoring feed</a:t>
            </a:r>
            <a:endParaRPr lang="en-US" sz="1350" dirty="0"/>
          </a:p>
        </p:txBody>
      </p:sp>
      <p:sp>
        <p:nvSpPr>
          <p:cNvPr id="8" name="Text 6"/>
          <p:cNvSpPr txBox="1"/>
          <p:nvPr/>
        </p:nvSpPr>
        <p:spPr>
          <a:xfrm>
            <a:off x="1408176" y="2029968"/>
            <a:ext cx="4225900" cy="548640"/>
          </a:xfrm>
          <a:prstGeom prst="rect">
            <a:avLst/>
          </a:prstGeom>
          <a:noFill/>
          <a:ln/>
        </p:spPr>
        <p:txBody>
          <a:bodyPr wrap="square" lIns="0" tIns="0" rIns="0" bIns="0" rtlCol="0" anchor="ctr"/>
          <a:lstStyle/>
          <a:p>
            <a:pPr indent="0" marL="0">
              <a:lnSpc>
                <a:spcPts val="1400"/>
              </a:lnSpc>
              <a:buNone/>
            </a:pPr>
            <a:r>
              <a:rPr lang="en-US" sz="1150" dirty="0">
                <a:solidFill>
                  <a:srgbClr val="5E7175"/>
                </a:solidFill>
                <a:latin typeface="Calibri" pitchFamily="34" charset="0"/>
                <a:ea typeface="Calibri" pitchFamily="34" charset="-122"/>
                <a:cs typeface="Calibri" pitchFamily="34" charset="-120"/>
              </a:rPr>
              <a:t>The weekly surface, endpoints and per-week explanations are built. A telemetry or wearables feed makes the experience live.</a:t>
            </a:r>
            <a:endParaRPr lang="en-US" sz="1150" dirty="0"/>
          </a:p>
        </p:txBody>
      </p:sp>
      <p:sp>
        <p:nvSpPr>
          <p:cNvPr id="9" name="Shape 7"/>
          <p:cNvSpPr/>
          <p:nvPr/>
        </p:nvSpPr>
        <p:spPr>
          <a:xfrm>
            <a:off x="566928" y="2724912"/>
            <a:ext cx="5323180" cy="1097280"/>
          </a:xfrm>
          <a:prstGeom prst="roundRect">
            <a:avLst>
              <a:gd name="adj" fmla="val 6667"/>
            </a:avLst>
          </a:prstGeom>
          <a:solidFill>
            <a:srgbClr val="F1F6F5"/>
          </a:solidFill>
          <a:ln w="12700">
            <a:solidFill>
              <a:srgbClr val="F1F6F5"/>
            </a:solidFill>
            <a:prstDash val="solid"/>
          </a:ln>
        </p:spPr>
      </p:sp>
      <p:sp>
        <p:nvSpPr>
          <p:cNvPr id="10" name="Shape 8"/>
          <p:cNvSpPr/>
          <p:nvPr/>
        </p:nvSpPr>
        <p:spPr>
          <a:xfrm>
            <a:off x="822960" y="2999232"/>
            <a:ext cx="420624" cy="420624"/>
          </a:xfrm>
          <a:prstGeom prst="ellipse">
            <a:avLst/>
          </a:prstGeom>
          <a:solidFill>
            <a:srgbClr val="028090"/>
          </a:solidFill>
          <a:ln/>
        </p:spPr>
      </p:sp>
      <p:sp>
        <p:nvSpPr>
          <p:cNvPr id="11" name="Text 9"/>
          <p:cNvSpPr txBox="1"/>
          <p:nvPr/>
        </p:nvSpPr>
        <p:spPr>
          <a:xfrm>
            <a:off x="822960" y="29992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408176" y="2880360"/>
            <a:ext cx="4225900" cy="320040"/>
          </a:xfrm>
          <a:prstGeom prst="rect">
            <a:avLst/>
          </a:prstGeom>
          <a:noFill/>
          <a:ln/>
        </p:spPr>
        <p:txBody>
          <a:bodyPr wrap="square" lIns="0" tIns="0" rIns="0" bIns="0" rtlCol="0" anchor="ctr"/>
          <a:lstStyle/>
          <a:p>
            <a:pPr indent="0" marL="0">
              <a:buNone/>
            </a:pPr>
            <a:r>
              <a:rPr lang="en-US" sz="1350" b="1" dirty="0">
                <a:solidFill>
                  <a:srgbClr val="16282B"/>
                </a:solidFill>
                <a:latin typeface="Calibri" pitchFamily="34" charset="0"/>
                <a:ea typeface="Calibri" pitchFamily="34" charset="-122"/>
                <a:cs typeface="Calibri" pitchFamily="34" charset="-120"/>
              </a:rPr>
              <a:t>Migrate the scheduled batch run</a:t>
            </a:r>
            <a:endParaRPr lang="en-US" sz="1350" dirty="0"/>
          </a:p>
        </p:txBody>
      </p:sp>
      <p:sp>
        <p:nvSpPr>
          <p:cNvPr id="13" name="Text 11"/>
          <p:cNvSpPr txBox="1"/>
          <p:nvPr/>
        </p:nvSpPr>
        <p:spPr>
          <a:xfrm>
            <a:off x="1408176" y="3218688"/>
            <a:ext cx="4225900" cy="548640"/>
          </a:xfrm>
          <a:prstGeom prst="rect">
            <a:avLst/>
          </a:prstGeom>
          <a:noFill/>
          <a:ln/>
        </p:spPr>
        <p:txBody>
          <a:bodyPr wrap="square" lIns="0" tIns="0" rIns="0" bIns="0" rtlCol="0" anchor="ctr"/>
          <a:lstStyle/>
          <a:p>
            <a:pPr indent="0" marL="0">
              <a:lnSpc>
                <a:spcPts val="1400"/>
              </a:lnSpc>
              <a:buNone/>
            </a:pPr>
            <a:r>
              <a:rPr lang="en-US" sz="1150" dirty="0">
                <a:solidFill>
                  <a:srgbClr val="5E7175"/>
                </a:solidFill>
                <a:latin typeface="Calibri" pitchFamily="34" charset="0"/>
                <a:ea typeface="Calibri" pitchFamily="34" charset="-122"/>
                <a:cs typeface="Calibri" pitchFamily="34" charset="-120"/>
              </a:rPr>
              <a:t>The API and dashboard already run on the MIMIC scoring path; moving the batch job onto it completes the migration.</a:t>
            </a:r>
            <a:endParaRPr lang="en-US" sz="1150" dirty="0"/>
          </a:p>
        </p:txBody>
      </p:sp>
      <p:sp>
        <p:nvSpPr>
          <p:cNvPr id="14" name="Shape 12"/>
          <p:cNvSpPr/>
          <p:nvPr/>
        </p:nvSpPr>
        <p:spPr>
          <a:xfrm>
            <a:off x="566928" y="3913632"/>
            <a:ext cx="5323180" cy="1097280"/>
          </a:xfrm>
          <a:prstGeom prst="roundRect">
            <a:avLst>
              <a:gd name="adj" fmla="val 6667"/>
            </a:avLst>
          </a:prstGeom>
          <a:solidFill>
            <a:srgbClr val="F1F6F5"/>
          </a:solidFill>
          <a:ln w="12700">
            <a:solidFill>
              <a:srgbClr val="F1F6F5"/>
            </a:solidFill>
            <a:prstDash val="solid"/>
          </a:ln>
        </p:spPr>
      </p:sp>
      <p:sp>
        <p:nvSpPr>
          <p:cNvPr id="15" name="Shape 13"/>
          <p:cNvSpPr/>
          <p:nvPr/>
        </p:nvSpPr>
        <p:spPr>
          <a:xfrm>
            <a:off x="822960" y="4187952"/>
            <a:ext cx="420624" cy="420624"/>
          </a:xfrm>
          <a:prstGeom prst="ellipse">
            <a:avLst/>
          </a:prstGeom>
          <a:solidFill>
            <a:srgbClr val="028090"/>
          </a:solidFill>
          <a:ln/>
        </p:spPr>
      </p:sp>
      <p:sp>
        <p:nvSpPr>
          <p:cNvPr id="16" name="Text 14"/>
          <p:cNvSpPr txBox="1"/>
          <p:nvPr/>
        </p:nvSpPr>
        <p:spPr>
          <a:xfrm>
            <a:off x="822960" y="418795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408176" y="4069080"/>
            <a:ext cx="4225900" cy="320040"/>
          </a:xfrm>
          <a:prstGeom prst="rect">
            <a:avLst/>
          </a:prstGeom>
          <a:noFill/>
          <a:ln/>
        </p:spPr>
        <p:txBody>
          <a:bodyPr wrap="square" lIns="0" tIns="0" rIns="0" bIns="0" rtlCol="0" anchor="ctr"/>
          <a:lstStyle/>
          <a:p>
            <a:pPr indent="0" marL="0">
              <a:buNone/>
            </a:pPr>
            <a:r>
              <a:rPr lang="en-US" sz="1350" b="1" dirty="0">
                <a:solidFill>
                  <a:srgbClr val="16282B"/>
                </a:solidFill>
                <a:latin typeface="Calibri" pitchFamily="34" charset="0"/>
                <a:ea typeface="Calibri" pitchFamily="34" charset="-122"/>
                <a:cs typeface="Calibri" pitchFamily="34" charset="-120"/>
              </a:rPr>
              <a:t>Attach diagnoses cohort-wide</a:t>
            </a:r>
            <a:endParaRPr lang="en-US" sz="1350" dirty="0"/>
          </a:p>
        </p:txBody>
      </p:sp>
      <p:sp>
        <p:nvSpPr>
          <p:cNvPr id="18" name="Text 16"/>
          <p:cNvSpPr txBox="1"/>
          <p:nvPr/>
        </p:nvSpPr>
        <p:spPr>
          <a:xfrm>
            <a:off x="1408176" y="4407408"/>
            <a:ext cx="4225900" cy="548640"/>
          </a:xfrm>
          <a:prstGeom prst="rect">
            <a:avLst/>
          </a:prstGeom>
          <a:noFill/>
          <a:ln/>
        </p:spPr>
        <p:txBody>
          <a:bodyPr wrap="square" lIns="0" tIns="0" rIns="0" bIns="0" rtlCol="0" anchor="ctr"/>
          <a:lstStyle/>
          <a:p>
            <a:pPr indent="0" marL="0">
              <a:lnSpc>
                <a:spcPts val="1400"/>
              </a:lnSpc>
              <a:buNone/>
            </a:pPr>
            <a:r>
              <a:rPr lang="en-US" sz="1150" dirty="0">
                <a:solidFill>
                  <a:srgbClr val="5E7175"/>
                </a:solidFill>
                <a:latin typeface="Calibri" pitchFamily="34" charset="0"/>
                <a:ea typeface="Calibri" pitchFamily="34" charset="-122"/>
                <a:cs typeface="Calibri" pitchFamily="34" charset="-120"/>
              </a:rPr>
              <a:t>Carrying the admission id through the training matrix adds principal-diagnosis context to every scored patient.</a:t>
            </a:r>
            <a:endParaRPr lang="en-US" sz="1150" dirty="0"/>
          </a:p>
        </p:txBody>
      </p:sp>
      <p:sp>
        <p:nvSpPr>
          <p:cNvPr id="19" name="Shape 17"/>
          <p:cNvSpPr/>
          <p:nvPr/>
        </p:nvSpPr>
        <p:spPr>
          <a:xfrm>
            <a:off x="566928" y="5102352"/>
            <a:ext cx="5323180" cy="1097280"/>
          </a:xfrm>
          <a:prstGeom prst="roundRect">
            <a:avLst>
              <a:gd name="adj" fmla="val 6667"/>
            </a:avLst>
          </a:prstGeom>
          <a:solidFill>
            <a:srgbClr val="F1F6F5"/>
          </a:solidFill>
          <a:ln w="12700">
            <a:solidFill>
              <a:srgbClr val="F1F6F5"/>
            </a:solidFill>
            <a:prstDash val="solid"/>
          </a:ln>
        </p:spPr>
      </p:sp>
      <p:sp>
        <p:nvSpPr>
          <p:cNvPr id="20" name="Shape 18"/>
          <p:cNvSpPr/>
          <p:nvPr/>
        </p:nvSpPr>
        <p:spPr>
          <a:xfrm>
            <a:off x="822960" y="5376672"/>
            <a:ext cx="420624" cy="420624"/>
          </a:xfrm>
          <a:prstGeom prst="ellipse">
            <a:avLst/>
          </a:prstGeom>
          <a:solidFill>
            <a:srgbClr val="028090"/>
          </a:solidFill>
          <a:ln/>
        </p:spPr>
      </p:sp>
      <p:sp>
        <p:nvSpPr>
          <p:cNvPr id="21" name="Text 19"/>
          <p:cNvSpPr txBox="1"/>
          <p:nvPr/>
        </p:nvSpPr>
        <p:spPr>
          <a:xfrm>
            <a:off x="822960" y="537667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408176" y="5257800"/>
            <a:ext cx="4225900" cy="320040"/>
          </a:xfrm>
          <a:prstGeom prst="rect">
            <a:avLst/>
          </a:prstGeom>
          <a:noFill/>
          <a:ln/>
        </p:spPr>
        <p:txBody>
          <a:bodyPr wrap="square" lIns="0" tIns="0" rIns="0" bIns="0" rtlCol="0" anchor="ctr"/>
          <a:lstStyle/>
          <a:p>
            <a:pPr indent="0" marL="0">
              <a:buNone/>
            </a:pPr>
            <a:r>
              <a:rPr lang="en-US" sz="1350" b="1" dirty="0">
                <a:solidFill>
                  <a:srgbClr val="16282B"/>
                </a:solidFill>
                <a:latin typeface="Calibri" pitchFamily="34" charset="0"/>
                <a:ea typeface="Calibri" pitchFamily="34" charset="-122"/>
                <a:cs typeface="Calibri" pitchFamily="34" charset="-120"/>
              </a:rPr>
              <a:t>Deploy to a partner health system</a:t>
            </a:r>
            <a:endParaRPr lang="en-US" sz="1350" dirty="0"/>
          </a:p>
        </p:txBody>
      </p:sp>
      <p:sp>
        <p:nvSpPr>
          <p:cNvPr id="23" name="Text 21"/>
          <p:cNvSpPr txBox="1"/>
          <p:nvPr/>
        </p:nvSpPr>
        <p:spPr>
          <a:xfrm>
            <a:off x="1408176" y="5596128"/>
            <a:ext cx="4225900" cy="548640"/>
          </a:xfrm>
          <a:prstGeom prst="rect">
            <a:avLst/>
          </a:prstGeom>
          <a:noFill/>
          <a:ln/>
        </p:spPr>
        <p:txBody>
          <a:bodyPr wrap="square" lIns="0" tIns="0" rIns="0" bIns="0" rtlCol="0" anchor="ctr"/>
          <a:lstStyle/>
          <a:p>
            <a:pPr indent="0" marL="0">
              <a:lnSpc>
                <a:spcPts val="1400"/>
              </a:lnSpc>
              <a:buNone/>
            </a:pPr>
            <a:r>
              <a:rPr lang="en-US" sz="1150" dirty="0">
                <a:solidFill>
                  <a:srgbClr val="5E7175"/>
                </a:solidFill>
                <a:latin typeface="Calibri" pitchFamily="34" charset="0"/>
                <a:ea typeface="Calibri" pitchFamily="34" charset="-122"/>
                <a:cs typeface="Calibri" pitchFamily="34" charset="-120"/>
              </a:rPr>
              <a:t>The pipeline is what ports, so onboarding a site means retraining on local data with the same code.</a:t>
            </a:r>
            <a:endParaRPr lang="en-US" sz="1150" dirty="0"/>
          </a:p>
        </p:txBody>
      </p:sp>
      <p:sp>
        <p:nvSpPr>
          <p:cNvPr id="24" name="Shape 22"/>
          <p:cNvSpPr/>
          <p:nvPr/>
        </p:nvSpPr>
        <p:spPr>
          <a:xfrm>
            <a:off x="6301588" y="1536192"/>
            <a:ext cx="5323180" cy="1097280"/>
          </a:xfrm>
          <a:prstGeom prst="roundRect">
            <a:avLst>
              <a:gd name="adj" fmla="val 6667"/>
            </a:avLst>
          </a:prstGeom>
          <a:solidFill>
            <a:srgbClr val="F1F6F5"/>
          </a:solidFill>
          <a:ln w="12700">
            <a:solidFill>
              <a:srgbClr val="F1F6F5"/>
            </a:solidFill>
            <a:prstDash val="solid"/>
          </a:ln>
        </p:spPr>
      </p:sp>
      <p:sp>
        <p:nvSpPr>
          <p:cNvPr id="25" name="Shape 23"/>
          <p:cNvSpPr/>
          <p:nvPr/>
        </p:nvSpPr>
        <p:spPr>
          <a:xfrm>
            <a:off x="6557620" y="1810512"/>
            <a:ext cx="420624" cy="420624"/>
          </a:xfrm>
          <a:prstGeom prst="ellipse">
            <a:avLst/>
          </a:prstGeom>
          <a:solidFill>
            <a:srgbClr val="00A896"/>
          </a:solidFill>
          <a:ln/>
        </p:spPr>
      </p:sp>
      <p:sp>
        <p:nvSpPr>
          <p:cNvPr id="26" name="Text 24"/>
          <p:cNvSpPr txBox="1"/>
          <p:nvPr/>
        </p:nvSpPr>
        <p:spPr>
          <a:xfrm>
            <a:off x="6557620" y="181051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7142836" y="1691640"/>
            <a:ext cx="4225900" cy="320040"/>
          </a:xfrm>
          <a:prstGeom prst="rect">
            <a:avLst/>
          </a:prstGeom>
          <a:noFill/>
          <a:ln/>
        </p:spPr>
        <p:txBody>
          <a:bodyPr wrap="square" lIns="0" tIns="0" rIns="0" bIns="0" rtlCol="0" anchor="ctr"/>
          <a:lstStyle/>
          <a:p>
            <a:pPr indent="0" marL="0">
              <a:buNone/>
            </a:pPr>
            <a:r>
              <a:rPr lang="en-US" sz="1350" b="1" dirty="0">
                <a:solidFill>
                  <a:srgbClr val="16282B"/>
                </a:solidFill>
                <a:latin typeface="Calibri" pitchFamily="34" charset="0"/>
                <a:ea typeface="Calibri" pitchFamily="34" charset="-122"/>
                <a:cs typeface="Calibri" pitchFamily="34" charset="-120"/>
              </a:rPr>
              <a:t>Authentication and role-based access</a:t>
            </a:r>
            <a:endParaRPr lang="en-US" sz="1350" dirty="0"/>
          </a:p>
        </p:txBody>
      </p:sp>
      <p:sp>
        <p:nvSpPr>
          <p:cNvPr id="28" name="Text 26"/>
          <p:cNvSpPr txBox="1"/>
          <p:nvPr/>
        </p:nvSpPr>
        <p:spPr>
          <a:xfrm>
            <a:off x="7142836" y="2029968"/>
            <a:ext cx="4225900" cy="548640"/>
          </a:xfrm>
          <a:prstGeom prst="rect">
            <a:avLst/>
          </a:prstGeom>
          <a:noFill/>
          <a:ln/>
        </p:spPr>
        <p:txBody>
          <a:bodyPr wrap="square" lIns="0" tIns="0" rIns="0" bIns="0" rtlCol="0" anchor="ctr"/>
          <a:lstStyle/>
          <a:p>
            <a:pPr indent="0" marL="0">
              <a:lnSpc>
                <a:spcPts val="1400"/>
              </a:lnSpc>
              <a:buNone/>
            </a:pPr>
            <a:r>
              <a:rPr lang="en-US" sz="1150" dirty="0">
                <a:solidFill>
                  <a:srgbClr val="5E7175"/>
                </a:solidFill>
                <a:latin typeface="Calibri" pitchFamily="34" charset="0"/>
                <a:ea typeface="Calibri" pitchFamily="34" charset="-122"/>
                <a:cs typeface="Calibri" pitchFamily="34" charset="-120"/>
              </a:rPr>
              <a:t>Patient, investor and care-provider roles, so each audience sees exactly the surface intended for them.</a:t>
            </a:r>
            <a:endParaRPr lang="en-US" sz="1150" dirty="0"/>
          </a:p>
        </p:txBody>
      </p:sp>
      <p:sp>
        <p:nvSpPr>
          <p:cNvPr id="29" name="Shape 27"/>
          <p:cNvSpPr/>
          <p:nvPr/>
        </p:nvSpPr>
        <p:spPr>
          <a:xfrm>
            <a:off x="6301588" y="2724912"/>
            <a:ext cx="5323180" cy="1097280"/>
          </a:xfrm>
          <a:prstGeom prst="roundRect">
            <a:avLst>
              <a:gd name="adj" fmla="val 6667"/>
            </a:avLst>
          </a:prstGeom>
          <a:solidFill>
            <a:srgbClr val="F1F6F5"/>
          </a:solidFill>
          <a:ln w="12700">
            <a:solidFill>
              <a:srgbClr val="F1F6F5"/>
            </a:solidFill>
            <a:prstDash val="solid"/>
          </a:ln>
        </p:spPr>
      </p:sp>
      <p:sp>
        <p:nvSpPr>
          <p:cNvPr id="30" name="Shape 28"/>
          <p:cNvSpPr/>
          <p:nvPr/>
        </p:nvSpPr>
        <p:spPr>
          <a:xfrm>
            <a:off x="6557620" y="2999232"/>
            <a:ext cx="420624" cy="420624"/>
          </a:xfrm>
          <a:prstGeom prst="ellipse">
            <a:avLst/>
          </a:prstGeom>
          <a:solidFill>
            <a:srgbClr val="00A896"/>
          </a:solidFill>
          <a:ln/>
        </p:spPr>
      </p:sp>
      <p:sp>
        <p:nvSpPr>
          <p:cNvPr id="31" name="Text 29"/>
          <p:cNvSpPr txBox="1"/>
          <p:nvPr/>
        </p:nvSpPr>
        <p:spPr>
          <a:xfrm>
            <a:off x="6557620" y="29992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txBox="1"/>
          <p:nvPr/>
        </p:nvSpPr>
        <p:spPr>
          <a:xfrm>
            <a:off x="7142836" y="2880360"/>
            <a:ext cx="4225900" cy="320040"/>
          </a:xfrm>
          <a:prstGeom prst="rect">
            <a:avLst/>
          </a:prstGeom>
          <a:noFill/>
          <a:ln/>
        </p:spPr>
        <p:txBody>
          <a:bodyPr wrap="square" lIns="0" tIns="0" rIns="0" bIns="0" rtlCol="0" anchor="ctr"/>
          <a:lstStyle/>
          <a:p>
            <a:pPr indent="0" marL="0">
              <a:buNone/>
            </a:pPr>
            <a:r>
              <a:rPr lang="en-US" sz="1350" b="1" dirty="0">
                <a:solidFill>
                  <a:srgbClr val="16282B"/>
                </a:solidFill>
                <a:latin typeface="Calibri" pitchFamily="34" charset="0"/>
                <a:ea typeface="Calibri" pitchFamily="34" charset="-122"/>
                <a:cs typeface="Calibri" pitchFamily="34" charset="-120"/>
              </a:rPr>
              <a:t>Broaden the driver vocabulary</a:t>
            </a:r>
            <a:endParaRPr lang="en-US" sz="1350" dirty="0"/>
          </a:p>
        </p:txBody>
      </p:sp>
      <p:sp>
        <p:nvSpPr>
          <p:cNvPr id="33" name="Text 31"/>
          <p:cNvSpPr txBox="1"/>
          <p:nvPr/>
        </p:nvSpPr>
        <p:spPr>
          <a:xfrm>
            <a:off x="7142836" y="3218688"/>
            <a:ext cx="4225900" cy="548640"/>
          </a:xfrm>
          <a:prstGeom prst="rect">
            <a:avLst/>
          </a:prstGeom>
          <a:noFill/>
          <a:ln/>
        </p:spPr>
        <p:txBody>
          <a:bodyPr wrap="square" lIns="0" tIns="0" rIns="0" bIns="0" rtlCol="0" anchor="ctr"/>
          <a:lstStyle/>
          <a:p>
            <a:pPr indent="0" marL="0">
              <a:lnSpc>
                <a:spcPts val="1400"/>
              </a:lnSpc>
              <a:buNone/>
            </a:pPr>
            <a:r>
              <a:rPr lang="en-US" sz="1150" dirty="0">
                <a:solidFill>
                  <a:srgbClr val="5E7175"/>
                </a:solidFill>
                <a:latin typeface="Calibri" pitchFamily="34" charset="0"/>
                <a:ea typeface="Calibri" pitchFamily="34" charset="-122"/>
                <a:cs typeface="Calibri" pitchFamily="34" charset="-120"/>
              </a:rPr>
              <a:t>Unit-aware formatting and richer wording as the clinical review of driver text continues.</a:t>
            </a:r>
            <a:endParaRPr lang="en-US" sz="1150" dirty="0"/>
          </a:p>
        </p:txBody>
      </p:sp>
      <p:sp>
        <p:nvSpPr>
          <p:cNvPr id="34" name="Shape 32"/>
          <p:cNvSpPr/>
          <p:nvPr/>
        </p:nvSpPr>
        <p:spPr>
          <a:xfrm>
            <a:off x="6301588" y="3913632"/>
            <a:ext cx="5323180" cy="1097280"/>
          </a:xfrm>
          <a:prstGeom prst="roundRect">
            <a:avLst>
              <a:gd name="adj" fmla="val 6667"/>
            </a:avLst>
          </a:prstGeom>
          <a:solidFill>
            <a:srgbClr val="F1F6F5"/>
          </a:solidFill>
          <a:ln w="12700">
            <a:solidFill>
              <a:srgbClr val="F1F6F5"/>
            </a:solidFill>
            <a:prstDash val="solid"/>
          </a:ln>
        </p:spPr>
      </p:sp>
      <p:sp>
        <p:nvSpPr>
          <p:cNvPr id="35" name="Shape 33"/>
          <p:cNvSpPr/>
          <p:nvPr/>
        </p:nvSpPr>
        <p:spPr>
          <a:xfrm>
            <a:off x="6557620" y="4187952"/>
            <a:ext cx="420624" cy="420624"/>
          </a:xfrm>
          <a:prstGeom prst="ellipse">
            <a:avLst/>
          </a:prstGeom>
          <a:solidFill>
            <a:srgbClr val="00A896"/>
          </a:solidFill>
          <a:ln/>
        </p:spPr>
      </p:sp>
      <p:sp>
        <p:nvSpPr>
          <p:cNvPr id="36" name="Text 34"/>
          <p:cNvSpPr txBox="1"/>
          <p:nvPr/>
        </p:nvSpPr>
        <p:spPr>
          <a:xfrm>
            <a:off x="6557620" y="418795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7" name="Text 35"/>
          <p:cNvSpPr txBox="1"/>
          <p:nvPr/>
        </p:nvSpPr>
        <p:spPr>
          <a:xfrm>
            <a:off x="7142836" y="4069080"/>
            <a:ext cx="4225900" cy="320040"/>
          </a:xfrm>
          <a:prstGeom prst="rect">
            <a:avLst/>
          </a:prstGeom>
          <a:noFill/>
          <a:ln/>
        </p:spPr>
        <p:txBody>
          <a:bodyPr wrap="square" lIns="0" tIns="0" rIns="0" bIns="0" rtlCol="0" anchor="ctr"/>
          <a:lstStyle/>
          <a:p>
            <a:pPr indent="0" marL="0">
              <a:buNone/>
            </a:pPr>
            <a:r>
              <a:rPr lang="en-US" sz="1350" b="1" dirty="0">
                <a:solidFill>
                  <a:srgbClr val="16282B"/>
                </a:solidFill>
                <a:latin typeface="Calibri" pitchFamily="34" charset="0"/>
                <a:ea typeface="Calibri" pitchFamily="34" charset="-122"/>
                <a:cs typeface="Calibri" pitchFamily="34" charset="-120"/>
              </a:rPr>
              <a:t>Extend beyond readmission</a:t>
            </a:r>
            <a:endParaRPr lang="en-US" sz="1350" dirty="0"/>
          </a:p>
        </p:txBody>
      </p:sp>
      <p:sp>
        <p:nvSpPr>
          <p:cNvPr id="38" name="Text 36"/>
          <p:cNvSpPr txBox="1"/>
          <p:nvPr/>
        </p:nvSpPr>
        <p:spPr>
          <a:xfrm>
            <a:off x="7142836" y="4407408"/>
            <a:ext cx="4225900" cy="548640"/>
          </a:xfrm>
          <a:prstGeom prst="rect">
            <a:avLst/>
          </a:prstGeom>
          <a:noFill/>
          <a:ln/>
        </p:spPr>
        <p:txBody>
          <a:bodyPr wrap="square" lIns="0" tIns="0" rIns="0" bIns="0" rtlCol="0" anchor="ctr"/>
          <a:lstStyle/>
          <a:p>
            <a:pPr indent="0" marL="0">
              <a:lnSpc>
                <a:spcPts val="1400"/>
              </a:lnSpc>
              <a:buNone/>
            </a:pPr>
            <a:r>
              <a:rPr lang="en-US" sz="1150" dirty="0">
                <a:solidFill>
                  <a:srgbClr val="5E7175"/>
                </a:solidFill>
                <a:latin typeface="Calibri" pitchFamily="34" charset="0"/>
                <a:ea typeface="Calibri" pitchFamily="34" charset="-122"/>
                <a:cs typeface="Calibri" pitchFamily="34" charset="-120"/>
              </a:rPr>
              <a:t>The same pipeline shape applies to no-show, deterioration and other outcomes once a label is defined.</a:t>
            </a:r>
            <a:endParaRPr lang="en-US" sz="1150" dirty="0"/>
          </a:p>
        </p:txBody>
      </p:sp>
      <p:sp>
        <p:nvSpPr>
          <p:cNvPr id="39" name="Shape 37"/>
          <p:cNvSpPr/>
          <p:nvPr/>
        </p:nvSpPr>
        <p:spPr>
          <a:xfrm>
            <a:off x="6301588" y="5102352"/>
            <a:ext cx="5323180" cy="1097280"/>
          </a:xfrm>
          <a:prstGeom prst="roundRect">
            <a:avLst>
              <a:gd name="adj" fmla="val 6667"/>
            </a:avLst>
          </a:prstGeom>
          <a:solidFill>
            <a:srgbClr val="F1F6F5"/>
          </a:solidFill>
          <a:ln w="12700">
            <a:solidFill>
              <a:srgbClr val="F1F6F5"/>
            </a:solidFill>
            <a:prstDash val="solid"/>
          </a:ln>
        </p:spPr>
      </p:sp>
      <p:sp>
        <p:nvSpPr>
          <p:cNvPr id="40" name="Shape 38"/>
          <p:cNvSpPr/>
          <p:nvPr/>
        </p:nvSpPr>
        <p:spPr>
          <a:xfrm>
            <a:off x="6557620" y="5376672"/>
            <a:ext cx="420624" cy="420624"/>
          </a:xfrm>
          <a:prstGeom prst="ellipse">
            <a:avLst/>
          </a:prstGeom>
          <a:solidFill>
            <a:srgbClr val="00A896"/>
          </a:solidFill>
          <a:ln/>
        </p:spPr>
      </p:sp>
      <p:sp>
        <p:nvSpPr>
          <p:cNvPr id="41" name="Text 39"/>
          <p:cNvSpPr txBox="1"/>
          <p:nvPr/>
        </p:nvSpPr>
        <p:spPr>
          <a:xfrm>
            <a:off x="6557620" y="537667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2" name="Text 40"/>
          <p:cNvSpPr txBox="1"/>
          <p:nvPr/>
        </p:nvSpPr>
        <p:spPr>
          <a:xfrm>
            <a:off x="7142836" y="5257800"/>
            <a:ext cx="4225900" cy="320040"/>
          </a:xfrm>
          <a:prstGeom prst="rect">
            <a:avLst/>
          </a:prstGeom>
          <a:noFill/>
          <a:ln/>
        </p:spPr>
        <p:txBody>
          <a:bodyPr wrap="square" lIns="0" tIns="0" rIns="0" bIns="0" rtlCol="0" anchor="ctr"/>
          <a:lstStyle/>
          <a:p>
            <a:pPr indent="0" marL="0">
              <a:buNone/>
            </a:pPr>
            <a:r>
              <a:rPr lang="en-US" sz="1350" b="1" dirty="0">
                <a:solidFill>
                  <a:srgbClr val="16282B"/>
                </a:solidFill>
                <a:latin typeface="Calibri" pitchFamily="34" charset="0"/>
                <a:ea typeface="Calibri" pitchFamily="34" charset="-122"/>
                <a:cs typeface="Calibri" pitchFamily="34" charset="-120"/>
              </a:rPr>
              <a:t>Harden the data contracts</a:t>
            </a:r>
            <a:endParaRPr lang="en-US" sz="1350" dirty="0"/>
          </a:p>
        </p:txBody>
      </p:sp>
      <p:sp>
        <p:nvSpPr>
          <p:cNvPr id="43" name="Text 41"/>
          <p:cNvSpPr txBox="1"/>
          <p:nvPr/>
        </p:nvSpPr>
        <p:spPr>
          <a:xfrm>
            <a:off x="7142836" y="5596128"/>
            <a:ext cx="4225900" cy="548640"/>
          </a:xfrm>
          <a:prstGeom prst="rect">
            <a:avLst/>
          </a:prstGeom>
          <a:noFill/>
          <a:ln/>
        </p:spPr>
        <p:txBody>
          <a:bodyPr wrap="square" lIns="0" tIns="0" rIns="0" bIns="0" rtlCol="0" anchor="ctr"/>
          <a:lstStyle/>
          <a:p>
            <a:pPr indent="0" marL="0">
              <a:lnSpc>
                <a:spcPts val="1400"/>
              </a:lnSpc>
              <a:buNone/>
            </a:pPr>
            <a:r>
              <a:rPr lang="en-US" sz="1150" dirty="0">
                <a:solidFill>
                  <a:srgbClr val="5E7175"/>
                </a:solidFill>
                <a:latin typeface="Calibri" pitchFamily="34" charset="0"/>
                <a:ea typeface="Calibri" pitchFamily="34" charset="-122"/>
                <a:cs typeface="Calibri" pitchFamily="34" charset="-120"/>
              </a:rPr>
              <a:t>Bounds and validation at ingestion, so every downstream feature inherits a guaranteed range.</a:t>
            </a:r>
            <a:endParaRPr lang="en-US" sz="1150" dirty="0"/>
          </a:p>
        </p:txBody>
      </p:sp>
      <p:sp>
        <p:nvSpPr>
          <p:cNvPr id="44" name="Text 42"/>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1000" i="1" dirty="0">
                <a:solidFill>
                  <a:srgbClr val="5E7175"/>
                </a:solidFill>
                <a:latin typeface="Calibri" pitchFamily="34" charset="0"/>
                <a:ea typeface="Calibri" pitchFamily="34" charset="-122"/>
                <a:cs typeface="Calibri" pitchFamily="34" charset="-120"/>
              </a:rPr>
              <a:t>Each item builds on something already shipped rather than starting from scratch.</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2E36"/>
        </a:solidFill>
      </p:bgPr>
    </p:bg>
    <p:spTree>
      <p:nvGrpSpPr>
        <p:cNvPr id="1" name=""/>
        <p:cNvGrpSpPr/>
        <p:nvPr/>
      </p:nvGrpSpPr>
      <p:grpSpPr>
        <a:xfrm>
          <a:off x="0" y="0"/>
          <a:ext cx="0" cy="0"/>
          <a:chOff x="0" y="0"/>
          <a:chExt cx="0" cy="0"/>
        </a:xfrm>
      </p:grpSpPr>
      <p:sp>
        <p:nvSpPr>
          <p:cNvPr id="2" name="Shape 0"/>
          <p:cNvSpPr/>
          <p:nvPr/>
        </p:nvSpPr>
        <p:spPr>
          <a:xfrm>
            <a:off x="9692640" y="3566160"/>
            <a:ext cx="4023360" cy="4023360"/>
          </a:xfrm>
          <a:prstGeom prst="ellipse">
            <a:avLst/>
          </a:prstGeom>
          <a:solidFill>
            <a:srgbClr val="12414A"/>
          </a:solidFill>
          <a:ln/>
        </p:spPr>
      </p:sp>
      <p:sp>
        <p:nvSpPr>
          <p:cNvPr id="3" name="Text 1"/>
          <p:cNvSpPr txBox="1"/>
          <p:nvPr/>
        </p:nvSpPr>
        <p:spPr>
          <a:xfrm>
            <a:off x="566928" y="932688"/>
            <a:ext cx="11057839" cy="274320"/>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WHERE THINGS STAND</a:t>
            </a:r>
            <a:endParaRPr lang="en-US" sz="1200" dirty="0"/>
          </a:p>
        </p:txBody>
      </p:sp>
      <p:sp>
        <p:nvSpPr>
          <p:cNvPr id="4" name="Text 2"/>
          <p:cNvSpPr txBox="1"/>
          <p:nvPr/>
        </p:nvSpPr>
        <p:spPr>
          <a:xfrm>
            <a:off x="566928" y="1508760"/>
            <a:ext cx="100584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A working product, now on a foundation to match.</a:t>
            </a:r>
            <a:endParaRPr lang="en-US" sz="3600" dirty="0"/>
          </a:p>
        </p:txBody>
      </p:sp>
      <p:sp>
        <p:nvSpPr>
          <p:cNvPr id="5" name="Text 3"/>
          <p:cNvSpPr txBox="1"/>
          <p:nvPr/>
        </p:nvSpPr>
        <p:spPr>
          <a:xfrm>
            <a:off x="566928" y="2514600"/>
            <a:ext cx="8778240" cy="914400"/>
          </a:xfrm>
          <a:prstGeom prst="rect">
            <a:avLst/>
          </a:prstGeom>
          <a:noFill/>
          <a:ln/>
        </p:spPr>
        <p:txBody>
          <a:bodyPr wrap="square" lIns="0" tIns="0" rIns="0" bIns="0" rtlCol="0" anchor="ctr"/>
          <a:lstStyle/>
          <a:p>
            <a:pPr indent="0" marL="0">
              <a:lnSpc>
                <a:spcPts val="2400"/>
              </a:lnSpc>
              <a:buNone/>
            </a:pPr>
            <a:r>
              <a:rPr lang="en-US" sz="1500" dirty="0">
                <a:solidFill>
                  <a:srgbClr val="C8DEDF"/>
                </a:solidFill>
                <a:latin typeface="Calibri" pitchFamily="34" charset="0"/>
                <a:ea typeface="Calibri" pitchFamily="34" charset="-122"/>
                <a:cs typeface="Calibri" pitchFamily="34" charset="-120"/>
              </a:rPr>
              <a:t>The handover delivered a complete, working clinical product: a batch scoring pipeline, a FastAPI backend, a Gemini chatbot and a React dashboard that care teams could use day to day. That platform is intact, and everything since has been built on it.</a:t>
            </a:r>
            <a:endParaRPr lang="en-US" sz="1500" dirty="0"/>
          </a:p>
        </p:txBody>
      </p:sp>
      <p:sp>
        <p:nvSpPr>
          <p:cNvPr id="6" name="Text 4"/>
          <p:cNvSpPr txBox="1"/>
          <p:nvPr/>
        </p:nvSpPr>
        <p:spPr>
          <a:xfrm>
            <a:off x="566928" y="3520440"/>
            <a:ext cx="8778240" cy="1463040"/>
          </a:xfrm>
          <a:prstGeom prst="rect">
            <a:avLst/>
          </a:prstGeom>
          <a:noFill/>
          <a:ln/>
        </p:spPr>
        <p:txBody>
          <a:bodyPr wrap="square" lIns="0" tIns="0" rIns="0" bIns="0" rtlCol="0" anchor="ctr"/>
          <a:lstStyle/>
          <a:p>
            <a:pPr indent="0" marL="0">
              <a:lnSpc>
                <a:spcPts val="2400"/>
              </a:lnSpc>
              <a:buNone/>
            </a:pPr>
            <a:r>
              <a:rPr lang="en-US" sz="1500" dirty="0">
                <a:solidFill>
                  <a:srgbClr val="C8DEDF"/>
                </a:solidFill>
                <a:latin typeface="Calibri" pitchFamily="34" charset="0"/>
                <a:ea typeface="Calibri" pitchFamily="34" charset="-122"/>
                <a:cs typeface="Calibri" pitchFamily="34" charset="-120"/>
              </a:rPr>
              <a:t>On top of it: a clinical-grade data foundation chosen on documented evidence, a model trained at full scale on 296,760 admissions with patient-level splits and true calibration, a SHAP explainability engine giving every patient named risk drivers, AI-generated ROI and counterfactual insight, and a weekly monitoring surface ready for a live feed.</a:t>
            </a:r>
            <a:endParaRPr lang="en-US" sz="1500" dirty="0"/>
          </a:p>
        </p:txBody>
      </p:sp>
      <p:sp>
        <p:nvSpPr>
          <p:cNvPr id="7" name="Text 5"/>
          <p:cNvSpPr txBox="1"/>
          <p:nvPr/>
        </p:nvSpPr>
        <p:spPr>
          <a:xfrm>
            <a:off x="566928" y="5120640"/>
            <a:ext cx="8961120" cy="731520"/>
          </a:xfrm>
          <a:prstGeom prst="rect">
            <a:avLst/>
          </a:prstGeom>
          <a:noFill/>
          <a:ln/>
        </p:spPr>
        <p:txBody>
          <a:bodyPr wrap="square" lIns="0" tIns="0" rIns="0" bIns="0" rtlCol="0" anchor="ctr"/>
          <a:lstStyle/>
          <a:p>
            <a:pPr indent="0" marL="0">
              <a:lnSpc>
                <a:spcPts val="2700"/>
              </a:lnSpc>
              <a:buNone/>
            </a:pPr>
            <a:r>
              <a:rPr lang="en-US" sz="1900" b="1" i="1" dirty="0">
                <a:solidFill>
                  <a:srgbClr val="02C39A"/>
                </a:solidFill>
                <a:latin typeface="Cambria" pitchFamily="34" charset="0"/>
                <a:ea typeface="Cambria" pitchFamily="34" charset="-122"/>
                <a:cs typeface="Cambria" pitchFamily="34" charset="-120"/>
              </a:rPr>
              <a:t>AUC 0.723, calibrated to 1.01, fully explainable — and every number is one the team can stand behind.</a:t>
            </a:r>
            <a:endParaRPr lang="en-US" sz="1900" dirty="0"/>
          </a:p>
        </p:txBody>
      </p:sp>
      <p:sp>
        <p:nvSpPr>
          <p:cNvPr id="8" name="Text 6"/>
          <p:cNvSpPr txBox="1"/>
          <p:nvPr/>
        </p:nvSpPr>
        <p:spPr>
          <a:xfrm>
            <a:off x="566928" y="6272784"/>
            <a:ext cx="11057839" cy="274320"/>
          </a:xfrm>
          <a:prstGeom prst="rect">
            <a:avLst/>
          </a:prstGeom>
          <a:noFill/>
          <a:ln/>
        </p:spPr>
        <p:txBody>
          <a:bodyPr wrap="square" lIns="0" tIns="0" rIns="0" bIns="0" rtlCol="0" anchor="ctr"/>
          <a:lstStyle/>
          <a:p>
            <a:pPr indent="0" marL="0">
              <a:buNone/>
            </a:pPr>
            <a:r>
              <a:rPr lang="en-US" sz="1000" i="1" dirty="0">
                <a:solidFill>
                  <a:srgbClr val="8FB3B5"/>
                </a:solidFill>
                <a:latin typeface="Calibri" pitchFamily="34" charset="0"/>
                <a:ea typeface="Calibri" pitchFamily="34" charset="-122"/>
                <a:cs typeface="Calibri" pitchFamily="34" charset="-120"/>
              </a:rPr>
              <a:t>Full detail: docs/project_comparison_baseline_vs_current.md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Preventra: Baseline vs Current</dc:title>
  <dc:subject>PptxGenJS Presentation</dc:subject>
  <dc:creator>Preventra</dc:creator>
  <cp:lastModifiedBy>Preventra</cp:lastModifiedBy>
  <cp:revision>1</cp:revision>
  <dcterms:created xsi:type="dcterms:W3CDTF">2026-09-02T08:11:55Z</dcterms:created>
  <dcterms:modified xsi:type="dcterms:W3CDTF">2026-09-02T08:11:55Z</dcterms:modified>
</cp:coreProperties>
</file>