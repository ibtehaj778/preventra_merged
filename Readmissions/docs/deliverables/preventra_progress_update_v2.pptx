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0" r:id="rId2"/>
    <p:sldId id="257" r:id="rId3"/>
    <p:sldId id="261" r:id="rId4"/>
    <p:sldId id="262" r:id="rId5"/>
    <p:sldId id="263" r:id="rId6"/>
    <p:sldId id="258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746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304800" y="0"/>
            <a:ext cx="11887200" cy="1463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731520" y="5163691"/>
            <a:ext cx="914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67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</a:t>
            </a:r>
            <a:endParaRPr lang="en-US" sz="5067" dirty="0"/>
          </a:p>
        </p:txBody>
      </p:sp>
      <p:sp>
        <p:nvSpPr>
          <p:cNvPr id="5" name="Text 3"/>
          <p:cNvSpPr/>
          <p:nvPr/>
        </p:nvSpPr>
        <p:spPr>
          <a:xfrm>
            <a:off x="731520" y="4956263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Project</a:t>
            </a:r>
            <a:endParaRPr lang="en-US" sz="2667" dirty="0"/>
          </a:p>
        </p:txBody>
      </p:sp>
      <p:sp>
        <p:nvSpPr>
          <p:cNvPr id="8" name="Shape 6"/>
          <p:cNvSpPr/>
          <p:nvPr/>
        </p:nvSpPr>
        <p:spPr>
          <a:xfrm>
            <a:off x="8412480" y="731520"/>
            <a:ext cx="3169920" cy="3169920"/>
          </a:xfrm>
          <a:prstGeom prst="ellipse">
            <a:avLst/>
          </a:prstGeom>
          <a:solidFill>
            <a:srgbClr val="E6F7F7"/>
          </a:solidFill>
          <a:ln w="12700">
            <a:solidFill>
              <a:srgbClr val="14A0A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9509760" y="2804160"/>
            <a:ext cx="1950720" cy="1950720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304800" y="6461760"/>
            <a:ext cx="11887200" cy="3962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6461760"/>
            <a:ext cx="11582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1DA65CBD-6E9D-AAC7-3052-47650E3422EB}"/>
              </a:ext>
            </a:extLst>
          </p:cNvPr>
          <p:cNvSpPr/>
          <p:nvPr/>
        </p:nvSpPr>
        <p:spPr>
          <a:xfrm>
            <a:off x="6400800" y="5496523"/>
            <a:ext cx="3169920" cy="3169920"/>
          </a:xfrm>
          <a:prstGeom prst="ellipse">
            <a:avLst/>
          </a:prstGeom>
          <a:solidFill>
            <a:srgbClr val="E6F7F7"/>
          </a:solidFill>
          <a:ln w="12700">
            <a:solidFill>
              <a:srgbClr val="14A0A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5" name="Picture 14" descr="A blue and black shield with a cross&#10;&#10;Description automatically generated">
            <a:extLst>
              <a:ext uri="{FF2B5EF4-FFF2-40B4-BE49-F238E27FC236}">
                <a16:creationId xmlns:a16="http://schemas.microsoft.com/office/drawing/2014/main" id="{CFC02201-C0BA-C4BC-D286-16A682165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73" y="1364025"/>
            <a:ext cx="6135457" cy="31168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I Authentica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Kicker"/>
          <p:cNvSpPr/>
          <p:nvPr/>
        </p:nvSpPr>
        <p:spPr>
          <a:xfrm>
            <a:off x="731520" y="548640"/>
            <a:ext cx="70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spc="1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02" name="PageCounter"/>
          <p:cNvSpPr/>
          <p:nvPr/>
        </p:nvSpPr>
        <p:spPr>
          <a:xfrm>
            <a:off x="10060480" y="548640"/>
            <a:ext cx="1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spc="10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04</a:t>
            </a:r>
            <a:endParaRPr lang="en-US" sz="1400" dirty="0"/>
          </a:p>
        </p:txBody>
      </p:sp>
      <p:sp>
        <p:nvSpPr>
          <p:cNvPr id="103" name="Title"/>
          <p:cNvSpPr/>
          <p:nvPr/>
        </p:nvSpPr>
        <p:spPr>
          <a:xfrm>
            <a:off x="731520" y="960000"/>
            <a:ext cx="88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Authentication</a:t>
            </a:r>
            <a:endParaRPr lang="en-US" sz="4000" dirty="0"/>
          </a:p>
        </p:txBody>
      </p:sp>
      <p:sp>
        <p:nvSpPr>
          <p:cNvPr id="104" name="CircleOuter"/>
          <p:cNvSpPr/>
          <p:nvPr/>
        </p:nvSpPr>
        <p:spPr>
          <a:xfrm>
            <a:off x="1381520" y="2286000"/>
            <a:ext cx="2200000" cy="2200000"/>
          </a:xfrm>
          <a:prstGeom prst="ellipse">
            <a:avLst/>
          </a:prstGeom>
          <a:solidFill>
            <a:srgbClr val="E6F7F7"/>
          </a:solidFill>
          <a:ln w="12700">
            <a:solidFill>
              <a:srgbClr val="14A0A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5" name="CircleInner"/>
          <p:cNvSpPr/>
          <p:nvPr/>
        </p:nvSpPr>
        <p:spPr>
          <a:xfrm>
            <a:off x="1931520" y="2836000"/>
            <a:ext cx="1100000" cy="11000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06" name="FeatureIcon" descr="feature icon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31520" y="3136000"/>
            <a:ext cx="500000" cy="500000"/>
          </a:xfrm>
          <a:prstGeom prst="rect">
            <a:avLst/>
          </a:prstGeom>
        </p:spPr>
      </p:pic>
      <p:sp>
        <p:nvSpPr>
          <p:cNvPr id="107" name="StatNumber"/>
          <p:cNvSpPr/>
          <p:nvPr/>
        </p:nvSpPr>
        <p:spPr>
          <a:xfrm>
            <a:off x="731520" y="4766000"/>
            <a:ext cx="3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08" name="StatCaption"/>
          <p:cNvSpPr/>
          <p:nvPr/>
        </p:nvSpPr>
        <p:spPr>
          <a:xfrm>
            <a:off x="731520" y="5306000"/>
            <a:ext cx="3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endpoints now secured</a:t>
            </a:r>
            <a:endParaRPr lang="en-US" sz="1200" dirty="0"/>
          </a:p>
        </p:txBody>
      </p:sp>
      <p:sp>
        <p:nvSpPr>
          <p:cNvPr id="109" name="Lead"/>
          <p:cNvSpPr/>
          <p:nvPr/>
        </p:nvSpPr>
        <p:spPr>
          <a:xfrm>
            <a:off x="4631520" y="2286000"/>
            <a:ext cx="68289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to the platform must now present a valid key.</a:t>
            </a:r>
            <a:endParaRPr lang="en-US" sz="1800" dirty="0"/>
          </a:p>
        </p:txBody>
      </p:sp>
      <p:sp>
        <p:nvSpPr>
          <p:cNvPr id="110" name="BulletDot0"/>
          <p:cNvSpPr/>
          <p:nvPr/>
        </p:nvSpPr>
        <p:spPr>
          <a:xfrm>
            <a:off x="4631520" y="3366000"/>
            <a:ext cx="90000" cy="90000"/>
          </a:xfrm>
          <a:prstGeom prst="ellipse">
            <a:avLst/>
          </a:prstGeom>
          <a:solidFill>
            <a:srgbClr val="14A0A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1" name="BulletText0"/>
          <p:cNvSpPr/>
          <p:nvPr/>
        </p:nvSpPr>
        <p:spPr>
          <a:xfrm>
            <a:off x="4911520" y="3236000"/>
            <a:ext cx="654896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/api/* endpoint requires a verified X-API-Key header</a:t>
            </a:r>
            <a:endParaRPr lang="en-US" sz="1400" dirty="0"/>
          </a:p>
        </p:txBody>
      </p:sp>
      <p:sp>
        <p:nvSpPr>
          <p:cNvPr id="112" name="BulletDot1"/>
          <p:cNvSpPr/>
          <p:nvPr/>
        </p:nvSpPr>
        <p:spPr>
          <a:xfrm>
            <a:off x="4631520" y="4146000"/>
            <a:ext cx="90000" cy="90000"/>
          </a:xfrm>
          <a:prstGeom prst="ellipse">
            <a:avLst/>
          </a:prstGeom>
          <a:solidFill>
            <a:srgbClr val="14A0A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3" name="BulletText1"/>
          <p:cNvSpPr/>
          <p:nvPr/>
        </p:nvSpPr>
        <p:spPr>
          <a:xfrm>
            <a:off x="4911520" y="4016000"/>
            <a:ext cx="654896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invalid keys are rejected before any data is touched</a:t>
            </a:r>
            <a:endParaRPr lang="en-US" sz="1400" dirty="0"/>
          </a:p>
        </p:txBody>
      </p:sp>
      <p:sp>
        <p:nvSpPr>
          <p:cNvPr id="114" name="BulletDot2"/>
          <p:cNvSpPr/>
          <p:nvPr/>
        </p:nvSpPr>
        <p:spPr>
          <a:xfrm>
            <a:off x="4631520" y="4926000"/>
            <a:ext cx="90000" cy="90000"/>
          </a:xfrm>
          <a:prstGeom prst="ellipse">
            <a:avLst/>
          </a:prstGeom>
          <a:solidFill>
            <a:srgbClr val="14A0A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5" name="BulletText2"/>
          <p:cNvSpPr/>
          <p:nvPr/>
        </p:nvSpPr>
        <p:spPr>
          <a:xfrm>
            <a:off x="4911520" y="4796000"/>
            <a:ext cx="654896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and future integrations authenticate automatically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re Coordinator Work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Kicker"/>
          <p:cNvSpPr/>
          <p:nvPr/>
        </p:nvSpPr>
        <p:spPr>
          <a:xfrm>
            <a:off x="731520" y="548640"/>
            <a:ext cx="70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spc="1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OPERATIONS</a:t>
            </a:r>
            <a:endParaRPr lang="en-US" sz="1400" dirty="0"/>
          </a:p>
        </p:txBody>
      </p:sp>
      <p:sp>
        <p:nvSpPr>
          <p:cNvPr id="102" name="PageCounter"/>
          <p:cNvSpPr/>
          <p:nvPr/>
        </p:nvSpPr>
        <p:spPr>
          <a:xfrm>
            <a:off x="10060480" y="548640"/>
            <a:ext cx="1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spc="10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04</a:t>
            </a:r>
            <a:endParaRPr lang="en-US" sz="1400" dirty="0"/>
          </a:p>
        </p:txBody>
      </p:sp>
      <p:sp>
        <p:nvSpPr>
          <p:cNvPr id="103" name="Title"/>
          <p:cNvSpPr/>
          <p:nvPr/>
        </p:nvSpPr>
        <p:spPr>
          <a:xfrm>
            <a:off x="731520" y="960000"/>
            <a:ext cx="88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Coordinator Workflow</a:t>
            </a:r>
            <a:endParaRPr lang="en-US" sz="4000" dirty="0"/>
          </a:p>
        </p:txBody>
      </p:sp>
      <p:sp>
        <p:nvSpPr>
          <p:cNvPr id="104" name="CircleOuter"/>
          <p:cNvSpPr/>
          <p:nvPr/>
        </p:nvSpPr>
        <p:spPr>
          <a:xfrm>
            <a:off x="1381520" y="2286000"/>
            <a:ext cx="2200000" cy="2200000"/>
          </a:xfrm>
          <a:prstGeom prst="ellipse">
            <a:avLst/>
          </a:prstGeom>
          <a:solidFill>
            <a:srgbClr val="E6F7F7"/>
          </a:solidFill>
          <a:ln w="12700">
            <a:solidFill>
              <a:srgbClr val="14A0A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5" name="CircleInner"/>
          <p:cNvSpPr/>
          <p:nvPr/>
        </p:nvSpPr>
        <p:spPr>
          <a:xfrm>
            <a:off x="1931520" y="2836000"/>
            <a:ext cx="1100000" cy="11000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06" name="FeatureIcon" descr="feature icon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31520" y="3136000"/>
            <a:ext cx="500000" cy="500000"/>
          </a:xfrm>
          <a:prstGeom prst="rect">
            <a:avLst/>
          </a:prstGeom>
        </p:spPr>
      </p:pic>
      <p:sp>
        <p:nvSpPr>
          <p:cNvPr id="107" name="StatNumber"/>
          <p:cNvSpPr/>
          <p:nvPr/>
        </p:nvSpPr>
        <p:spPr>
          <a:xfrm>
            <a:off x="731520" y="4766000"/>
            <a:ext cx="3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3-in-1</a:t>
            </a:r>
            <a:endParaRPr lang="en-US" sz="3200" dirty="0"/>
          </a:p>
        </p:txBody>
      </p:sp>
      <p:sp>
        <p:nvSpPr>
          <p:cNvPr id="108" name="StatCaption"/>
          <p:cNvSpPr/>
          <p:nvPr/>
        </p:nvSpPr>
        <p:spPr>
          <a:xfrm>
            <a:off x="731520" y="5306000"/>
            <a:ext cx="3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assign, log notes, export</a:t>
            </a:r>
            <a:endParaRPr lang="en-US" sz="1200" dirty="0"/>
          </a:p>
        </p:txBody>
      </p:sp>
      <p:sp>
        <p:nvSpPr>
          <p:cNvPr id="109" name="Lead"/>
          <p:cNvSpPr/>
          <p:nvPr/>
        </p:nvSpPr>
        <p:spPr>
          <a:xfrm>
            <a:off x="4631520" y="2286000"/>
            <a:ext cx="68289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can now manage patients directly from the dashboard.</a:t>
            </a:r>
            <a:endParaRPr lang="en-US" sz="1800" dirty="0"/>
          </a:p>
        </p:txBody>
      </p:sp>
      <p:sp>
        <p:nvSpPr>
          <p:cNvPr id="110" name="BulletDot0"/>
          <p:cNvSpPr/>
          <p:nvPr/>
        </p:nvSpPr>
        <p:spPr>
          <a:xfrm>
            <a:off x="4631520" y="3366000"/>
            <a:ext cx="90000" cy="90000"/>
          </a:xfrm>
          <a:prstGeom prst="ellipse">
            <a:avLst/>
          </a:prstGeom>
          <a:solidFill>
            <a:srgbClr val="14A0A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1" name="BulletText0"/>
          <p:cNvSpPr/>
          <p:nvPr/>
        </p:nvSpPr>
        <p:spPr>
          <a:xfrm>
            <a:off x="4911520" y="3236000"/>
            <a:ext cx="654896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coordinator to any patient in one click</a:t>
            </a:r>
            <a:endParaRPr lang="en-US" sz="1400" dirty="0"/>
          </a:p>
        </p:txBody>
      </p:sp>
      <p:sp>
        <p:nvSpPr>
          <p:cNvPr id="112" name="BulletDot1"/>
          <p:cNvSpPr/>
          <p:nvPr/>
        </p:nvSpPr>
        <p:spPr>
          <a:xfrm>
            <a:off x="4631520" y="4146000"/>
            <a:ext cx="90000" cy="90000"/>
          </a:xfrm>
          <a:prstGeom prst="ellipse">
            <a:avLst/>
          </a:prstGeom>
          <a:solidFill>
            <a:srgbClr val="14A0A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3" name="BulletText1"/>
          <p:cNvSpPr/>
          <p:nvPr/>
        </p:nvSpPr>
        <p:spPr>
          <a:xfrm>
            <a:off x="4911520" y="4016000"/>
            <a:ext cx="654896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dated care notes, visible to the whole care team</a:t>
            </a:r>
            <a:endParaRPr lang="en-US" sz="1400" dirty="0"/>
          </a:p>
        </p:txBody>
      </p:sp>
      <p:sp>
        <p:nvSpPr>
          <p:cNvPr id="114" name="BulletDot2"/>
          <p:cNvSpPr/>
          <p:nvPr/>
        </p:nvSpPr>
        <p:spPr>
          <a:xfrm>
            <a:off x="4631520" y="4926000"/>
            <a:ext cx="90000" cy="90000"/>
          </a:xfrm>
          <a:prstGeom prst="ellipse">
            <a:avLst/>
          </a:prstGeom>
          <a:solidFill>
            <a:srgbClr val="14A0A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5" name="BulletText2"/>
          <p:cNvSpPr/>
          <p:nvPr/>
        </p:nvSpPr>
        <p:spPr>
          <a:xfrm>
            <a:off x="4911520" y="4796000"/>
            <a:ext cx="654896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current worklist to CSV, sorted by risk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ve Patient Updat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Kicker"/>
          <p:cNvSpPr/>
          <p:nvPr/>
        </p:nvSpPr>
        <p:spPr>
          <a:xfrm>
            <a:off x="731520" y="548640"/>
            <a:ext cx="70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spc="1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ACCURACY</a:t>
            </a:r>
            <a:endParaRPr lang="en-US" sz="1400" dirty="0"/>
          </a:p>
        </p:txBody>
      </p:sp>
      <p:sp>
        <p:nvSpPr>
          <p:cNvPr id="102" name="PageCounter"/>
          <p:cNvSpPr/>
          <p:nvPr/>
        </p:nvSpPr>
        <p:spPr>
          <a:xfrm>
            <a:off x="10060480" y="548640"/>
            <a:ext cx="1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spc="10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04</a:t>
            </a:r>
            <a:endParaRPr lang="en-US" sz="1400" dirty="0"/>
          </a:p>
        </p:txBody>
      </p:sp>
      <p:sp>
        <p:nvSpPr>
          <p:cNvPr id="103" name="Title"/>
          <p:cNvSpPr/>
          <p:nvPr/>
        </p:nvSpPr>
        <p:spPr>
          <a:xfrm>
            <a:off x="731520" y="960000"/>
            <a:ext cx="88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Patient Updates</a:t>
            </a:r>
            <a:endParaRPr lang="en-US" sz="4000" dirty="0"/>
          </a:p>
        </p:txBody>
      </p:sp>
      <p:sp>
        <p:nvSpPr>
          <p:cNvPr id="104" name="CircleOuter"/>
          <p:cNvSpPr/>
          <p:nvPr/>
        </p:nvSpPr>
        <p:spPr>
          <a:xfrm>
            <a:off x="1381520" y="2286000"/>
            <a:ext cx="2200000" cy="2200000"/>
          </a:xfrm>
          <a:prstGeom prst="ellipse">
            <a:avLst/>
          </a:prstGeom>
          <a:solidFill>
            <a:srgbClr val="E6F7F7"/>
          </a:solidFill>
          <a:ln w="12700">
            <a:solidFill>
              <a:srgbClr val="14A0A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5" name="CircleInner"/>
          <p:cNvSpPr/>
          <p:nvPr/>
        </p:nvSpPr>
        <p:spPr>
          <a:xfrm>
            <a:off x="1931520" y="2836000"/>
            <a:ext cx="1100000" cy="11000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06" name="FeatureIcon" descr="feature icon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31520" y="3136000"/>
            <a:ext cx="500000" cy="500000"/>
          </a:xfrm>
          <a:prstGeom prst="rect">
            <a:avLst/>
          </a:prstGeom>
        </p:spPr>
      </p:pic>
      <p:sp>
        <p:nvSpPr>
          <p:cNvPr id="107" name="StatNumber"/>
          <p:cNvSpPr/>
          <p:nvPr/>
        </p:nvSpPr>
        <p:spPr>
          <a:xfrm>
            <a:off x="731520" y="4766000"/>
            <a:ext cx="3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108" name="StatCaption"/>
          <p:cNvSpPr/>
          <p:nvPr/>
        </p:nvSpPr>
        <p:spPr>
          <a:xfrm>
            <a:off x="731520" y="5306000"/>
            <a:ext cx="3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fields editable per patient</a:t>
            </a:r>
            <a:endParaRPr lang="en-US" sz="1200" dirty="0"/>
          </a:p>
        </p:txBody>
      </p:sp>
      <p:sp>
        <p:nvSpPr>
          <p:cNvPr id="109" name="Lead"/>
          <p:cNvSpPr/>
          <p:nvPr/>
        </p:nvSpPr>
        <p:spPr>
          <a:xfrm>
            <a:off x="4631520" y="2286000"/>
            <a:ext cx="68289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can revise a patient's clinical picture and see the impact instantly.</a:t>
            </a:r>
            <a:endParaRPr lang="en-US" sz="1800" dirty="0"/>
          </a:p>
        </p:txBody>
      </p:sp>
      <p:sp>
        <p:nvSpPr>
          <p:cNvPr id="110" name="BulletDot0"/>
          <p:cNvSpPr/>
          <p:nvPr/>
        </p:nvSpPr>
        <p:spPr>
          <a:xfrm>
            <a:off x="4631520" y="3366000"/>
            <a:ext cx="90000" cy="90000"/>
          </a:xfrm>
          <a:prstGeom prst="ellipse">
            <a:avLst/>
          </a:prstGeom>
          <a:solidFill>
            <a:srgbClr val="14A0A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1" name="BulletText0"/>
          <p:cNvSpPr/>
          <p:nvPr/>
        </p:nvSpPr>
        <p:spPr>
          <a:xfrm>
            <a:off x="4911520" y="3236000"/>
            <a:ext cx="654896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 of the clinical inputs behind a patient's score</a:t>
            </a:r>
            <a:endParaRPr lang="en-US" sz="1400" dirty="0"/>
          </a:p>
        </p:txBody>
      </p:sp>
      <p:sp>
        <p:nvSpPr>
          <p:cNvPr id="112" name="BulletDot1"/>
          <p:cNvSpPr/>
          <p:nvPr/>
        </p:nvSpPr>
        <p:spPr>
          <a:xfrm>
            <a:off x="4631520" y="4146000"/>
            <a:ext cx="90000" cy="90000"/>
          </a:xfrm>
          <a:prstGeom prst="ellipse">
            <a:avLst/>
          </a:prstGeom>
          <a:solidFill>
            <a:srgbClr val="14A0A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3" name="BulletText1"/>
          <p:cNvSpPr/>
          <p:nvPr/>
        </p:nvSpPr>
        <p:spPr>
          <a:xfrm>
            <a:off x="4911520" y="4016000"/>
            <a:ext cx="654896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instantly recalculated score, band, and top drivers</a:t>
            </a:r>
            <a:endParaRPr lang="en-US" sz="1400" dirty="0"/>
          </a:p>
        </p:txBody>
      </p:sp>
      <p:sp>
        <p:nvSpPr>
          <p:cNvPr id="114" name="BulletDot2"/>
          <p:cNvSpPr/>
          <p:nvPr/>
        </p:nvSpPr>
        <p:spPr>
          <a:xfrm>
            <a:off x="4631520" y="4926000"/>
            <a:ext cx="90000" cy="90000"/>
          </a:xfrm>
          <a:prstGeom prst="ellipse">
            <a:avLst/>
          </a:prstGeom>
          <a:solidFill>
            <a:srgbClr val="14A0A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5" name="BulletText2"/>
          <p:cNvSpPr/>
          <p:nvPr/>
        </p:nvSpPr>
        <p:spPr>
          <a:xfrm>
            <a:off x="4911520" y="4796000"/>
            <a:ext cx="654896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update to persist it to the patient's worklist entry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tomatic Risk Al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Kicker"/>
          <p:cNvSpPr/>
          <p:nvPr/>
        </p:nvSpPr>
        <p:spPr>
          <a:xfrm>
            <a:off x="731520" y="548640"/>
            <a:ext cx="70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spc="1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SAFETY</a:t>
            </a:r>
            <a:endParaRPr lang="en-US" sz="1400" dirty="0"/>
          </a:p>
        </p:txBody>
      </p:sp>
      <p:sp>
        <p:nvSpPr>
          <p:cNvPr id="102" name="PageCounter"/>
          <p:cNvSpPr/>
          <p:nvPr/>
        </p:nvSpPr>
        <p:spPr>
          <a:xfrm>
            <a:off x="10060480" y="548640"/>
            <a:ext cx="14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spc="10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04</a:t>
            </a:r>
            <a:endParaRPr lang="en-US" sz="1400" dirty="0"/>
          </a:p>
        </p:txBody>
      </p:sp>
      <p:sp>
        <p:nvSpPr>
          <p:cNvPr id="103" name="Title"/>
          <p:cNvSpPr/>
          <p:nvPr/>
        </p:nvSpPr>
        <p:spPr>
          <a:xfrm>
            <a:off x="731520" y="960000"/>
            <a:ext cx="88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Risk Alerts</a:t>
            </a:r>
            <a:endParaRPr lang="en-US" sz="4000" dirty="0"/>
          </a:p>
        </p:txBody>
      </p:sp>
      <p:sp>
        <p:nvSpPr>
          <p:cNvPr id="104" name="CircleOuter"/>
          <p:cNvSpPr/>
          <p:nvPr/>
        </p:nvSpPr>
        <p:spPr>
          <a:xfrm>
            <a:off x="1381520" y="2286000"/>
            <a:ext cx="2200000" cy="2200000"/>
          </a:xfrm>
          <a:prstGeom prst="ellipse">
            <a:avLst/>
          </a:prstGeom>
          <a:solidFill>
            <a:srgbClr val="E6F7F7"/>
          </a:solidFill>
          <a:ln w="12700">
            <a:solidFill>
              <a:srgbClr val="14A0A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5" name="CircleInner"/>
          <p:cNvSpPr/>
          <p:nvPr/>
        </p:nvSpPr>
        <p:spPr>
          <a:xfrm>
            <a:off x="1931520" y="2836000"/>
            <a:ext cx="1100000" cy="11000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06" name="FeatureIcon" descr="feature icon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31520" y="3136000"/>
            <a:ext cx="500000" cy="500000"/>
          </a:xfrm>
          <a:prstGeom prst="rect">
            <a:avLst/>
          </a:prstGeom>
        </p:spPr>
      </p:pic>
      <p:sp>
        <p:nvSpPr>
          <p:cNvPr id="107" name="StatNumber"/>
          <p:cNvSpPr/>
          <p:nvPr/>
        </p:nvSpPr>
        <p:spPr>
          <a:xfrm>
            <a:off x="731520" y="4766000"/>
            <a:ext cx="3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pts</a:t>
            </a:r>
            <a:endParaRPr lang="en-US" sz="3200" dirty="0"/>
          </a:p>
        </p:txBody>
      </p:sp>
      <p:sp>
        <p:nvSpPr>
          <p:cNvPr id="108" name="StatCaption"/>
          <p:cNvSpPr/>
          <p:nvPr/>
        </p:nvSpPr>
        <p:spPr>
          <a:xfrm>
            <a:off x="731520" y="5306000"/>
            <a:ext cx="3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jump that triggers an alert</a:t>
            </a:r>
            <a:endParaRPr lang="en-US" sz="1200" dirty="0"/>
          </a:p>
        </p:txBody>
      </p:sp>
      <p:sp>
        <p:nvSpPr>
          <p:cNvPr id="109" name="Lead"/>
          <p:cNvSpPr/>
          <p:nvPr/>
        </p:nvSpPr>
        <p:spPr>
          <a:xfrm>
            <a:off x="4631520" y="2286000"/>
            <a:ext cx="68289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now watches for meaningful deterioration on its own.</a:t>
            </a:r>
            <a:endParaRPr lang="en-US" sz="1800" dirty="0"/>
          </a:p>
        </p:txBody>
      </p:sp>
      <p:sp>
        <p:nvSpPr>
          <p:cNvPr id="110" name="BulletDot0"/>
          <p:cNvSpPr/>
          <p:nvPr/>
        </p:nvSpPr>
        <p:spPr>
          <a:xfrm>
            <a:off x="4631520" y="3366000"/>
            <a:ext cx="90000" cy="90000"/>
          </a:xfrm>
          <a:prstGeom prst="ellipse">
            <a:avLst/>
          </a:prstGeom>
          <a:solidFill>
            <a:srgbClr val="14A0A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1" name="BulletText0"/>
          <p:cNvSpPr/>
          <p:nvPr/>
        </p:nvSpPr>
        <p:spPr>
          <a:xfrm>
            <a:off x="4911520" y="3236000"/>
            <a:ext cx="654896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 a 15+ point score jump or a move to a higher risk band</a:t>
            </a:r>
            <a:endParaRPr lang="en-US" sz="1400" dirty="0"/>
          </a:p>
        </p:txBody>
      </p:sp>
      <p:sp>
        <p:nvSpPr>
          <p:cNvPr id="112" name="BulletDot1"/>
          <p:cNvSpPr/>
          <p:nvPr/>
        </p:nvSpPr>
        <p:spPr>
          <a:xfrm>
            <a:off x="4631520" y="4146000"/>
            <a:ext cx="90000" cy="90000"/>
          </a:xfrm>
          <a:prstGeom prst="ellipse">
            <a:avLst/>
          </a:prstGeom>
          <a:solidFill>
            <a:srgbClr val="14A0A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3" name="BulletText1"/>
          <p:cNvSpPr/>
          <p:nvPr/>
        </p:nvSpPr>
        <p:spPr>
          <a:xfrm>
            <a:off x="4911520" y="4016000"/>
            <a:ext cx="654896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via a notification bell with a live unread count</a:t>
            </a:r>
            <a:endParaRPr lang="en-US" sz="1400" dirty="0"/>
          </a:p>
        </p:txBody>
      </p:sp>
      <p:sp>
        <p:nvSpPr>
          <p:cNvPr id="114" name="BulletDot2"/>
          <p:cNvSpPr/>
          <p:nvPr/>
        </p:nvSpPr>
        <p:spPr>
          <a:xfrm>
            <a:off x="4631520" y="4926000"/>
            <a:ext cx="90000" cy="90000"/>
          </a:xfrm>
          <a:prstGeom prst="ellipse">
            <a:avLst/>
          </a:prstGeom>
          <a:solidFill>
            <a:srgbClr val="14A0A5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5" name="BulletText2"/>
          <p:cNvSpPr/>
          <p:nvPr/>
        </p:nvSpPr>
        <p:spPr>
          <a:xfrm>
            <a:off x="4911520" y="4796000"/>
            <a:ext cx="654896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acknowledge once a coordinator has followed up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Requirements Specification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data dictionary defining what real patient data we need to generalize beyond the diabetic sample.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74520" y="1828800"/>
            <a:ext cx="914400" cy="914400"/>
          </a:xfrm>
          <a:prstGeom prst="ellipse">
            <a:avLst/>
          </a:prstGeom>
          <a:solidFill>
            <a:srgbClr val="0F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112264" y="20665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categories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/ Should / Nice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206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tiers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4617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/ Partial / Missing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4983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per field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34840" y="1984248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63440" y="182880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&amp; Linkage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74736" y="1984248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403336" y="182880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34840" y="2551176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63440" y="23957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 Details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174736" y="2551176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403336" y="239572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Comorbidity &amp; Severity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34840" y="3118104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663440" y="2962656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&amp; Vitals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174736" y="3118104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403336" y="2962656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434840" y="3685032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663440" y="3529584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History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174736" y="3685032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403336" y="3529584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Planning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434840" y="4251960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663440" y="4096512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Determinants (SDOH)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174736" y="4251960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403336" y="4096512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Status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434840" y="4818888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663440" y="466344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Health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174736" y="4818888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403336" y="466344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Variables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4434840" y="5989320"/>
            <a:ext cx="7205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guide sourcing of real, de-identified, multi-condition patient data.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317</Words>
  <Application>Microsoft Macintosh PowerPoint</Application>
  <PresentationFormat>Widescreen</PresentationFormat>
  <Paragraphs>62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Umair  Amir</cp:lastModifiedBy>
  <cp:revision>3</cp:revision>
  <dcterms:created xsi:type="dcterms:W3CDTF">2026-07-29T19:33:10Z</dcterms:created>
  <dcterms:modified xsi:type="dcterms:W3CDTF">2026-07-30T02:30:08Z</dcterms:modified>
</cp:coreProperties>
</file>