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53FDC6-5602-4F8D-BAE7-6505F4A2AC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8991B0-CDA9-4C21-9A25-0CD7349DCA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4D849-CCD8-4154-9DC8-9229CD966A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6D8600-B293-449B-AD07-81E282D7CB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28563C-9D95-45C4-AF1A-B42FBE6120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2E6D7B-1387-46EA-8291-156295D470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184197-F072-4A42-A2CB-A46AC19C78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216112-8943-4CA1-A9AF-CDF6781C45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D2690C-4360-44DA-8957-396D0D337F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7257F7-DFD8-4657-841E-C1C8DB2295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D914FC-8F5E-488F-90C0-5088930813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11DBFD-8D22-4958-A4B8-7E2E6E2AD2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562211-B9B8-4154-B184-19BDBA03DB6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d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TextBox 2"/>
          <p:cNvSpPr/>
          <p:nvPr/>
        </p:nvSpPr>
        <p:spPr>
          <a:xfrm>
            <a:off x="502920" y="274320"/>
            <a:ext cx="87778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0f2a4a"/>
                </a:solidFill>
                <a:latin typeface="Consolas"/>
              </a:rPr>
              <a:t>STAGE 0</a:t>
            </a: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   ·   UCI DIABETES 130-US HOSPITALS — WHERE THIS STARTED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9860040" y="274320"/>
            <a:ext cx="182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PREVENTRA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502920" y="530280"/>
            <a:ext cx="11185560" cy="10440"/>
          </a:xfrm>
          <a:prstGeom prst="rect">
            <a:avLst/>
          </a:prstGeom>
          <a:solidFill>
            <a:srgbClr val="c9d2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Box 5"/>
          <p:cNvSpPr/>
          <p:nvPr/>
        </p:nvSpPr>
        <p:spPr>
          <a:xfrm>
            <a:off x="502920" y="658440"/>
            <a:ext cx="1118556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buNone/>
            </a:pPr>
            <a:r>
              <a:rPr b="0" lang="en-US" sz="2500" spc="-1" strike="noStrike">
                <a:solidFill>
                  <a:srgbClr val="14293f"/>
                </a:solidFill>
                <a:latin typeface="Georgia"/>
              </a:rPr>
              <a:t>It began with one disease.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502920" y="1627560"/>
            <a:ext cx="96922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A readmission model on the </a:t>
            </a:r>
            <a:r>
              <a:rPr b="1" lang="en-US" sz="1050" spc="-1" strike="noStrike">
                <a:solidFill>
                  <a:srgbClr val="14293f"/>
                </a:solidFill>
                <a:latin typeface="Calibri"/>
              </a:rPr>
              <a:t>UCI Diabetes 130-US Hospitals</a:t>
            </a: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 dataset — 101,766 encounters, diabetic inpatients only. Four approaches were built and validated against a pass mark of 0.65.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502920" y="2157840"/>
            <a:ext cx="43430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0" lang="en-US" sz="4000" spc="-1" strike="noStrike">
                <a:solidFill>
                  <a:srgbClr val="0f2a4a"/>
                </a:solidFill>
                <a:latin typeface="Georgia"/>
              </a:rPr>
              <a:t>0.7063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502920" y="2753280"/>
            <a:ext cx="43430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00" spc="-1" strike="noStrike">
                <a:solidFill>
                  <a:srgbClr val="8494a3"/>
                </a:solidFill>
                <a:latin typeface="Consolas"/>
              </a:rPr>
              <a:t>ROC-AUC ON THE APPROACH THAT SHIPPED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502920" y="3072240"/>
            <a:ext cx="43430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1" lang="en-US" sz="950" spc="-1" strike="noStrike">
                <a:solidFill>
                  <a:srgbClr val="14293f"/>
                </a:solidFill>
                <a:latin typeface="Calibri"/>
              </a:rPr>
              <a:t>AUC-ROC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 stands for </a:t>
            </a:r>
            <a:r>
              <a:rPr b="0" i="1" lang="en-US" sz="950" spc="-1" strike="noStrike">
                <a:solidFill>
                  <a:srgbClr val="5a6b7d"/>
                </a:solidFill>
                <a:latin typeface="Calibri"/>
              </a:rPr>
              <a:t>Area Under the Receiver Operating Characteristic curve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. In plain terms it is a mark out of 1 for how well the model sorts patients riskiest-first. 0.50 is random guessing, 1.00 is perfect. This one gets the order right 71% of the time.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0" name="Rectangle 10"/>
          <p:cNvSpPr/>
          <p:nvPr/>
        </p:nvSpPr>
        <p:spPr>
          <a:xfrm>
            <a:off x="502920" y="3968640"/>
            <a:ext cx="28800" cy="9140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Box 11"/>
          <p:cNvSpPr/>
          <p:nvPr/>
        </p:nvSpPr>
        <p:spPr>
          <a:xfrm>
            <a:off x="658440" y="3968640"/>
            <a:ext cx="41875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00" spc="-1" strike="noStrike">
                <a:solidFill>
                  <a:srgbClr val="c0392b"/>
                </a:solidFill>
                <a:latin typeface="Georgia"/>
              </a:rPr>
              <a:t>A working model, on a single disease.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" name="TextBox 12"/>
          <p:cNvSpPr/>
          <p:nvPr/>
        </p:nvSpPr>
        <p:spPr>
          <a:xfrm>
            <a:off x="658440" y="4279320"/>
            <a:ext cx="418752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It proved the pipeline worked. It could not be the product — the hospital needed every patient, not the diabetic ones.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3" name="Rectangle 13"/>
          <p:cNvSpPr/>
          <p:nvPr/>
        </p:nvSpPr>
        <p:spPr>
          <a:xfrm>
            <a:off x="502920" y="4956120"/>
            <a:ext cx="4343040" cy="14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Box 14"/>
          <p:cNvSpPr/>
          <p:nvPr/>
        </p:nvSpPr>
        <p:spPr>
          <a:xfrm>
            <a:off x="649080" y="5102280"/>
            <a:ext cx="40503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WHAT WAS BUILT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5" name="TextBox 15"/>
          <p:cNvSpPr/>
          <p:nvPr/>
        </p:nvSpPr>
        <p:spPr>
          <a:xfrm>
            <a:off x="649080" y="533088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Encounters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6" name="TextBox 16"/>
          <p:cNvSpPr/>
          <p:nvPr/>
        </p:nvSpPr>
        <p:spPr>
          <a:xfrm>
            <a:off x="3079800" y="533088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950" spc="-1" strike="noStrike">
                <a:solidFill>
                  <a:srgbClr val="0f2a4a"/>
                </a:solidFill>
                <a:latin typeface="Consolas"/>
              </a:rPr>
              <a:t>101,766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7" name="Rectangle 17"/>
          <p:cNvSpPr/>
          <p:nvPr/>
        </p:nvSpPr>
        <p:spPr>
          <a:xfrm>
            <a:off x="649080" y="5495400"/>
            <a:ext cx="4050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Box 18"/>
          <p:cNvSpPr/>
          <p:nvPr/>
        </p:nvSpPr>
        <p:spPr>
          <a:xfrm>
            <a:off x="649080" y="552312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Features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9" name="TextBox 19"/>
          <p:cNvSpPr/>
          <p:nvPr/>
        </p:nvSpPr>
        <p:spPr>
          <a:xfrm>
            <a:off x="3079800" y="552312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34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0" name="Rectangle 20"/>
          <p:cNvSpPr/>
          <p:nvPr/>
        </p:nvSpPr>
        <p:spPr>
          <a:xfrm>
            <a:off x="649080" y="5687640"/>
            <a:ext cx="4050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Box 21"/>
          <p:cNvSpPr/>
          <p:nvPr/>
        </p:nvSpPr>
        <p:spPr>
          <a:xfrm>
            <a:off x="649080" y="571500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Who it covered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2" name="TextBox 22"/>
          <p:cNvSpPr/>
          <p:nvPr/>
        </p:nvSpPr>
        <p:spPr>
          <a:xfrm>
            <a:off x="3079800" y="571500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diabetic inpatients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3" name="Rectangle 23"/>
          <p:cNvSpPr/>
          <p:nvPr/>
        </p:nvSpPr>
        <p:spPr>
          <a:xfrm>
            <a:off x="649080" y="5879520"/>
            <a:ext cx="4050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Box 24"/>
          <p:cNvSpPr/>
          <p:nvPr/>
        </p:nvSpPr>
        <p:spPr>
          <a:xfrm>
            <a:off x="649080" y="590688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Approaches trained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5" name="TextBox 25"/>
          <p:cNvSpPr/>
          <p:nvPr/>
        </p:nvSpPr>
        <p:spPr>
          <a:xfrm>
            <a:off x="3079800" y="590688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4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6" name="Rectangle 26"/>
          <p:cNvSpPr/>
          <p:nvPr/>
        </p:nvSpPr>
        <p:spPr>
          <a:xfrm>
            <a:off x="649080" y="6071760"/>
            <a:ext cx="4050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Box 27"/>
          <p:cNvSpPr/>
          <p:nvPr/>
        </p:nvSpPr>
        <p:spPr>
          <a:xfrm>
            <a:off x="649080" y="609912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Pass mark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8" name="TextBox 28"/>
          <p:cNvSpPr/>
          <p:nvPr/>
        </p:nvSpPr>
        <p:spPr>
          <a:xfrm>
            <a:off x="3079800" y="609912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ROC-AUC 0.65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9" name="TextBox 29"/>
          <p:cNvSpPr/>
          <p:nvPr/>
        </p:nvSpPr>
        <p:spPr>
          <a:xfrm>
            <a:off x="5349240" y="2157840"/>
            <a:ext cx="63363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FOUR APPROACHES, ONE PASS MARK OF 0.65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0" name="TextBox 30"/>
          <p:cNvSpPr/>
          <p:nvPr/>
        </p:nvSpPr>
        <p:spPr>
          <a:xfrm>
            <a:off x="8897760" y="2395800"/>
            <a:ext cx="114012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750" spc="-1" strike="noStrike">
                <a:solidFill>
                  <a:srgbClr val="8494a3"/>
                </a:solidFill>
                <a:latin typeface="Consolas"/>
              </a:rPr>
              <a:t>ROC-AUC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1" name="TextBox 31"/>
          <p:cNvSpPr/>
          <p:nvPr/>
        </p:nvSpPr>
        <p:spPr>
          <a:xfrm>
            <a:off x="10038600" y="2395800"/>
            <a:ext cx="164736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750" spc="-1" strike="noStrike">
                <a:solidFill>
                  <a:srgbClr val="8494a3"/>
                </a:solidFill>
                <a:latin typeface="Consolas"/>
              </a:rPr>
              <a:t>VERDICT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2" name="Rectangle 32"/>
          <p:cNvSpPr/>
          <p:nvPr/>
        </p:nvSpPr>
        <p:spPr>
          <a:xfrm>
            <a:off x="5349240" y="2560320"/>
            <a:ext cx="6336360" cy="6840"/>
          </a:xfrm>
          <a:prstGeom prst="rect">
            <a:avLst/>
          </a:prstGeom>
          <a:solidFill>
            <a:srgbClr val="c9d2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Box 33"/>
          <p:cNvSpPr/>
          <p:nvPr/>
        </p:nvSpPr>
        <p:spPr>
          <a:xfrm>
            <a:off x="5349240" y="2651760"/>
            <a:ext cx="35481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Decision tree, plain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4" name="TextBox 34"/>
          <p:cNvSpPr/>
          <p:nvPr/>
        </p:nvSpPr>
        <p:spPr>
          <a:xfrm>
            <a:off x="8897760" y="2651760"/>
            <a:ext cx="11401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onsolas"/>
              </a:rPr>
              <a:t>0.6463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5" name="TextBox 35"/>
          <p:cNvSpPr/>
          <p:nvPr/>
        </p:nvSpPr>
        <p:spPr>
          <a:xfrm>
            <a:off x="10038600" y="2651760"/>
            <a:ext cx="164736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00" spc="-1" strike="noStrike">
                <a:solidFill>
                  <a:srgbClr val="5a6b7d"/>
                </a:solidFill>
                <a:latin typeface="Calibri"/>
              </a:rPr>
              <a:t>did not pass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6" name="TextBox 36"/>
          <p:cNvSpPr/>
          <p:nvPr/>
        </p:nvSpPr>
        <p:spPr>
          <a:xfrm>
            <a:off x="5349240" y="2926080"/>
            <a:ext cx="35481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Decision tree, balanced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7" name="TextBox 37"/>
          <p:cNvSpPr/>
          <p:nvPr/>
        </p:nvSpPr>
        <p:spPr>
          <a:xfrm>
            <a:off x="8897760" y="2926080"/>
            <a:ext cx="11401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onsolas"/>
              </a:rPr>
              <a:t>0.6893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8" name="TextBox 38"/>
          <p:cNvSpPr/>
          <p:nvPr/>
        </p:nvSpPr>
        <p:spPr>
          <a:xfrm>
            <a:off x="10038600" y="2926080"/>
            <a:ext cx="164736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00" spc="-1" strike="noStrike">
                <a:solidFill>
                  <a:srgbClr val="5a6b7d"/>
                </a:solidFill>
                <a:latin typeface="Calibri"/>
              </a:rPr>
              <a:t>passed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9" name="TextBox 39"/>
          <p:cNvSpPr/>
          <p:nvPr/>
        </p:nvSpPr>
        <p:spPr>
          <a:xfrm>
            <a:off x="5349240" y="3200400"/>
            <a:ext cx="35481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050" spc="-1" strike="noStrike">
                <a:solidFill>
                  <a:srgbClr val="14293f"/>
                </a:solidFill>
                <a:latin typeface="Calibri"/>
              </a:rPr>
              <a:t>Decision tree, balanced + importance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0" name="TextBox 40"/>
          <p:cNvSpPr/>
          <p:nvPr/>
        </p:nvSpPr>
        <p:spPr>
          <a:xfrm>
            <a:off x="8897760" y="3200400"/>
            <a:ext cx="11401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050" spc="-1" strike="noStrike">
                <a:solidFill>
                  <a:srgbClr val="0f2a4a"/>
                </a:solidFill>
                <a:latin typeface="Consolas"/>
              </a:rPr>
              <a:t>0.7063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1" name="TextBox 41"/>
          <p:cNvSpPr/>
          <p:nvPr/>
        </p:nvSpPr>
        <p:spPr>
          <a:xfrm>
            <a:off x="10038600" y="3200400"/>
            <a:ext cx="164736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000" spc="-1" strike="noStrike">
                <a:solidFill>
                  <a:srgbClr val="0f2a4a"/>
                </a:solidFill>
                <a:latin typeface="Calibri"/>
              </a:rPr>
              <a:t>shipped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" name="TextBox 42"/>
          <p:cNvSpPr/>
          <p:nvPr/>
        </p:nvSpPr>
        <p:spPr>
          <a:xfrm>
            <a:off x="5349240" y="3474720"/>
            <a:ext cx="35481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XGBoost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3" name="TextBox 43"/>
          <p:cNvSpPr/>
          <p:nvPr/>
        </p:nvSpPr>
        <p:spPr>
          <a:xfrm>
            <a:off x="8897760" y="3474720"/>
            <a:ext cx="11401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onsolas"/>
              </a:rPr>
              <a:t>0.6702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4" name="TextBox 44"/>
          <p:cNvSpPr/>
          <p:nvPr/>
        </p:nvSpPr>
        <p:spPr>
          <a:xfrm>
            <a:off x="10038600" y="3474720"/>
            <a:ext cx="164736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000" spc="-1" strike="noStrike">
                <a:solidFill>
                  <a:srgbClr val="5a6b7d"/>
                </a:solidFill>
                <a:latin typeface="Calibri"/>
              </a:rPr>
              <a:t>passed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5" name="Rectangle 45"/>
          <p:cNvSpPr/>
          <p:nvPr/>
        </p:nvSpPr>
        <p:spPr>
          <a:xfrm>
            <a:off x="5349240" y="3712320"/>
            <a:ext cx="6336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Box 46"/>
          <p:cNvSpPr/>
          <p:nvPr/>
        </p:nvSpPr>
        <p:spPr>
          <a:xfrm>
            <a:off x="5349240" y="3822120"/>
            <a:ext cx="63363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900" spc="-1" strike="noStrike">
                <a:solidFill>
                  <a:srgbClr val="8494a3"/>
                </a:solidFill>
                <a:latin typeface="Calibri"/>
              </a:rPr>
              <a:t>Trained on the earliest 80% of encounters and tested on the most recent 20%, so every approach was judged on visits it had never seen.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TextBox 47"/>
          <p:cNvSpPr/>
          <p:nvPr/>
        </p:nvSpPr>
        <p:spPr>
          <a:xfrm>
            <a:off x="5349240" y="4260960"/>
            <a:ext cx="63363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WHAT IT ESTABLISHED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8" name="Rectangle 48"/>
          <p:cNvSpPr/>
          <p:nvPr/>
        </p:nvSpPr>
        <p:spPr>
          <a:xfrm>
            <a:off x="5349240" y="4480560"/>
            <a:ext cx="25200" cy="60300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Box 49"/>
          <p:cNvSpPr/>
          <p:nvPr/>
        </p:nvSpPr>
        <p:spPr>
          <a:xfrm>
            <a:off x="5495400" y="4480560"/>
            <a:ext cx="619020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050" spc="-1" strike="noStrike">
                <a:solidFill>
                  <a:srgbClr val="14293f"/>
                </a:solidFill>
                <a:latin typeface="Calibri"/>
              </a:rPr>
              <a:t>The pipeline worked end to end.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0" name="TextBox 50"/>
          <p:cNvSpPr/>
          <p:nvPr/>
        </p:nvSpPr>
        <p:spPr>
          <a:xfrm>
            <a:off x="5495400" y="4695480"/>
            <a:ext cx="6190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Cohort building, feature engineering, training, validation and a shipped model — all proven on real hospital records.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91" name="Rectangle 51"/>
          <p:cNvSpPr/>
          <p:nvPr/>
        </p:nvSpPr>
        <p:spPr>
          <a:xfrm>
            <a:off x="5349240" y="5157360"/>
            <a:ext cx="25200" cy="60300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Box 52"/>
          <p:cNvSpPr/>
          <p:nvPr/>
        </p:nvSpPr>
        <p:spPr>
          <a:xfrm>
            <a:off x="5495400" y="5157360"/>
            <a:ext cx="619020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050" spc="-1" strike="noStrike">
                <a:solidFill>
                  <a:srgbClr val="14293f"/>
                </a:solidFill>
                <a:latin typeface="Calibri"/>
              </a:rPr>
              <a:t>It set the yardstick.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3" name="TextBox 53"/>
          <p:cNvSpPr/>
          <p:nvPr/>
        </p:nvSpPr>
        <p:spPr>
          <a:xfrm>
            <a:off x="5495400" y="5372280"/>
            <a:ext cx="61902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0.7063 became the number every later model was measured against.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94" name="Rectangle 54"/>
          <p:cNvSpPr/>
          <p:nvPr/>
        </p:nvSpPr>
        <p:spPr>
          <a:xfrm>
            <a:off x="5349240" y="5833800"/>
            <a:ext cx="25200" cy="60300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Box 55"/>
          <p:cNvSpPr/>
          <p:nvPr/>
        </p:nvSpPr>
        <p:spPr>
          <a:xfrm>
            <a:off x="5495400" y="5833800"/>
            <a:ext cx="619020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050" spc="-1" strike="noStrike">
                <a:solidFill>
                  <a:srgbClr val="14293f"/>
                </a:solidFill>
                <a:latin typeface="Calibri"/>
              </a:rPr>
              <a:t>It framed the next question.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6" name="TextBox 56"/>
          <p:cNvSpPr/>
          <p:nvPr/>
        </p:nvSpPr>
        <p:spPr>
          <a:xfrm>
            <a:off x="5495400" y="6048720"/>
            <a:ext cx="6190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Diabetes is one condition. The product needed all-cause adult inpatients, so the search moved to data with a wider population.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d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Box 2"/>
          <p:cNvSpPr/>
          <p:nvPr/>
        </p:nvSpPr>
        <p:spPr>
          <a:xfrm>
            <a:off x="502920" y="274320"/>
            <a:ext cx="87778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0f2a4a"/>
                </a:solidFill>
                <a:latin typeface="Consolas"/>
              </a:rPr>
              <a:t>STAGE 1</a:t>
            </a: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   ·   CMS DE-SYNPUF — ANALYSIS, AND THE DECISION TO LEAVE IT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9860040" y="274320"/>
            <a:ext cx="182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PREVENTRA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502920" y="530280"/>
            <a:ext cx="11185560" cy="10440"/>
          </a:xfrm>
          <a:prstGeom prst="rect">
            <a:avLst/>
          </a:prstGeom>
          <a:solidFill>
            <a:srgbClr val="c9d2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Box 5"/>
          <p:cNvSpPr/>
          <p:nvPr/>
        </p:nvSpPr>
        <p:spPr>
          <a:xfrm>
            <a:off x="502920" y="658440"/>
            <a:ext cx="1118556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buNone/>
            </a:pPr>
            <a:r>
              <a:rPr b="0" lang="en-US" sz="2500" spc="-1" strike="noStrike">
                <a:solidFill>
                  <a:srgbClr val="14293f"/>
                </a:solidFill>
                <a:latin typeface="Georgia"/>
              </a:rPr>
              <a:t>Synthetic claims data could not support a clinical product.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502920" y="1627560"/>
            <a:ext cx="96922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Twenty CMS sample files were pulled, cleaned, linked and enriched into a single modelling table, then trained with </a:t>
            </a:r>
            <a:r>
              <a:rPr b="1" lang="en-US" sz="1050" spc="-1" strike="noStrike">
                <a:solidFill>
                  <a:srgbClr val="14293f"/>
                </a:solidFill>
                <a:latin typeface="Calibri"/>
              </a:rPr>
              <a:t>5-fold validation grouped by patient</a:t>
            </a: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. The score did not justify the compromises the data forced.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502920" y="2157840"/>
            <a:ext cx="43430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0" lang="en-US" sz="4000" spc="-1" strike="noStrike">
                <a:solidFill>
                  <a:srgbClr val="0f2a4a"/>
                </a:solidFill>
                <a:latin typeface="Georgia"/>
              </a:rPr>
              <a:t>0.6893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502920" y="2753280"/>
            <a:ext cx="43430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00" spc="-1" strike="noStrike">
                <a:solidFill>
                  <a:srgbClr val="8494a3"/>
                </a:solidFill>
                <a:latin typeface="Consolas"/>
              </a:rPr>
              <a:t>ROC-AUC ON CMS CLAIMS  ·  5-FOLD, GROUPED BY PATIENT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502920" y="3072240"/>
            <a:ext cx="434304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1" lang="en-US" sz="950" spc="-1" strike="noStrike">
                <a:solidFill>
                  <a:srgbClr val="14293f"/>
                </a:solidFill>
                <a:latin typeface="Calibri"/>
              </a:rPr>
              <a:t>AUC-ROC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 stands for </a:t>
            </a:r>
            <a:r>
              <a:rPr b="0" i="1" lang="en-US" sz="950" spc="-1" strike="noStrike">
                <a:solidFill>
                  <a:srgbClr val="5a6b7d"/>
                </a:solidFill>
                <a:latin typeface="Calibri"/>
              </a:rPr>
              <a:t>Area Under the Receiver Operating Characteristic curve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. In plain terms it is a mark out of 1 for how well the model sorts patients riskiest-first. 0.50 is random guessing, 1.00 is perfect. This one gets the order right 69% of the time.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06" name="Rectangle 10"/>
          <p:cNvSpPr/>
          <p:nvPr/>
        </p:nvSpPr>
        <p:spPr>
          <a:xfrm>
            <a:off x="502920" y="3968640"/>
            <a:ext cx="28800" cy="9140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Box 11"/>
          <p:cNvSpPr/>
          <p:nvPr/>
        </p:nvSpPr>
        <p:spPr>
          <a:xfrm>
            <a:off x="658440" y="3968640"/>
            <a:ext cx="41875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00" spc="-1" strike="noStrike">
                <a:solidFill>
                  <a:srgbClr val="c0392b"/>
                </a:solidFill>
                <a:latin typeface="Georgia"/>
              </a:rPr>
              <a:t>A weak score, on data that is not real.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658440" y="4279320"/>
            <a:ext cx="41875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DE-SynPUF is generated data. CMS publishes it for building and testing software, not for drawing conclusions about real beneficiaries.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09" name="Rectangle 13"/>
          <p:cNvSpPr/>
          <p:nvPr/>
        </p:nvSpPr>
        <p:spPr>
          <a:xfrm>
            <a:off x="502920" y="4956120"/>
            <a:ext cx="4343040" cy="149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Box 14"/>
          <p:cNvSpPr/>
          <p:nvPr/>
        </p:nvSpPr>
        <p:spPr>
          <a:xfrm>
            <a:off x="649080" y="5102280"/>
            <a:ext cx="40503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WHAT WAS BUILT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1" name="TextBox 15"/>
          <p:cNvSpPr/>
          <p:nvPr/>
        </p:nvSpPr>
        <p:spPr>
          <a:xfrm>
            <a:off x="649080" y="533088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Encounters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2" name="TextBox 16"/>
          <p:cNvSpPr/>
          <p:nvPr/>
        </p:nvSpPr>
        <p:spPr>
          <a:xfrm>
            <a:off x="3079800" y="533088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950" spc="-1" strike="noStrike">
                <a:solidFill>
                  <a:srgbClr val="0f2a4a"/>
                </a:solidFill>
                <a:latin typeface="Consolas"/>
              </a:rPr>
              <a:t>1,332,755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3" name="Rectangle 17"/>
          <p:cNvSpPr/>
          <p:nvPr/>
        </p:nvSpPr>
        <p:spPr>
          <a:xfrm>
            <a:off x="649080" y="5495400"/>
            <a:ext cx="4050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Box 18"/>
          <p:cNvSpPr/>
          <p:nvPr/>
        </p:nvSpPr>
        <p:spPr>
          <a:xfrm>
            <a:off x="649080" y="552312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Features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5" name="TextBox 19"/>
          <p:cNvSpPr/>
          <p:nvPr/>
        </p:nvSpPr>
        <p:spPr>
          <a:xfrm>
            <a:off x="3079800" y="552312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58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6" name="Rectangle 20"/>
          <p:cNvSpPr/>
          <p:nvPr/>
        </p:nvSpPr>
        <p:spPr>
          <a:xfrm>
            <a:off x="649080" y="5687640"/>
            <a:ext cx="4050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Box 21"/>
          <p:cNvSpPr/>
          <p:nvPr/>
        </p:nvSpPr>
        <p:spPr>
          <a:xfrm>
            <a:off x="649080" y="571500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Readmitted within 30 days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3079800" y="571500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133,477 · 10.02%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9" name="Rectangle 23"/>
          <p:cNvSpPr/>
          <p:nvPr/>
        </p:nvSpPr>
        <p:spPr>
          <a:xfrm>
            <a:off x="649080" y="5879520"/>
            <a:ext cx="4050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Box 24"/>
          <p:cNvSpPr/>
          <p:nvPr/>
        </p:nvSpPr>
        <p:spPr>
          <a:xfrm>
            <a:off x="649080" y="590688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Laboratory results in the file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3079800" y="590688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950" spc="-1" strike="noStrike">
                <a:solidFill>
                  <a:srgbClr val="c0392b"/>
                </a:solidFill>
                <a:latin typeface="Consolas"/>
              </a:rPr>
              <a:t>0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2" name="Rectangle 26"/>
          <p:cNvSpPr/>
          <p:nvPr/>
        </p:nvSpPr>
        <p:spPr>
          <a:xfrm>
            <a:off x="649080" y="6071760"/>
            <a:ext cx="4050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Box 27"/>
          <p:cNvSpPr/>
          <p:nvPr/>
        </p:nvSpPr>
        <p:spPr>
          <a:xfrm>
            <a:off x="649080" y="6099120"/>
            <a:ext cx="243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Vital signs in the file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3079800" y="6099120"/>
            <a:ext cx="162000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950" spc="-1" strike="noStrike">
                <a:solidFill>
                  <a:srgbClr val="c0392b"/>
                </a:solidFill>
                <a:latin typeface="Consolas"/>
              </a:rPr>
              <a:t>0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5349240" y="2157840"/>
            <a:ext cx="63363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WHY WE MOVED TO REAL CLINICAL DATA — IN ORDER OF WEIGHT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6" name="TextBox 30"/>
          <p:cNvSpPr/>
          <p:nvPr/>
        </p:nvSpPr>
        <p:spPr>
          <a:xfrm>
            <a:off x="5349240" y="2432160"/>
            <a:ext cx="25560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00" spc="-1" strike="noStrike">
                <a:solidFill>
                  <a:srgbClr val="0f2a4a"/>
                </a:solidFill>
                <a:latin typeface="Consolas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7" name="TextBox 31"/>
          <p:cNvSpPr/>
          <p:nvPr/>
        </p:nvSpPr>
        <p:spPr>
          <a:xfrm>
            <a:off x="5678280" y="2414160"/>
            <a:ext cx="600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50" spc="-1" strike="noStrike">
                <a:solidFill>
                  <a:srgbClr val="14293f"/>
                </a:solidFill>
                <a:latin typeface="Calibri"/>
              </a:rPr>
              <a:t>It is synthetic, so the score cannot transfer to a real patient.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8" name="TextBox 32"/>
          <p:cNvSpPr/>
          <p:nvPr/>
        </p:nvSpPr>
        <p:spPr>
          <a:xfrm>
            <a:off x="5678280" y="2670120"/>
            <a:ext cx="60073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A score on generated data is not a claim anyone can make in a clinic.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9" name="Rectangle 33"/>
          <p:cNvSpPr/>
          <p:nvPr/>
        </p:nvSpPr>
        <p:spPr>
          <a:xfrm>
            <a:off x="5349240" y="2944440"/>
            <a:ext cx="6336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Box 34"/>
          <p:cNvSpPr/>
          <p:nvPr/>
        </p:nvSpPr>
        <p:spPr>
          <a:xfrm>
            <a:off x="5349240" y="2999160"/>
            <a:ext cx="25560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00" spc="-1" strike="noStrike">
                <a:solidFill>
                  <a:srgbClr val="0f2a4a"/>
                </a:solidFill>
                <a:latin typeface="Consolas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1" name="TextBox 35"/>
          <p:cNvSpPr/>
          <p:nvPr/>
        </p:nvSpPr>
        <p:spPr>
          <a:xfrm>
            <a:off x="5678280" y="2980800"/>
            <a:ext cx="600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50" spc="-1" strike="noStrike">
                <a:solidFill>
                  <a:srgbClr val="14293f"/>
                </a:solidFill>
                <a:latin typeface="Calibri"/>
              </a:rPr>
              <a:t>No clinical measurements at all.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2" name="TextBox 36"/>
          <p:cNvSpPr/>
          <p:nvPr/>
        </p:nvSpPr>
        <p:spPr>
          <a:xfrm>
            <a:off x="5678280" y="3237120"/>
            <a:ext cx="60073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All 58 columns are administrative — what was billed, paid and claimed. Not one laboratory result, not one vital sign.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3" name="Rectangle 37"/>
          <p:cNvSpPr/>
          <p:nvPr/>
        </p:nvSpPr>
        <p:spPr>
          <a:xfrm>
            <a:off x="5349240" y="3712320"/>
            <a:ext cx="6336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Box 38"/>
          <p:cNvSpPr/>
          <p:nvPr/>
        </p:nvSpPr>
        <p:spPr>
          <a:xfrm>
            <a:off x="5349240" y="3767400"/>
            <a:ext cx="25560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00" spc="-1" strike="noStrike">
                <a:solidFill>
                  <a:srgbClr val="0f2a4a"/>
                </a:solidFill>
                <a:latin typeface="Consolas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5" name="TextBox 39"/>
          <p:cNvSpPr/>
          <p:nvPr/>
        </p:nvSpPr>
        <p:spPr>
          <a:xfrm>
            <a:off x="5678280" y="3749040"/>
            <a:ext cx="600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50" spc="-1" strike="noStrike">
                <a:solidFill>
                  <a:srgbClr val="14293f"/>
                </a:solidFill>
                <a:latin typeface="Calibri"/>
              </a:rPr>
              <a:t>The explanations are unusable at the bedside.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6" name="TextBox 40"/>
          <p:cNvSpPr/>
          <p:nvPr/>
        </p:nvSpPr>
        <p:spPr>
          <a:xfrm>
            <a:off x="5678280" y="4005000"/>
            <a:ext cx="6007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The dashboard names three reasons per patient. From claims those read “prior outpatient payment sum” — which held 54% of the prototype's importance, and which no coordinator can act on.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7" name="Rectangle 41"/>
          <p:cNvSpPr/>
          <p:nvPr/>
        </p:nvSpPr>
        <p:spPr>
          <a:xfrm>
            <a:off x="5349240" y="4681800"/>
            <a:ext cx="6336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Box 42"/>
          <p:cNvSpPr/>
          <p:nvPr/>
        </p:nvSpPr>
        <p:spPr>
          <a:xfrm>
            <a:off x="5349240" y="4736520"/>
            <a:ext cx="25560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00" spc="-1" strike="noStrike">
                <a:solidFill>
                  <a:srgbClr val="0f2a4a"/>
                </a:solidFill>
                <a:latin typeface="Consolas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9" name="TextBox 43"/>
          <p:cNvSpPr/>
          <p:nvPr/>
        </p:nvSpPr>
        <p:spPr>
          <a:xfrm>
            <a:off x="5678280" y="4718160"/>
            <a:ext cx="600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50" spc="-1" strike="noStrike">
                <a:solidFill>
                  <a:srgbClr val="14293f"/>
                </a:solidFill>
                <a:latin typeface="Calibri"/>
              </a:rPr>
              <a:t>ICD-9 only.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40" name="TextBox 44"/>
          <p:cNvSpPr/>
          <p:nvPr/>
        </p:nvSpPr>
        <p:spPr>
          <a:xfrm>
            <a:off x="5678280" y="4974480"/>
            <a:ext cx="60073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No ICD-10 anywhere in the file, so the disease coding is frozen in an edition the United States stopped using in 2015.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41" name="Rectangle 45"/>
          <p:cNvSpPr/>
          <p:nvPr/>
        </p:nvSpPr>
        <p:spPr>
          <a:xfrm>
            <a:off x="5349240" y="5449680"/>
            <a:ext cx="63363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Box 46"/>
          <p:cNvSpPr/>
          <p:nvPr/>
        </p:nvSpPr>
        <p:spPr>
          <a:xfrm>
            <a:off x="5349240" y="5504760"/>
            <a:ext cx="25560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00" spc="-1" strike="noStrike">
                <a:solidFill>
                  <a:srgbClr val="0f2a4a"/>
                </a:solidFill>
                <a:latin typeface="Consolas"/>
              </a:rPr>
              <a:t>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3" name="TextBox 47"/>
          <p:cNvSpPr/>
          <p:nvPr/>
        </p:nvSpPr>
        <p:spPr>
          <a:xfrm>
            <a:off x="5678280" y="5486400"/>
            <a:ext cx="600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1250" spc="-1" strike="noStrike">
                <a:solidFill>
                  <a:srgbClr val="14293f"/>
                </a:solidFill>
                <a:latin typeface="Calibri"/>
              </a:rPr>
              <a:t>Medicare-only, and claims settle too late.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44" name="TextBox 48"/>
          <p:cNvSpPr/>
          <p:nvPr/>
        </p:nvSpPr>
        <p:spPr>
          <a:xfrm>
            <a:off x="5678280" y="5742360"/>
            <a:ext cx="60073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65+ and disability, where our product is all-cause adult inpatients. A claim arrives weeks after the care it describes — weekly monitoring is structurally impossible.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d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Box 2"/>
          <p:cNvSpPr/>
          <p:nvPr/>
        </p:nvSpPr>
        <p:spPr>
          <a:xfrm>
            <a:off x="502920" y="274320"/>
            <a:ext cx="87778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0f2a4a"/>
                </a:solidFill>
                <a:latin typeface="Consolas"/>
              </a:rPr>
              <a:t>STAGES 2–3</a:t>
            </a: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   ·   MIMIC-IV — ACQUISITION, COHORT AND DEMOGRAPHICS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9860040" y="274320"/>
            <a:ext cx="182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PREVENTRA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8" name="Rectangle 4"/>
          <p:cNvSpPr/>
          <p:nvPr/>
        </p:nvSpPr>
        <p:spPr>
          <a:xfrm>
            <a:off x="502920" y="530280"/>
            <a:ext cx="11185560" cy="10440"/>
          </a:xfrm>
          <a:prstGeom prst="rect">
            <a:avLst/>
          </a:prstGeom>
          <a:solidFill>
            <a:srgbClr val="c9d2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Box 5"/>
          <p:cNvSpPr/>
          <p:nvPr/>
        </p:nvSpPr>
        <p:spPr>
          <a:xfrm>
            <a:off x="502920" y="658440"/>
            <a:ext cx="1118556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buNone/>
            </a:pPr>
            <a:r>
              <a:rPr b="0" lang="en-US" sz="2500" spc="-1" strike="noStrike">
                <a:solidFill>
                  <a:srgbClr val="14293f"/>
                </a:solidFill>
                <a:latin typeface="Georgia"/>
              </a:rPr>
              <a:t>Real patients, real measurements, and almost nobody with one disease.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502920" y="1627560"/>
            <a:ext cx="96922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MIMIC-IV hosp — Beth Israel Deaconess, de-identified, credentialed access. </a:t>
            </a:r>
            <a:r>
              <a:rPr b="1" lang="en-US" sz="1050" spc="-1" strike="noStrike">
                <a:solidFill>
                  <a:srgbClr val="14293f"/>
                </a:solidFill>
                <a:latin typeface="Calibri"/>
              </a:rPr>
              <a:t>545,497 admissions across 223,291 patients</a:t>
            </a: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 and 6,364,488 diagnosis records. A lower score than CMS, made of things a clinician can act on.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502920" y="2157840"/>
            <a:ext cx="353844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0" lang="en-US" sz="3600" spc="-1" strike="noStrike">
                <a:solidFill>
                  <a:srgbClr val="0f2a4a"/>
                </a:solidFill>
                <a:latin typeface="Georgia"/>
              </a:rPr>
              <a:t>0.7229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502920" y="2706480"/>
            <a:ext cx="353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00" spc="-1" strike="noStrike">
                <a:solidFill>
                  <a:srgbClr val="8494a3"/>
                </a:solidFill>
                <a:latin typeface="Consolas"/>
              </a:rPr>
              <a:t>AUC-ROC  ·  ISOTONICALLY CALIBRATED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3" name="TextBox 9"/>
          <p:cNvSpPr/>
          <p:nvPr/>
        </p:nvSpPr>
        <p:spPr>
          <a:xfrm>
            <a:off x="502920" y="3108960"/>
            <a:ext cx="35384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1" lang="en-US" sz="950" spc="-1" strike="noStrike">
                <a:solidFill>
                  <a:srgbClr val="14293f"/>
                </a:solidFill>
                <a:latin typeface="Calibri"/>
              </a:rPr>
              <a:t>AUC-ROC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 — Area Under the Receiver Operating Characteristic curve. This gets the order right 72% of the time.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4" name="Rectangle 10"/>
          <p:cNvSpPr/>
          <p:nvPr/>
        </p:nvSpPr>
        <p:spPr>
          <a:xfrm>
            <a:off x="502920" y="3803760"/>
            <a:ext cx="3538440" cy="246852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Box 11"/>
          <p:cNvSpPr/>
          <p:nvPr/>
        </p:nvSpPr>
        <p:spPr>
          <a:xfrm>
            <a:off x="649080" y="3950280"/>
            <a:ext cx="3245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THE DISCHARGE MODEL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649080" y="4197240"/>
            <a:ext cx="1947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Features  (48 are labs)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7" name="TextBox 13"/>
          <p:cNvSpPr/>
          <p:nvPr/>
        </p:nvSpPr>
        <p:spPr>
          <a:xfrm>
            <a:off x="2597040" y="4197240"/>
            <a:ext cx="129816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94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8" name="Rectangle 14"/>
          <p:cNvSpPr/>
          <p:nvPr/>
        </p:nvSpPr>
        <p:spPr>
          <a:xfrm>
            <a:off x="649080" y="437544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Box 15"/>
          <p:cNvSpPr/>
          <p:nvPr/>
        </p:nvSpPr>
        <p:spPr>
          <a:xfrm>
            <a:off x="649080" y="4402800"/>
            <a:ext cx="1947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30-day prevalence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0" name="TextBox 16"/>
          <p:cNvSpPr/>
          <p:nvPr/>
        </p:nvSpPr>
        <p:spPr>
          <a:xfrm>
            <a:off x="2597040" y="4402800"/>
            <a:ext cx="129816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19.63%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1" name="Rectangle 17"/>
          <p:cNvSpPr/>
          <p:nvPr/>
        </p:nvSpPr>
        <p:spPr>
          <a:xfrm>
            <a:off x="649080" y="458100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Box 18"/>
          <p:cNvSpPr/>
          <p:nvPr/>
        </p:nvSpPr>
        <p:spPr>
          <a:xfrm>
            <a:off x="649080" y="4608720"/>
            <a:ext cx="1947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Diagnoses per stay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3" name="TextBox 19"/>
          <p:cNvSpPr/>
          <p:nvPr/>
        </p:nvSpPr>
        <p:spPr>
          <a:xfrm>
            <a:off x="2597040" y="4608720"/>
            <a:ext cx="129816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11.7 on average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4" name="Rectangle 20"/>
          <p:cNvSpPr/>
          <p:nvPr/>
        </p:nvSpPr>
        <p:spPr>
          <a:xfrm>
            <a:off x="649080" y="478692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Box 21"/>
          <p:cNvSpPr/>
          <p:nvPr/>
        </p:nvSpPr>
        <p:spPr>
          <a:xfrm>
            <a:off x="649080" y="4814280"/>
            <a:ext cx="1947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AUC-PR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6" name="TextBox 22"/>
          <p:cNvSpPr/>
          <p:nvPr/>
        </p:nvSpPr>
        <p:spPr>
          <a:xfrm>
            <a:off x="2597040" y="4814280"/>
            <a:ext cx="129816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0.3921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7" name="Rectangle 23"/>
          <p:cNvSpPr/>
          <p:nvPr/>
        </p:nvSpPr>
        <p:spPr>
          <a:xfrm>
            <a:off x="649080" y="499248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Box 24"/>
          <p:cNvSpPr/>
          <p:nvPr/>
        </p:nvSpPr>
        <p:spPr>
          <a:xfrm>
            <a:off x="649080" y="5020200"/>
            <a:ext cx="1947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Brier score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69" name="TextBox 25"/>
          <p:cNvSpPr/>
          <p:nvPr/>
        </p:nvSpPr>
        <p:spPr>
          <a:xfrm>
            <a:off x="2597040" y="5020200"/>
            <a:ext cx="129816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14293f"/>
                </a:solidFill>
                <a:latin typeface="Consolas"/>
              </a:rPr>
              <a:t>0.1404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70" name="Rectangle 26"/>
          <p:cNvSpPr/>
          <p:nvPr/>
        </p:nvSpPr>
        <p:spPr>
          <a:xfrm>
            <a:off x="649080" y="519840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Box 27"/>
          <p:cNvSpPr/>
          <p:nvPr/>
        </p:nvSpPr>
        <p:spPr>
          <a:xfrm>
            <a:off x="649080" y="5225760"/>
            <a:ext cx="19472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Calibration ratio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72" name="TextBox 28"/>
          <p:cNvSpPr/>
          <p:nvPr/>
        </p:nvSpPr>
        <p:spPr>
          <a:xfrm>
            <a:off x="2597040" y="5225760"/>
            <a:ext cx="129816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950" spc="-1" strike="noStrike">
                <a:solidFill>
                  <a:srgbClr val="0f2a4a"/>
                </a:solidFill>
                <a:latin typeface="Consolas"/>
              </a:rPr>
              <a:t>1.01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73" name="Rectangle 29"/>
          <p:cNvSpPr/>
          <p:nvPr/>
        </p:nvSpPr>
        <p:spPr>
          <a:xfrm>
            <a:off x="649080" y="543168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Box 30"/>
          <p:cNvSpPr/>
          <p:nvPr/>
        </p:nvSpPr>
        <p:spPr>
          <a:xfrm>
            <a:off x="649080" y="5523120"/>
            <a:ext cx="324576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900" spc="-1" strike="noStrike">
                <a:solidFill>
                  <a:srgbClr val="5a6b7d"/>
                </a:solidFill>
                <a:latin typeface="Calibri"/>
              </a:rPr>
              <a:t>Split by patient, so nobody appears in two folds. Calibrated, so a 40% score means a real 40% chance — which is what lets a cost model sit on top of it.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5" name="TextBox 31"/>
          <p:cNvSpPr/>
          <p:nvPr/>
        </p:nvSpPr>
        <p:spPr>
          <a:xfrm>
            <a:off x="4297680" y="2157840"/>
            <a:ext cx="353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WHO THE PATIENTS ARE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76" name="TextBox 32"/>
          <p:cNvSpPr/>
          <p:nvPr/>
        </p:nvSpPr>
        <p:spPr>
          <a:xfrm>
            <a:off x="4297680" y="23911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18–39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77" name="Rectangle 33"/>
          <p:cNvSpPr/>
          <p:nvPr/>
        </p:nvSpPr>
        <p:spPr>
          <a:xfrm>
            <a:off x="4956120" y="240948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34"/>
          <p:cNvSpPr/>
          <p:nvPr/>
        </p:nvSpPr>
        <p:spPr>
          <a:xfrm>
            <a:off x="4956120" y="2409480"/>
            <a:ext cx="23313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Box 35"/>
          <p:cNvSpPr/>
          <p:nvPr/>
        </p:nvSpPr>
        <p:spPr>
          <a:xfrm>
            <a:off x="7379280" y="23911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24%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80" name="TextBox 36"/>
          <p:cNvSpPr/>
          <p:nvPr/>
        </p:nvSpPr>
        <p:spPr>
          <a:xfrm>
            <a:off x="4297680" y="260604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40–54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81" name="Rectangle 37"/>
          <p:cNvSpPr/>
          <p:nvPr/>
        </p:nvSpPr>
        <p:spPr>
          <a:xfrm>
            <a:off x="4956120" y="262440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Rectangle 38"/>
          <p:cNvSpPr/>
          <p:nvPr/>
        </p:nvSpPr>
        <p:spPr>
          <a:xfrm>
            <a:off x="4956120" y="2624400"/>
            <a:ext cx="18417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Box 39"/>
          <p:cNvSpPr/>
          <p:nvPr/>
        </p:nvSpPr>
        <p:spPr>
          <a:xfrm>
            <a:off x="7379280" y="260604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19%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84" name="TextBox 40"/>
          <p:cNvSpPr/>
          <p:nvPr/>
        </p:nvSpPr>
        <p:spPr>
          <a:xfrm>
            <a:off x="4297680" y="282096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55–64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85" name="Rectangle 41"/>
          <p:cNvSpPr/>
          <p:nvPr/>
        </p:nvSpPr>
        <p:spPr>
          <a:xfrm>
            <a:off x="4956120" y="28393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Rectangle 42"/>
          <p:cNvSpPr/>
          <p:nvPr/>
        </p:nvSpPr>
        <p:spPr>
          <a:xfrm>
            <a:off x="4956120" y="2839320"/>
            <a:ext cx="174852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Box 43"/>
          <p:cNvSpPr/>
          <p:nvPr/>
        </p:nvSpPr>
        <p:spPr>
          <a:xfrm>
            <a:off x="7379280" y="282096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18%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88" name="TextBox 44"/>
          <p:cNvSpPr/>
          <p:nvPr/>
        </p:nvSpPr>
        <p:spPr>
          <a:xfrm>
            <a:off x="4297680" y="303588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65–74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89" name="Rectangle 45"/>
          <p:cNvSpPr/>
          <p:nvPr/>
        </p:nvSpPr>
        <p:spPr>
          <a:xfrm>
            <a:off x="4956120" y="305424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Rectangle 46"/>
          <p:cNvSpPr/>
          <p:nvPr/>
        </p:nvSpPr>
        <p:spPr>
          <a:xfrm>
            <a:off x="4956120" y="3054240"/>
            <a:ext cx="165528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Box 47"/>
          <p:cNvSpPr/>
          <p:nvPr/>
        </p:nvSpPr>
        <p:spPr>
          <a:xfrm>
            <a:off x="7379280" y="303588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17%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92" name="TextBox 48"/>
          <p:cNvSpPr/>
          <p:nvPr/>
        </p:nvSpPr>
        <p:spPr>
          <a:xfrm>
            <a:off x="4297680" y="325080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75–84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93" name="Rectangle 49"/>
          <p:cNvSpPr/>
          <p:nvPr/>
        </p:nvSpPr>
        <p:spPr>
          <a:xfrm>
            <a:off x="4956120" y="326880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Rectangle 50"/>
          <p:cNvSpPr/>
          <p:nvPr/>
        </p:nvSpPr>
        <p:spPr>
          <a:xfrm>
            <a:off x="4956120" y="3268800"/>
            <a:ext cx="13521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Box 51"/>
          <p:cNvSpPr/>
          <p:nvPr/>
        </p:nvSpPr>
        <p:spPr>
          <a:xfrm>
            <a:off x="7379280" y="325080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14%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96" name="TextBox 52"/>
          <p:cNvSpPr/>
          <p:nvPr/>
        </p:nvSpPr>
        <p:spPr>
          <a:xfrm>
            <a:off x="4297680" y="34657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85+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97" name="Rectangle 53"/>
          <p:cNvSpPr/>
          <p:nvPr/>
        </p:nvSpPr>
        <p:spPr>
          <a:xfrm>
            <a:off x="4956120" y="34837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Rectangle 54"/>
          <p:cNvSpPr/>
          <p:nvPr/>
        </p:nvSpPr>
        <p:spPr>
          <a:xfrm>
            <a:off x="4956120" y="3483720"/>
            <a:ext cx="7689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Box 55"/>
          <p:cNvSpPr/>
          <p:nvPr/>
        </p:nvSpPr>
        <p:spPr>
          <a:xfrm>
            <a:off x="7379280" y="34657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8%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00" name="Rectangle 56"/>
          <p:cNvSpPr/>
          <p:nvPr/>
        </p:nvSpPr>
        <p:spPr>
          <a:xfrm>
            <a:off x="4297680" y="3712320"/>
            <a:ext cx="353844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Box 57"/>
          <p:cNvSpPr/>
          <p:nvPr/>
        </p:nvSpPr>
        <p:spPr>
          <a:xfrm>
            <a:off x="4297680" y="3794760"/>
            <a:ext cx="35384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A </a:t>
            </a:r>
            <a:r>
              <a:rPr b="1" lang="en-US" sz="950" spc="-1" strike="noStrike">
                <a:solidFill>
                  <a:srgbClr val="14293f"/>
                </a:solidFill>
                <a:latin typeface="Calibri"/>
              </a:rPr>
              <a:t>broad adult population, not an elderly one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 — a quarter are under 40. 61.1% come in once and never return; 7.2% have five stays or more.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02" name="TextBox 58"/>
          <p:cNvSpPr/>
          <p:nvPr/>
        </p:nvSpPr>
        <p:spPr>
          <a:xfrm>
            <a:off x="4297680" y="4443840"/>
            <a:ext cx="353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READMISSION PEAKS IN MIDDLE AGE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3" name="TextBox 59"/>
          <p:cNvSpPr/>
          <p:nvPr/>
        </p:nvSpPr>
        <p:spPr>
          <a:xfrm>
            <a:off x="4297680" y="46771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18–39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04" name="Rectangle 60"/>
          <p:cNvSpPr/>
          <p:nvPr/>
        </p:nvSpPr>
        <p:spPr>
          <a:xfrm>
            <a:off x="4956120" y="469548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Rectangle 61"/>
          <p:cNvSpPr/>
          <p:nvPr/>
        </p:nvSpPr>
        <p:spPr>
          <a:xfrm>
            <a:off x="4956120" y="4695480"/>
            <a:ext cx="1631880" cy="123120"/>
          </a:xfrm>
          <a:prstGeom prst="rect">
            <a:avLst/>
          </a:prstGeom>
          <a:solidFill>
            <a:srgbClr val="b9c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Box 62"/>
          <p:cNvSpPr/>
          <p:nvPr/>
        </p:nvSpPr>
        <p:spPr>
          <a:xfrm>
            <a:off x="7379280" y="46771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15.1%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07" name="TextBox 63"/>
          <p:cNvSpPr/>
          <p:nvPr/>
        </p:nvSpPr>
        <p:spPr>
          <a:xfrm>
            <a:off x="4297680" y="489204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40–54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08" name="Rectangle 64"/>
          <p:cNvSpPr/>
          <p:nvPr/>
        </p:nvSpPr>
        <p:spPr>
          <a:xfrm>
            <a:off x="4956120" y="491040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Rectangle 65"/>
          <p:cNvSpPr/>
          <p:nvPr/>
        </p:nvSpPr>
        <p:spPr>
          <a:xfrm>
            <a:off x="4956120" y="4910400"/>
            <a:ext cx="2331360" cy="1231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Box 66"/>
          <p:cNvSpPr/>
          <p:nvPr/>
        </p:nvSpPr>
        <p:spPr>
          <a:xfrm>
            <a:off x="7379280" y="489204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21.4%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1" name="TextBox 67"/>
          <p:cNvSpPr/>
          <p:nvPr/>
        </p:nvSpPr>
        <p:spPr>
          <a:xfrm>
            <a:off x="4297680" y="510696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55–64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2" name="Rectangle 68"/>
          <p:cNvSpPr/>
          <p:nvPr/>
        </p:nvSpPr>
        <p:spPr>
          <a:xfrm>
            <a:off x="4956120" y="51253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Rectangle 69"/>
          <p:cNvSpPr/>
          <p:nvPr/>
        </p:nvSpPr>
        <p:spPr>
          <a:xfrm>
            <a:off x="4956120" y="5125320"/>
            <a:ext cx="2331360" cy="1231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Box 70"/>
          <p:cNvSpPr/>
          <p:nvPr/>
        </p:nvSpPr>
        <p:spPr>
          <a:xfrm>
            <a:off x="7379280" y="510696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21.5%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5" name="TextBox 71"/>
          <p:cNvSpPr/>
          <p:nvPr/>
        </p:nvSpPr>
        <p:spPr>
          <a:xfrm>
            <a:off x="4297680" y="532188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65–74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6" name="Rectangle 72"/>
          <p:cNvSpPr/>
          <p:nvPr/>
        </p:nvSpPr>
        <p:spPr>
          <a:xfrm>
            <a:off x="4956120" y="534024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Rectangle 73"/>
          <p:cNvSpPr/>
          <p:nvPr/>
        </p:nvSpPr>
        <p:spPr>
          <a:xfrm>
            <a:off x="4956120" y="5340240"/>
            <a:ext cx="2261520" cy="123120"/>
          </a:xfrm>
          <a:prstGeom prst="rect">
            <a:avLst/>
          </a:prstGeom>
          <a:solidFill>
            <a:srgbClr val="b9c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Box 74"/>
          <p:cNvSpPr/>
          <p:nvPr/>
        </p:nvSpPr>
        <p:spPr>
          <a:xfrm>
            <a:off x="7379280" y="532188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20.8%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9" name="TextBox 75"/>
          <p:cNvSpPr/>
          <p:nvPr/>
        </p:nvSpPr>
        <p:spPr>
          <a:xfrm>
            <a:off x="4297680" y="553680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75–84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0" name="Rectangle 76"/>
          <p:cNvSpPr/>
          <p:nvPr/>
        </p:nvSpPr>
        <p:spPr>
          <a:xfrm>
            <a:off x="4956120" y="555516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7"/>
          <p:cNvSpPr/>
          <p:nvPr/>
        </p:nvSpPr>
        <p:spPr>
          <a:xfrm>
            <a:off x="4956120" y="5555160"/>
            <a:ext cx="2168280" cy="123120"/>
          </a:xfrm>
          <a:prstGeom prst="rect">
            <a:avLst/>
          </a:prstGeom>
          <a:solidFill>
            <a:srgbClr val="b9c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Box 78"/>
          <p:cNvSpPr/>
          <p:nvPr/>
        </p:nvSpPr>
        <p:spPr>
          <a:xfrm>
            <a:off x="7379280" y="553680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20.0%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3" name="TextBox 79"/>
          <p:cNvSpPr/>
          <p:nvPr/>
        </p:nvSpPr>
        <p:spPr>
          <a:xfrm>
            <a:off x="4297680" y="57517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85+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4" name="Rectangle 80"/>
          <p:cNvSpPr/>
          <p:nvPr/>
        </p:nvSpPr>
        <p:spPr>
          <a:xfrm>
            <a:off x="4956120" y="57697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Rectangle 81"/>
          <p:cNvSpPr/>
          <p:nvPr/>
        </p:nvSpPr>
        <p:spPr>
          <a:xfrm>
            <a:off x="4956120" y="5769720"/>
            <a:ext cx="2028240" cy="123120"/>
          </a:xfrm>
          <a:prstGeom prst="rect">
            <a:avLst/>
          </a:prstGeom>
          <a:solidFill>
            <a:srgbClr val="b9c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Box 82"/>
          <p:cNvSpPr/>
          <p:nvPr/>
        </p:nvSpPr>
        <p:spPr>
          <a:xfrm>
            <a:off x="7379280" y="57517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18.8%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7" name="Rectangle 83"/>
          <p:cNvSpPr/>
          <p:nvPr/>
        </p:nvSpPr>
        <p:spPr>
          <a:xfrm>
            <a:off x="4297680" y="5998320"/>
            <a:ext cx="353844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Box 84"/>
          <p:cNvSpPr/>
          <p:nvPr/>
        </p:nvSpPr>
        <p:spPr>
          <a:xfrm>
            <a:off x="4297680" y="6080760"/>
            <a:ext cx="35384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Diagnoses per stay almost double from youngest to oldest — </a:t>
            </a:r>
            <a:r>
              <a:rPr b="1" lang="en-US" sz="950" spc="-1" strike="noStrike">
                <a:solidFill>
                  <a:srgbClr val="14293f"/>
                </a:solidFill>
                <a:latin typeface="Calibri"/>
              </a:rPr>
              <a:t>readmission does not follow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. Age alone is a poor triage signal.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29" name="TextBox 85"/>
          <p:cNvSpPr/>
          <p:nvPr/>
        </p:nvSpPr>
        <p:spPr>
          <a:xfrm>
            <a:off x="8092440" y="2157840"/>
            <a:ext cx="353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30-DAY READMISSION RATE, BY CONDITIONS RECORDED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30" name="TextBox 86"/>
          <p:cNvSpPr/>
          <p:nvPr/>
        </p:nvSpPr>
        <p:spPr>
          <a:xfrm>
            <a:off x="8092440" y="23911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1 only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1" name="Rectangle 87"/>
          <p:cNvSpPr/>
          <p:nvPr/>
        </p:nvSpPr>
        <p:spPr>
          <a:xfrm>
            <a:off x="8750880" y="240948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Rectangle 88"/>
          <p:cNvSpPr/>
          <p:nvPr/>
        </p:nvSpPr>
        <p:spPr>
          <a:xfrm>
            <a:off x="8750880" y="2409480"/>
            <a:ext cx="69912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Box 89"/>
          <p:cNvSpPr/>
          <p:nvPr/>
        </p:nvSpPr>
        <p:spPr>
          <a:xfrm>
            <a:off x="11174040" y="23911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8.5%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4" name="TextBox 90"/>
          <p:cNvSpPr/>
          <p:nvPr/>
        </p:nvSpPr>
        <p:spPr>
          <a:xfrm>
            <a:off x="8092440" y="260604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2–4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5" name="Rectangle 91"/>
          <p:cNvSpPr/>
          <p:nvPr/>
        </p:nvSpPr>
        <p:spPr>
          <a:xfrm>
            <a:off x="8750880" y="262440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Rectangle 92"/>
          <p:cNvSpPr/>
          <p:nvPr/>
        </p:nvSpPr>
        <p:spPr>
          <a:xfrm>
            <a:off x="8750880" y="2624400"/>
            <a:ext cx="86220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Box 93"/>
          <p:cNvSpPr/>
          <p:nvPr/>
        </p:nvSpPr>
        <p:spPr>
          <a:xfrm>
            <a:off x="11174040" y="260604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10.4%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8" name="TextBox 94"/>
          <p:cNvSpPr/>
          <p:nvPr/>
        </p:nvSpPr>
        <p:spPr>
          <a:xfrm>
            <a:off x="8092440" y="282096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5–9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9" name="Rectangle 95"/>
          <p:cNvSpPr/>
          <p:nvPr/>
        </p:nvSpPr>
        <p:spPr>
          <a:xfrm>
            <a:off x="8750880" y="28393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Rectangle 96"/>
          <p:cNvSpPr/>
          <p:nvPr/>
        </p:nvSpPr>
        <p:spPr>
          <a:xfrm>
            <a:off x="8750880" y="2839320"/>
            <a:ext cx="12819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Box 97"/>
          <p:cNvSpPr/>
          <p:nvPr/>
        </p:nvSpPr>
        <p:spPr>
          <a:xfrm>
            <a:off x="11174040" y="282096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15.4%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2" name="TextBox 98"/>
          <p:cNvSpPr/>
          <p:nvPr/>
        </p:nvSpPr>
        <p:spPr>
          <a:xfrm>
            <a:off x="8092440" y="303588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10–14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3" name="Rectangle 99"/>
          <p:cNvSpPr/>
          <p:nvPr/>
        </p:nvSpPr>
        <p:spPr>
          <a:xfrm>
            <a:off x="8750880" y="305424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Rectangle 100"/>
          <p:cNvSpPr/>
          <p:nvPr/>
        </p:nvSpPr>
        <p:spPr>
          <a:xfrm>
            <a:off x="8750880" y="3054240"/>
            <a:ext cx="172512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Box 101"/>
          <p:cNvSpPr/>
          <p:nvPr/>
        </p:nvSpPr>
        <p:spPr>
          <a:xfrm>
            <a:off x="11174040" y="303588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20.8%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6" name="TextBox 102"/>
          <p:cNvSpPr/>
          <p:nvPr/>
        </p:nvSpPr>
        <p:spPr>
          <a:xfrm>
            <a:off x="8092440" y="325080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15–19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7" name="Rectangle 103"/>
          <p:cNvSpPr/>
          <p:nvPr/>
        </p:nvSpPr>
        <p:spPr>
          <a:xfrm>
            <a:off x="8750880" y="326880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Rectangle 104"/>
          <p:cNvSpPr/>
          <p:nvPr/>
        </p:nvSpPr>
        <p:spPr>
          <a:xfrm>
            <a:off x="8750880" y="3268800"/>
            <a:ext cx="202824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Box 105"/>
          <p:cNvSpPr/>
          <p:nvPr/>
        </p:nvSpPr>
        <p:spPr>
          <a:xfrm>
            <a:off x="11174040" y="325080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24.4%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50" name="TextBox 106"/>
          <p:cNvSpPr/>
          <p:nvPr/>
        </p:nvSpPr>
        <p:spPr>
          <a:xfrm>
            <a:off x="8092440" y="34657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20+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51" name="Rectangle 107"/>
          <p:cNvSpPr/>
          <p:nvPr/>
        </p:nvSpPr>
        <p:spPr>
          <a:xfrm>
            <a:off x="8750880" y="34837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Rectangle 108"/>
          <p:cNvSpPr/>
          <p:nvPr/>
        </p:nvSpPr>
        <p:spPr>
          <a:xfrm>
            <a:off x="8750880" y="3483720"/>
            <a:ext cx="2331360" cy="1231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Box 109"/>
          <p:cNvSpPr/>
          <p:nvPr/>
        </p:nvSpPr>
        <p:spPr>
          <a:xfrm>
            <a:off x="11174040" y="34657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28.2%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54" name="Rectangle 110"/>
          <p:cNvSpPr/>
          <p:nvPr/>
        </p:nvSpPr>
        <p:spPr>
          <a:xfrm>
            <a:off x="8092440" y="3712320"/>
            <a:ext cx="353844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Box 111"/>
          <p:cNvSpPr/>
          <p:nvPr/>
        </p:nvSpPr>
        <p:spPr>
          <a:xfrm>
            <a:off x="8092440" y="3794760"/>
            <a:ext cx="353844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Stays grouped by how many conditions were coded, then the share of each readmitted within 30 days.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56" name="Rectangle 112"/>
          <p:cNvSpPr/>
          <p:nvPr/>
        </p:nvSpPr>
        <p:spPr>
          <a:xfrm>
            <a:off x="8092440" y="4297680"/>
            <a:ext cx="3538440" cy="21484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Box 113"/>
          <p:cNvSpPr/>
          <p:nvPr/>
        </p:nvSpPr>
        <p:spPr>
          <a:xfrm>
            <a:off x="8238600" y="4443840"/>
            <a:ext cx="3245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WHAT CMS COULD NOT SUPPLY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58" name="TextBox 114"/>
          <p:cNvSpPr/>
          <p:nvPr/>
        </p:nvSpPr>
        <p:spPr>
          <a:xfrm>
            <a:off x="9147600" y="4663440"/>
            <a:ext cx="97344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750" spc="-1" strike="noStrike">
                <a:solidFill>
                  <a:srgbClr val="8494a3"/>
                </a:solidFill>
                <a:latin typeface="Consolas"/>
              </a:rPr>
              <a:t>CMS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259" name="TextBox 115"/>
          <p:cNvSpPr/>
          <p:nvPr/>
        </p:nvSpPr>
        <p:spPr>
          <a:xfrm>
            <a:off x="10121400" y="4663440"/>
            <a:ext cx="136296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750" spc="-1" strike="noStrike">
                <a:solidFill>
                  <a:srgbClr val="8494a3"/>
                </a:solidFill>
                <a:latin typeface="Consolas"/>
              </a:rPr>
              <a:t>MIMIC-IV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260" name="Rectangle 116"/>
          <p:cNvSpPr/>
          <p:nvPr/>
        </p:nvSpPr>
        <p:spPr>
          <a:xfrm>
            <a:off x="8238600" y="4827960"/>
            <a:ext cx="3245760" cy="6840"/>
          </a:xfrm>
          <a:prstGeom prst="rect">
            <a:avLst/>
          </a:prstGeom>
          <a:solidFill>
            <a:srgbClr val="c9d2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Box 117"/>
          <p:cNvSpPr/>
          <p:nvPr/>
        </p:nvSpPr>
        <p:spPr>
          <a:xfrm>
            <a:off x="8238600" y="4901040"/>
            <a:ext cx="908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Nature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2" name="TextBox 118"/>
          <p:cNvSpPr/>
          <p:nvPr/>
        </p:nvSpPr>
        <p:spPr>
          <a:xfrm>
            <a:off x="9147600" y="4901040"/>
            <a:ext cx="9734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c0392b"/>
                </a:solidFill>
                <a:latin typeface="Calibri"/>
              </a:rPr>
              <a:t>synthetic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3" name="TextBox 119"/>
          <p:cNvSpPr/>
          <p:nvPr/>
        </p:nvSpPr>
        <p:spPr>
          <a:xfrm>
            <a:off x="10121400" y="4901040"/>
            <a:ext cx="13629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alibri"/>
              </a:rPr>
              <a:t>real, de-identified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4" name="TextBox 120"/>
          <p:cNvSpPr/>
          <p:nvPr/>
        </p:nvSpPr>
        <p:spPr>
          <a:xfrm>
            <a:off x="8238600" y="5115960"/>
            <a:ext cx="908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Lab results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5" name="TextBox 121"/>
          <p:cNvSpPr/>
          <p:nvPr/>
        </p:nvSpPr>
        <p:spPr>
          <a:xfrm>
            <a:off x="9147600" y="5115960"/>
            <a:ext cx="9734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c0392b"/>
                </a:solidFill>
                <a:latin typeface="Calibri"/>
              </a:rPr>
              <a:t>none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6" name="TextBox 122"/>
          <p:cNvSpPr/>
          <p:nvPr/>
        </p:nvSpPr>
        <p:spPr>
          <a:xfrm>
            <a:off x="10121400" y="5115960"/>
            <a:ext cx="13629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alibri"/>
              </a:rPr>
              <a:t>48 features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7" name="TextBox 123"/>
          <p:cNvSpPr/>
          <p:nvPr/>
        </p:nvSpPr>
        <p:spPr>
          <a:xfrm>
            <a:off x="8238600" y="5330880"/>
            <a:ext cx="908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Medications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8" name="TextBox 124"/>
          <p:cNvSpPr/>
          <p:nvPr/>
        </p:nvSpPr>
        <p:spPr>
          <a:xfrm>
            <a:off x="9147600" y="5330880"/>
            <a:ext cx="9734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c0392b"/>
                </a:solidFill>
                <a:latin typeface="Calibri"/>
              </a:rPr>
              <a:t>how many filled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9" name="TextBox 125"/>
          <p:cNvSpPr/>
          <p:nvPr/>
        </p:nvSpPr>
        <p:spPr>
          <a:xfrm>
            <a:off x="10121400" y="5330880"/>
            <a:ext cx="13629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alibri"/>
              </a:rPr>
              <a:t>drugs at discharge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0" name="TextBox 126"/>
          <p:cNvSpPr/>
          <p:nvPr/>
        </p:nvSpPr>
        <p:spPr>
          <a:xfrm>
            <a:off x="8238600" y="5545800"/>
            <a:ext cx="908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Coding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1" name="TextBox 127"/>
          <p:cNvSpPr/>
          <p:nvPr/>
        </p:nvSpPr>
        <p:spPr>
          <a:xfrm>
            <a:off x="9147600" y="5545800"/>
            <a:ext cx="9734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c0392b"/>
                </a:solidFill>
                <a:latin typeface="Calibri"/>
              </a:rPr>
              <a:t>ICD-9 only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2" name="TextBox 128"/>
          <p:cNvSpPr/>
          <p:nvPr/>
        </p:nvSpPr>
        <p:spPr>
          <a:xfrm>
            <a:off x="10121400" y="5545800"/>
            <a:ext cx="13629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alibri"/>
              </a:rPr>
              <a:t>ICD-9 + ICD-10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3" name="TextBox 129"/>
          <p:cNvSpPr/>
          <p:nvPr/>
        </p:nvSpPr>
        <p:spPr>
          <a:xfrm>
            <a:off x="8238600" y="5760720"/>
            <a:ext cx="908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Timeliness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4" name="TextBox 130"/>
          <p:cNvSpPr/>
          <p:nvPr/>
        </p:nvSpPr>
        <p:spPr>
          <a:xfrm>
            <a:off x="9147600" y="5760720"/>
            <a:ext cx="9734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c0392b"/>
                </a:solidFill>
                <a:latin typeface="Calibri"/>
              </a:rPr>
              <a:t>weeks late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5" name="TextBox 131"/>
          <p:cNvSpPr/>
          <p:nvPr/>
        </p:nvSpPr>
        <p:spPr>
          <a:xfrm>
            <a:off x="10121400" y="5760720"/>
            <a:ext cx="13629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alibri"/>
              </a:rPr>
              <a:t>during the stay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6" name="Rectangle 132"/>
          <p:cNvSpPr/>
          <p:nvPr/>
        </p:nvSpPr>
        <p:spPr>
          <a:xfrm>
            <a:off x="8238600" y="595728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Box 133"/>
          <p:cNvSpPr/>
          <p:nvPr/>
        </p:nvSpPr>
        <p:spPr>
          <a:xfrm>
            <a:off x="8238600" y="6039720"/>
            <a:ext cx="324576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850" spc="-1" strike="noStrike">
                <a:solidFill>
                  <a:srgbClr val="8494a3"/>
                </a:solidFill>
                <a:latin typeface="Calibri"/>
              </a:rPr>
              <a:t>MIMIC codes in </a:t>
            </a:r>
            <a:r>
              <a:rPr b="1" lang="en-US" sz="850" spc="-1" strike="noStrike">
                <a:solidFill>
                  <a:srgbClr val="14293f"/>
                </a:solidFill>
                <a:latin typeface="Calibri"/>
              </a:rPr>
              <a:t>both editions — 45.7% ICD-9, 54.3% ICD-10</a:t>
            </a:r>
            <a:r>
              <a:rPr b="0" lang="en-US" sz="850" spc="-1" strike="noStrike">
                <a:solidFill>
                  <a:srgbClr val="8494a3"/>
                </a:solidFill>
                <a:latin typeface="Calibri"/>
              </a:rPr>
              <a:t>.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d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Box 2"/>
          <p:cNvSpPr/>
          <p:nvPr/>
        </p:nvSpPr>
        <p:spPr>
          <a:xfrm>
            <a:off x="502920" y="274320"/>
            <a:ext cx="87778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0f2a4a"/>
                </a:solidFill>
                <a:latin typeface="Consolas"/>
              </a:rPr>
              <a:t>STAGE 3</a:t>
            </a: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   ·   MIMIC-IV — DISEASE BURDEN AND THE CODING BEHIND IT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0" name="TextBox 3"/>
          <p:cNvSpPr/>
          <p:nvPr/>
        </p:nvSpPr>
        <p:spPr>
          <a:xfrm>
            <a:off x="9860040" y="274320"/>
            <a:ext cx="182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PREVENTRA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1" name="Rectangle 4"/>
          <p:cNvSpPr/>
          <p:nvPr/>
        </p:nvSpPr>
        <p:spPr>
          <a:xfrm>
            <a:off x="502920" y="530280"/>
            <a:ext cx="11185560" cy="10440"/>
          </a:xfrm>
          <a:prstGeom prst="rect">
            <a:avLst/>
          </a:prstGeom>
          <a:solidFill>
            <a:srgbClr val="c9d2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Box 5"/>
          <p:cNvSpPr/>
          <p:nvPr/>
        </p:nvSpPr>
        <p:spPr>
          <a:xfrm>
            <a:off x="502920" y="658440"/>
            <a:ext cx="1118556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buNone/>
            </a:pPr>
            <a:r>
              <a:rPr b="0" lang="en-US" sz="2500" spc="-1" strike="noStrike">
                <a:solidFill>
                  <a:srgbClr val="14293f"/>
                </a:solidFill>
                <a:latin typeface="Georgia"/>
              </a:rPr>
              <a:t>Nobody here has one illness in one place.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83" name="TextBox 6"/>
          <p:cNvSpPr/>
          <p:nvPr/>
        </p:nvSpPr>
        <p:spPr>
          <a:xfrm>
            <a:off x="502920" y="1627560"/>
            <a:ext cx="96922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When a patient is discharged, the record lists everything they were treated for. On an average stay that is </a:t>
            </a:r>
            <a:r>
              <a:rPr b="1" lang="en-US" sz="1050" spc="-1" strike="noStrike">
                <a:solidFill>
                  <a:srgbClr val="14293f"/>
                </a:solidFill>
                <a:latin typeface="Calibri"/>
              </a:rPr>
              <a:t>11.7 separate problems</a:t>
            </a:r>
            <a:r>
              <a:rPr b="0" lang="en-US" sz="1050" spc="-1" strike="noStrike">
                <a:solidFill>
                  <a:srgbClr val="5a6b7d"/>
                </a:solidFill>
                <a:latin typeface="Calibri"/>
              </a:rPr>
              <a:t> — and they are spread across the body rather than concentrated in one place.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84" name="TextBox 7"/>
          <p:cNvSpPr/>
          <p:nvPr/>
        </p:nvSpPr>
        <p:spPr>
          <a:xfrm>
            <a:off x="502920" y="2157840"/>
            <a:ext cx="353844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0" lang="en-US" sz="3600" spc="-1" strike="noStrike">
                <a:solidFill>
                  <a:srgbClr val="0f2a4a"/>
                </a:solidFill>
                <a:latin typeface="Georgia"/>
              </a:rPr>
              <a:t>11.7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5" name="TextBox 8"/>
          <p:cNvSpPr/>
          <p:nvPr/>
        </p:nvSpPr>
        <p:spPr>
          <a:xfrm>
            <a:off x="502920" y="2706480"/>
            <a:ext cx="353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00" spc="-1" strike="noStrike">
                <a:solidFill>
                  <a:srgbClr val="8494a3"/>
                </a:solidFill>
                <a:latin typeface="Consolas"/>
              </a:rPr>
              <a:t>DIAGNOSES RECORDED ON THE AVERAGE STAY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6" name="TextBox 9"/>
          <p:cNvSpPr/>
          <p:nvPr/>
        </p:nvSpPr>
        <p:spPr>
          <a:xfrm>
            <a:off x="502920" y="3218760"/>
            <a:ext cx="353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HOW MANY DIFFERENT AREAS ONE STAY INVOLVES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7" name="TextBox 10"/>
          <p:cNvSpPr/>
          <p:nvPr/>
        </p:nvSpPr>
        <p:spPr>
          <a:xfrm>
            <a:off x="502920" y="345204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1 only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88" name="Rectangle 11"/>
          <p:cNvSpPr/>
          <p:nvPr/>
        </p:nvSpPr>
        <p:spPr>
          <a:xfrm>
            <a:off x="1161360" y="347004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Rectangle 12"/>
          <p:cNvSpPr/>
          <p:nvPr/>
        </p:nvSpPr>
        <p:spPr>
          <a:xfrm>
            <a:off x="1161360" y="3470040"/>
            <a:ext cx="260640" cy="123120"/>
          </a:xfrm>
          <a:prstGeom prst="rect">
            <a:avLst/>
          </a:prstGeom>
          <a:solidFill>
            <a:srgbClr val="b9c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Box 13"/>
          <p:cNvSpPr/>
          <p:nvPr/>
        </p:nvSpPr>
        <p:spPr>
          <a:xfrm>
            <a:off x="3584520" y="345204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3.9%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91" name="TextBox 14"/>
          <p:cNvSpPr/>
          <p:nvPr/>
        </p:nvSpPr>
        <p:spPr>
          <a:xfrm>
            <a:off x="502920" y="366660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2–4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92" name="Rectangle 15"/>
          <p:cNvSpPr/>
          <p:nvPr/>
        </p:nvSpPr>
        <p:spPr>
          <a:xfrm>
            <a:off x="1161360" y="368496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Rectangle 16"/>
          <p:cNvSpPr/>
          <p:nvPr/>
        </p:nvSpPr>
        <p:spPr>
          <a:xfrm>
            <a:off x="1161360" y="3684960"/>
            <a:ext cx="200268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Box 17"/>
          <p:cNvSpPr/>
          <p:nvPr/>
        </p:nvSpPr>
        <p:spPr>
          <a:xfrm>
            <a:off x="3584520" y="366660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29.9%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95" name="TextBox 18"/>
          <p:cNvSpPr/>
          <p:nvPr/>
        </p:nvSpPr>
        <p:spPr>
          <a:xfrm>
            <a:off x="502920" y="38815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5–7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96" name="Rectangle 19"/>
          <p:cNvSpPr/>
          <p:nvPr/>
        </p:nvSpPr>
        <p:spPr>
          <a:xfrm>
            <a:off x="1161360" y="389988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Rectangle 20"/>
          <p:cNvSpPr/>
          <p:nvPr/>
        </p:nvSpPr>
        <p:spPr>
          <a:xfrm>
            <a:off x="1161360" y="3899880"/>
            <a:ext cx="23313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Box 21"/>
          <p:cNvSpPr/>
          <p:nvPr/>
        </p:nvSpPr>
        <p:spPr>
          <a:xfrm>
            <a:off x="3584520" y="38815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34.8%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99" name="TextBox 22"/>
          <p:cNvSpPr/>
          <p:nvPr/>
        </p:nvSpPr>
        <p:spPr>
          <a:xfrm>
            <a:off x="502920" y="409644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8–10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00" name="Rectangle 23"/>
          <p:cNvSpPr/>
          <p:nvPr/>
        </p:nvSpPr>
        <p:spPr>
          <a:xfrm>
            <a:off x="1161360" y="411480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Rectangle 24"/>
          <p:cNvSpPr/>
          <p:nvPr/>
        </p:nvSpPr>
        <p:spPr>
          <a:xfrm>
            <a:off x="1161360" y="4114800"/>
            <a:ext cx="155484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Box 25"/>
          <p:cNvSpPr/>
          <p:nvPr/>
        </p:nvSpPr>
        <p:spPr>
          <a:xfrm>
            <a:off x="3584520" y="409644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23.2%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03" name="TextBox 26"/>
          <p:cNvSpPr/>
          <p:nvPr/>
        </p:nvSpPr>
        <p:spPr>
          <a:xfrm>
            <a:off x="502920" y="431136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11+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04" name="Rectangle 27"/>
          <p:cNvSpPr/>
          <p:nvPr/>
        </p:nvSpPr>
        <p:spPr>
          <a:xfrm>
            <a:off x="1161360" y="43297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Rectangle 28"/>
          <p:cNvSpPr/>
          <p:nvPr/>
        </p:nvSpPr>
        <p:spPr>
          <a:xfrm>
            <a:off x="1161360" y="4329720"/>
            <a:ext cx="55008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Box 29"/>
          <p:cNvSpPr/>
          <p:nvPr/>
        </p:nvSpPr>
        <p:spPr>
          <a:xfrm>
            <a:off x="3584520" y="431136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8.2%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07" name="Rectangle 30"/>
          <p:cNvSpPr/>
          <p:nvPr/>
        </p:nvSpPr>
        <p:spPr>
          <a:xfrm>
            <a:off x="502920" y="4553640"/>
            <a:ext cx="353844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Box 31"/>
          <p:cNvSpPr/>
          <p:nvPr/>
        </p:nvSpPr>
        <p:spPr>
          <a:xfrm>
            <a:off x="502920" y="4636080"/>
            <a:ext cx="35384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Every diagnosis is sorted into one of 20 groups — mostly body areas like heart, lungs and kidneys, some not. </a:t>
            </a:r>
            <a:r>
              <a:rPr b="1" lang="en-US" sz="950" spc="-1" strike="noStrike">
                <a:solidFill>
                  <a:srgbClr val="14293f"/>
                </a:solidFill>
                <a:latin typeface="Calibri"/>
              </a:rPr>
              <a:t>96.1% of stays involve two or more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09" name="Rectangle 32"/>
          <p:cNvSpPr/>
          <p:nvPr/>
        </p:nvSpPr>
        <p:spPr>
          <a:xfrm>
            <a:off x="502920" y="5285160"/>
            <a:ext cx="3538440" cy="116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Box 33"/>
          <p:cNvSpPr/>
          <p:nvPr/>
        </p:nvSpPr>
        <p:spPr>
          <a:xfrm>
            <a:off x="649080" y="5394960"/>
            <a:ext cx="3245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MEN RETURN MORE OFTEN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11" name="TextBox 34"/>
          <p:cNvSpPr/>
          <p:nvPr/>
        </p:nvSpPr>
        <p:spPr>
          <a:xfrm>
            <a:off x="2012760" y="5559480"/>
            <a:ext cx="9086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700" spc="-1" strike="noStrike">
                <a:solidFill>
                  <a:srgbClr val="8494a3"/>
                </a:solidFill>
                <a:latin typeface="Consolas"/>
              </a:rPr>
              <a:t>SHARE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312" name="TextBox 35"/>
          <p:cNvSpPr/>
          <p:nvPr/>
        </p:nvSpPr>
        <p:spPr>
          <a:xfrm>
            <a:off x="2921400" y="5559480"/>
            <a:ext cx="97344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700" spc="-1" strike="noStrike">
                <a:solidFill>
                  <a:srgbClr val="8494a3"/>
                </a:solidFill>
                <a:latin typeface="Consolas"/>
              </a:rPr>
              <a:t>READMITTED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313" name="Rectangle 36"/>
          <p:cNvSpPr/>
          <p:nvPr/>
        </p:nvSpPr>
        <p:spPr>
          <a:xfrm>
            <a:off x="649080" y="5706000"/>
            <a:ext cx="3245760" cy="6840"/>
          </a:xfrm>
          <a:prstGeom prst="rect">
            <a:avLst/>
          </a:prstGeom>
          <a:solidFill>
            <a:srgbClr val="c9d2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Box 37"/>
          <p:cNvSpPr/>
          <p:nvPr/>
        </p:nvSpPr>
        <p:spPr>
          <a:xfrm>
            <a:off x="649080" y="5769720"/>
            <a:ext cx="13629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5a6b7d"/>
                </a:solidFill>
                <a:latin typeface="Calibri"/>
              </a:rPr>
              <a:t>Female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15" name="TextBox 38"/>
          <p:cNvSpPr/>
          <p:nvPr/>
        </p:nvSpPr>
        <p:spPr>
          <a:xfrm>
            <a:off x="2012760" y="5769720"/>
            <a:ext cx="9086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14293f"/>
                </a:solidFill>
                <a:latin typeface="Calibri"/>
              </a:rPr>
              <a:t>53%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16" name="TextBox 39"/>
          <p:cNvSpPr/>
          <p:nvPr/>
        </p:nvSpPr>
        <p:spPr>
          <a:xfrm>
            <a:off x="2921400" y="5769720"/>
            <a:ext cx="9734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14293f"/>
                </a:solidFill>
                <a:latin typeface="Calibri"/>
              </a:rPr>
              <a:t>18.2%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17" name="TextBox 40"/>
          <p:cNvSpPr/>
          <p:nvPr/>
        </p:nvSpPr>
        <p:spPr>
          <a:xfrm>
            <a:off x="649080" y="5948280"/>
            <a:ext cx="13629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5a6b7d"/>
                </a:solidFill>
                <a:latin typeface="Calibri"/>
              </a:rPr>
              <a:t>Male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18" name="TextBox 41"/>
          <p:cNvSpPr/>
          <p:nvPr/>
        </p:nvSpPr>
        <p:spPr>
          <a:xfrm>
            <a:off x="2012760" y="5948280"/>
            <a:ext cx="9086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14293f"/>
                </a:solidFill>
                <a:latin typeface="Calibri"/>
              </a:rPr>
              <a:t>47%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19" name="TextBox 42"/>
          <p:cNvSpPr/>
          <p:nvPr/>
        </p:nvSpPr>
        <p:spPr>
          <a:xfrm>
            <a:off x="2921400" y="5948280"/>
            <a:ext cx="9734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900" spc="-1" strike="noStrike">
                <a:solidFill>
                  <a:srgbClr val="c0392b"/>
                </a:solidFill>
                <a:latin typeface="Calibri"/>
              </a:rPr>
              <a:t>21.4%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0" name="TextBox 43"/>
          <p:cNvSpPr/>
          <p:nvPr/>
        </p:nvSpPr>
        <p:spPr>
          <a:xfrm>
            <a:off x="649080" y="6199560"/>
            <a:ext cx="32457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850" spc="-1" strike="noStrike">
                <a:solidFill>
                  <a:srgbClr val="8494a3"/>
                </a:solidFill>
                <a:latin typeface="Calibri"/>
              </a:rPr>
              <a:t>They also carry more long-term illness.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21" name="TextBox 44"/>
          <p:cNvSpPr/>
          <p:nvPr/>
        </p:nvSpPr>
        <p:spPr>
          <a:xfrm>
            <a:off x="4297680" y="2157840"/>
            <a:ext cx="353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30-DAY READMISSION, BY CHARLSON SCORE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22" name="TextBox 45"/>
          <p:cNvSpPr/>
          <p:nvPr/>
        </p:nvSpPr>
        <p:spPr>
          <a:xfrm>
            <a:off x="4297680" y="23911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23" name="Rectangle 46"/>
          <p:cNvSpPr/>
          <p:nvPr/>
        </p:nvSpPr>
        <p:spPr>
          <a:xfrm>
            <a:off x="4956120" y="240948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Rectangle 47"/>
          <p:cNvSpPr/>
          <p:nvPr/>
        </p:nvSpPr>
        <p:spPr>
          <a:xfrm>
            <a:off x="4956120" y="2409480"/>
            <a:ext cx="902160" cy="123120"/>
          </a:xfrm>
          <a:prstGeom prst="rect">
            <a:avLst/>
          </a:prstGeom>
          <a:solidFill>
            <a:srgbClr val="b9c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Box 48"/>
          <p:cNvSpPr/>
          <p:nvPr/>
        </p:nvSpPr>
        <p:spPr>
          <a:xfrm>
            <a:off x="7379280" y="23911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12.5%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26" name="TextBox 49"/>
          <p:cNvSpPr/>
          <p:nvPr/>
        </p:nvSpPr>
        <p:spPr>
          <a:xfrm>
            <a:off x="4297680" y="260604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27" name="Rectangle 50"/>
          <p:cNvSpPr/>
          <p:nvPr/>
        </p:nvSpPr>
        <p:spPr>
          <a:xfrm>
            <a:off x="4956120" y="262440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Rectangle 51"/>
          <p:cNvSpPr/>
          <p:nvPr/>
        </p:nvSpPr>
        <p:spPr>
          <a:xfrm>
            <a:off x="4956120" y="2624400"/>
            <a:ext cx="119124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Box 52"/>
          <p:cNvSpPr/>
          <p:nvPr/>
        </p:nvSpPr>
        <p:spPr>
          <a:xfrm>
            <a:off x="7379280" y="260604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16.5%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30" name="TextBox 53"/>
          <p:cNvSpPr/>
          <p:nvPr/>
        </p:nvSpPr>
        <p:spPr>
          <a:xfrm>
            <a:off x="4297680" y="282096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31" name="Rectangle 54"/>
          <p:cNvSpPr/>
          <p:nvPr/>
        </p:nvSpPr>
        <p:spPr>
          <a:xfrm>
            <a:off x="4956120" y="28393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Rectangle 55"/>
          <p:cNvSpPr/>
          <p:nvPr/>
        </p:nvSpPr>
        <p:spPr>
          <a:xfrm>
            <a:off x="4956120" y="2839320"/>
            <a:ext cx="158760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Box 56"/>
          <p:cNvSpPr/>
          <p:nvPr/>
        </p:nvSpPr>
        <p:spPr>
          <a:xfrm>
            <a:off x="7379280" y="282096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22.0%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34" name="TextBox 57"/>
          <p:cNvSpPr/>
          <p:nvPr/>
        </p:nvSpPr>
        <p:spPr>
          <a:xfrm>
            <a:off x="4297680" y="303588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3–4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35" name="Rectangle 58"/>
          <p:cNvSpPr/>
          <p:nvPr/>
        </p:nvSpPr>
        <p:spPr>
          <a:xfrm>
            <a:off x="4956120" y="305424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Rectangle 59"/>
          <p:cNvSpPr/>
          <p:nvPr/>
        </p:nvSpPr>
        <p:spPr>
          <a:xfrm>
            <a:off x="4956120" y="3054240"/>
            <a:ext cx="18183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Box 60"/>
          <p:cNvSpPr/>
          <p:nvPr/>
        </p:nvSpPr>
        <p:spPr>
          <a:xfrm>
            <a:off x="7379280" y="303588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25.2%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38" name="TextBox 61"/>
          <p:cNvSpPr/>
          <p:nvPr/>
        </p:nvSpPr>
        <p:spPr>
          <a:xfrm>
            <a:off x="4297680" y="325080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5–7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39" name="Rectangle 62"/>
          <p:cNvSpPr/>
          <p:nvPr/>
        </p:nvSpPr>
        <p:spPr>
          <a:xfrm>
            <a:off x="4956120" y="326880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Rectangle 63"/>
          <p:cNvSpPr/>
          <p:nvPr/>
        </p:nvSpPr>
        <p:spPr>
          <a:xfrm>
            <a:off x="4956120" y="3268800"/>
            <a:ext cx="20631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Box 64"/>
          <p:cNvSpPr/>
          <p:nvPr/>
        </p:nvSpPr>
        <p:spPr>
          <a:xfrm>
            <a:off x="7379280" y="325080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28.6%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42" name="TextBox 65"/>
          <p:cNvSpPr/>
          <p:nvPr/>
        </p:nvSpPr>
        <p:spPr>
          <a:xfrm>
            <a:off x="4297680" y="3465720"/>
            <a:ext cx="5666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8+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43" name="Rectangle 66"/>
          <p:cNvSpPr/>
          <p:nvPr/>
        </p:nvSpPr>
        <p:spPr>
          <a:xfrm>
            <a:off x="4956120" y="3483720"/>
            <a:ext cx="233136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Rectangle 67"/>
          <p:cNvSpPr/>
          <p:nvPr/>
        </p:nvSpPr>
        <p:spPr>
          <a:xfrm>
            <a:off x="4956120" y="3483720"/>
            <a:ext cx="2331360" cy="1231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Box 68"/>
          <p:cNvSpPr/>
          <p:nvPr/>
        </p:nvSpPr>
        <p:spPr>
          <a:xfrm>
            <a:off x="7379280" y="34657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32.3%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46" name="Rectangle 69"/>
          <p:cNvSpPr/>
          <p:nvPr/>
        </p:nvSpPr>
        <p:spPr>
          <a:xfrm>
            <a:off x="4297680" y="3712320"/>
            <a:ext cx="353844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Box 70"/>
          <p:cNvSpPr/>
          <p:nvPr/>
        </p:nvSpPr>
        <p:spPr>
          <a:xfrm>
            <a:off x="4297680" y="3794760"/>
            <a:ext cx="353844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Charlson counts only </a:t>
            </a:r>
            <a:r>
              <a:rPr b="1" lang="en-US" sz="950" spc="-1" strike="noStrike">
                <a:solidFill>
                  <a:srgbClr val="14293f"/>
                </a:solidFill>
                <a:latin typeface="Calibri"/>
              </a:rPr>
              <a:t>17 serious long-term conditions</a:t>
            </a: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, weighting severe ones higher. 31.9% of stays score zero.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48" name="Rectangle 71"/>
          <p:cNvSpPr/>
          <p:nvPr/>
        </p:nvSpPr>
        <p:spPr>
          <a:xfrm>
            <a:off x="4297680" y="4370760"/>
            <a:ext cx="3538440" cy="207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Box 72"/>
          <p:cNvSpPr/>
          <p:nvPr/>
        </p:nvSpPr>
        <p:spPr>
          <a:xfrm>
            <a:off x="4443840" y="4517280"/>
            <a:ext cx="3245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CONDITIONS TRAVEL TOGETHER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50" name="TextBox 73"/>
          <p:cNvSpPr/>
          <p:nvPr/>
        </p:nvSpPr>
        <p:spPr>
          <a:xfrm>
            <a:off x="4443840" y="4763880"/>
            <a:ext cx="240192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Cholesterol + high blood pressure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1" name="TextBox 74"/>
          <p:cNvSpPr/>
          <p:nvPr/>
        </p:nvSpPr>
        <p:spPr>
          <a:xfrm>
            <a:off x="6846120" y="4763880"/>
            <a:ext cx="8434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14293f"/>
                </a:solidFill>
                <a:latin typeface="Consolas"/>
              </a:rPr>
              <a:t>13,633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2" name="Rectangle 75"/>
          <p:cNvSpPr/>
          <p:nvPr/>
        </p:nvSpPr>
        <p:spPr>
          <a:xfrm>
            <a:off x="4443840" y="491940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Box 76"/>
          <p:cNvSpPr/>
          <p:nvPr/>
        </p:nvSpPr>
        <p:spPr>
          <a:xfrm>
            <a:off x="4443840" y="4946760"/>
            <a:ext cx="240192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Cholesterol + history of smoking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4" name="TextBox 77"/>
          <p:cNvSpPr/>
          <p:nvPr/>
        </p:nvSpPr>
        <p:spPr>
          <a:xfrm>
            <a:off x="6846120" y="4946760"/>
            <a:ext cx="8434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14293f"/>
                </a:solidFill>
                <a:latin typeface="Consolas"/>
              </a:rPr>
              <a:t>9,062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5" name="Rectangle 78"/>
          <p:cNvSpPr/>
          <p:nvPr/>
        </p:nvSpPr>
        <p:spPr>
          <a:xfrm>
            <a:off x="4443840" y="510228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Box 79"/>
          <p:cNvSpPr/>
          <p:nvPr/>
        </p:nvSpPr>
        <p:spPr>
          <a:xfrm>
            <a:off x="4443840" y="5129640"/>
            <a:ext cx="240192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Type 2 diabetes + blood pressure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7" name="TextBox 80"/>
          <p:cNvSpPr/>
          <p:nvPr/>
        </p:nvSpPr>
        <p:spPr>
          <a:xfrm>
            <a:off x="6846120" y="5129640"/>
            <a:ext cx="8434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14293f"/>
                </a:solidFill>
                <a:latin typeface="Consolas"/>
              </a:rPr>
              <a:t>8,487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8" name="Rectangle 81"/>
          <p:cNvSpPr/>
          <p:nvPr/>
        </p:nvSpPr>
        <p:spPr>
          <a:xfrm>
            <a:off x="4443840" y="528516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Box 82"/>
          <p:cNvSpPr/>
          <p:nvPr/>
        </p:nvSpPr>
        <p:spPr>
          <a:xfrm>
            <a:off x="4443840" y="5312520"/>
            <a:ext cx="240192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Major depression + anxiety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60" name="TextBox 83"/>
          <p:cNvSpPr/>
          <p:nvPr/>
        </p:nvSpPr>
        <p:spPr>
          <a:xfrm>
            <a:off x="6846120" y="5312520"/>
            <a:ext cx="8434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14293f"/>
                </a:solidFill>
                <a:latin typeface="Consolas"/>
              </a:rPr>
              <a:t>5,306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61" name="Rectangle 84"/>
          <p:cNvSpPr/>
          <p:nvPr/>
        </p:nvSpPr>
        <p:spPr>
          <a:xfrm>
            <a:off x="4443840" y="546804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TextBox 85"/>
          <p:cNvSpPr/>
          <p:nvPr/>
        </p:nvSpPr>
        <p:spPr>
          <a:xfrm>
            <a:off x="4443840" y="5495400"/>
            <a:ext cx="240192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Hypertensive kidney + chronic kidney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63" name="TextBox 86"/>
          <p:cNvSpPr/>
          <p:nvPr/>
        </p:nvSpPr>
        <p:spPr>
          <a:xfrm>
            <a:off x="6846120" y="5495400"/>
            <a:ext cx="8434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14293f"/>
                </a:solidFill>
                <a:latin typeface="Consolas"/>
              </a:rPr>
              <a:t>4,984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64" name="Rectangle 87"/>
          <p:cNvSpPr/>
          <p:nvPr/>
        </p:nvSpPr>
        <p:spPr>
          <a:xfrm>
            <a:off x="4443840" y="565092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Box 88"/>
          <p:cNvSpPr/>
          <p:nvPr/>
        </p:nvSpPr>
        <p:spPr>
          <a:xfrm>
            <a:off x="4443840" y="5678280"/>
            <a:ext cx="240192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alibri"/>
              </a:rPr>
              <a:t>Irregular heartbeat + heart failure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66" name="TextBox 89"/>
          <p:cNvSpPr/>
          <p:nvPr/>
        </p:nvSpPr>
        <p:spPr>
          <a:xfrm>
            <a:off x="6846120" y="5678280"/>
            <a:ext cx="8434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14293f"/>
                </a:solidFill>
                <a:latin typeface="Consolas"/>
              </a:rPr>
              <a:t>4,951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67" name="Rectangle 90"/>
          <p:cNvSpPr/>
          <p:nvPr/>
        </p:nvSpPr>
        <p:spPr>
          <a:xfrm>
            <a:off x="4443840" y="587052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Box 91"/>
          <p:cNvSpPr/>
          <p:nvPr/>
        </p:nvSpPr>
        <p:spPr>
          <a:xfrm>
            <a:off x="4443840" y="5961960"/>
            <a:ext cx="324576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850" spc="-1" strike="noStrike">
                <a:solidFill>
                  <a:srgbClr val="8494a3"/>
                </a:solidFill>
                <a:latin typeface="Calibri"/>
              </a:rPr>
              <a:t>Hospital stays where both were coded on the same record. The last two are recognised combinations where each makes the other harder to treat.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69" name="TextBox 92"/>
          <p:cNvSpPr/>
          <p:nvPr/>
        </p:nvSpPr>
        <p:spPr>
          <a:xfrm>
            <a:off x="8092440" y="2157840"/>
            <a:ext cx="35384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MOST COMMON LONG-TERM CONDITIONS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70" name="TextBox 93"/>
          <p:cNvSpPr/>
          <p:nvPr/>
        </p:nvSpPr>
        <p:spPr>
          <a:xfrm>
            <a:off x="8092440" y="2391120"/>
            <a:ext cx="71280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Lung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71" name="Rectangle 94"/>
          <p:cNvSpPr/>
          <p:nvPr/>
        </p:nvSpPr>
        <p:spPr>
          <a:xfrm>
            <a:off x="8897040" y="2409480"/>
            <a:ext cx="218520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Rectangle 95"/>
          <p:cNvSpPr/>
          <p:nvPr/>
        </p:nvSpPr>
        <p:spPr>
          <a:xfrm>
            <a:off x="8897040" y="2409480"/>
            <a:ext cx="218520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Box 96"/>
          <p:cNvSpPr/>
          <p:nvPr/>
        </p:nvSpPr>
        <p:spPr>
          <a:xfrm>
            <a:off x="11174040" y="23911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20.3%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74" name="TextBox 97"/>
          <p:cNvSpPr/>
          <p:nvPr/>
        </p:nvSpPr>
        <p:spPr>
          <a:xfrm>
            <a:off x="8092440" y="2606040"/>
            <a:ext cx="71280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Heart fail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75" name="Rectangle 98"/>
          <p:cNvSpPr/>
          <p:nvPr/>
        </p:nvSpPr>
        <p:spPr>
          <a:xfrm>
            <a:off x="8897040" y="2624400"/>
            <a:ext cx="218520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Rectangle 99"/>
          <p:cNvSpPr/>
          <p:nvPr/>
        </p:nvSpPr>
        <p:spPr>
          <a:xfrm>
            <a:off x="8897040" y="2624400"/>
            <a:ext cx="180900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Box 100"/>
          <p:cNvSpPr/>
          <p:nvPr/>
        </p:nvSpPr>
        <p:spPr>
          <a:xfrm>
            <a:off x="11174040" y="260604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16.8%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78" name="TextBox 101"/>
          <p:cNvSpPr/>
          <p:nvPr/>
        </p:nvSpPr>
        <p:spPr>
          <a:xfrm>
            <a:off x="8092440" y="2820960"/>
            <a:ext cx="71280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Kidney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79" name="Rectangle 102"/>
          <p:cNvSpPr/>
          <p:nvPr/>
        </p:nvSpPr>
        <p:spPr>
          <a:xfrm>
            <a:off x="8897040" y="2839320"/>
            <a:ext cx="218520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Rectangle 103"/>
          <p:cNvSpPr/>
          <p:nvPr/>
        </p:nvSpPr>
        <p:spPr>
          <a:xfrm>
            <a:off x="8897040" y="2839320"/>
            <a:ext cx="179820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Box 104"/>
          <p:cNvSpPr/>
          <p:nvPr/>
        </p:nvSpPr>
        <p:spPr>
          <a:xfrm>
            <a:off x="11174040" y="282096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16.7%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2" name="TextBox 105"/>
          <p:cNvSpPr/>
          <p:nvPr/>
        </p:nvSpPr>
        <p:spPr>
          <a:xfrm>
            <a:off x="8092440" y="3035880"/>
            <a:ext cx="71280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Diabetes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3" name="Rectangle 106"/>
          <p:cNvSpPr/>
          <p:nvPr/>
        </p:nvSpPr>
        <p:spPr>
          <a:xfrm>
            <a:off x="8897040" y="3054240"/>
            <a:ext cx="218520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Rectangle 107"/>
          <p:cNvSpPr/>
          <p:nvPr/>
        </p:nvSpPr>
        <p:spPr>
          <a:xfrm>
            <a:off x="8897040" y="3054240"/>
            <a:ext cx="178740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Box 108"/>
          <p:cNvSpPr/>
          <p:nvPr/>
        </p:nvSpPr>
        <p:spPr>
          <a:xfrm>
            <a:off x="11174040" y="303588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16.6%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6" name="TextBox 109"/>
          <p:cNvSpPr/>
          <p:nvPr/>
        </p:nvSpPr>
        <p:spPr>
          <a:xfrm>
            <a:off x="8092440" y="3250800"/>
            <a:ext cx="71280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Cancer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7" name="Rectangle 110"/>
          <p:cNvSpPr/>
          <p:nvPr/>
        </p:nvSpPr>
        <p:spPr>
          <a:xfrm>
            <a:off x="8897040" y="3268800"/>
            <a:ext cx="218520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Rectangle 111"/>
          <p:cNvSpPr/>
          <p:nvPr/>
        </p:nvSpPr>
        <p:spPr>
          <a:xfrm>
            <a:off x="8897040" y="3268800"/>
            <a:ext cx="107712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Box 112"/>
          <p:cNvSpPr/>
          <p:nvPr/>
        </p:nvSpPr>
        <p:spPr>
          <a:xfrm>
            <a:off x="11174040" y="325080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10.0%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0" name="TextBox 113"/>
          <p:cNvSpPr/>
          <p:nvPr/>
        </p:nvSpPr>
        <p:spPr>
          <a:xfrm>
            <a:off x="8092440" y="3465720"/>
            <a:ext cx="71280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Prior MI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1" name="Rectangle 114"/>
          <p:cNvSpPr/>
          <p:nvPr/>
        </p:nvSpPr>
        <p:spPr>
          <a:xfrm>
            <a:off x="8897040" y="3483720"/>
            <a:ext cx="218520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Rectangle 115"/>
          <p:cNvSpPr/>
          <p:nvPr/>
        </p:nvSpPr>
        <p:spPr>
          <a:xfrm>
            <a:off x="8897040" y="3483720"/>
            <a:ext cx="97884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TextBox 116"/>
          <p:cNvSpPr/>
          <p:nvPr/>
        </p:nvSpPr>
        <p:spPr>
          <a:xfrm>
            <a:off x="11174040" y="346572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9.1%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4" name="TextBox 117"/>
          <p:cNvSpPr/>
          <p:nvPr/>
        </p:nvSpPr>
        <p:spPr>
          <a:xfrm>
            <a:off x="8092440" y="3680280"/>
            <a:ext cx="71280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Vascular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5" name="Rectangle 118"/>
          <p:cNvSpPr/>
          <p:nvPr/>
        </p:nvSpPr>
        <p:spPr>
          <a:xfrm>
            <a:off x="8897040" y="3698640"/>
            <a:ext cx="218520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Rectangle 119"/>
          <p:cNvSpPr/>
          <p:nvPr/>
        </p:nvSpPr>
        <p:spPr>
          <a:xfrm>
            <a:off x="8897040" y="3698640"/>
            <a:ext cx="87156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Box 120"/>
          <p:cNvSpPr/>
          <p:nvPr/>
        </p:nvSpPr>
        <p:spPr>
          <a:xfrm>
            <a:off x="11174040" y="368028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8.1%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8" name="TextBox 121"/>
          <p:cNvSpPr/>
          <p:nvPr/>
        </p:nvSpPr>
        <p:spPr>
          <a:xfrm>
            <a:off x="8092440" y="3895200"/>
            <a:ext cx="71280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850" spc="-1" strike="noStrike">
                <a:solidFill>
                  <a:srgbClr val="5a6b7d"/>
                </a:solidFill>
                <a:latin typeface="Consolas"/>
              </a:rPr>
              <a:t>Stroke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9" name="Rectangle 122"/>
          <p:cNvSpPr/>
          <p:nvPr/>
        </p:nvSpPr>
        <p:spPr>
          <a:xfrm>
            <a:off x="8897040" y="3913560"/>
            <a:ext cx="2185200" cy="12312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Rectangle 123"/>
          <p:cNvSpPr/>
          <p:nvPr/>
        </p:nvSpPr>
        <p:spPr>
          <a:xfrm>
            <a:off x="8897040" y="3913560"/>
            <a:ext cx="828000" cy="123120"/>
          </a:xfrm>
          <a:prstGeom prst="rect">
            <a:avLst/>
          </a:prstGeom>
          <a:solidFill>
            <a:srgbClr val="0f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TextBox 124"/>
          <p:cNvSpPr/>
          <p:nvPr/>
        </p:nvSpPr>
        <p:spPr>
          <a:xfrm>
            <a:off x="11174040" y="3895200"/>
            <a:ext cx="4568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850" spc="-1" strike="noStrike">
                <a:solidFill>
                  <a:srgbClr val="14293f"/>
                </a:solidFill>
                <a:latin typeface="Consolas"/>
              </a:rPr>
              <a:t>7.7%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2" name="Rectangle 125"/>
          <p:cNvSpPr/>
          <p:nvPr/>
        </p:nvSpPr>
        <p:spPr>
          <a:xfrm>
            <a:off x="8092440" y="4151520"/>
            <a:ext cx="353844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Box 126"/>
          <p:cNvSpPr/>
          <p:nvPr/>
        </p:nvSpPr>
        <p:spPr>
          <a:xfrm>
            <a:off x="8092440" y="4233600"/>
            <a:ext cx="353844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2000"/>
              </a:lnSpc>
              <a:buNone/>
            </a:pPr>
            <a:r>
              <a:rPr b="0" lang="en-US" sz="950" spc="-1" strike="noStrike">
                <a:solidFill>
                  <a:srgbClr val="5a6b7d"/>
                </a:solidFill>
                <a:latin typeface="Calibri"/>
              </a:rPr>
              <a:t>Share of stays carrying each condition. A stay usually carries several of them at once.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404" name="Rectangle 127"/>
          <p:cNvSpPr/>
          <p:nvPr/>
        </p:nvSpPr>
        <p:spPr>
          <a:xfrm>
            <a:off x="8092440" y="4663440"/>
            <a:ext cx="3538440" cy="178272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Box 128"/>
          <p:cNvSpPr/>
          <p:nvPr/>
        </p:nvSpPr>
        <p:spPr>
          <a:xfrm>
            <a:off x="8238600" y="4809600"/>
            <a:ext cx="3245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US" sz="800" spc="-1" strike="noStrike">
                <a:solidFill>
                  <a:srgbClr val="8494a3"/>
                </a:solidFill>
                <a:latin typeface="Consolas"/>
              </a:rPr>
              <a:t>THE CODING ITSELF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06" name="TextBox 129"/>
          <p:cNvSpPr/>
          <p:nvPr/>
        </p:nvSpPr>
        <p:spPr>
          <a:xfrm>
            <a:off x="8238600" y="5056560"/>
            <a:ext cx="1947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5a6b7d"/>
                </a:solidFill>
                <a:latin typeface="Calibri"/>
              </a:rPr>
              <a:t>Diagnosis records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07" name="TextBox 130"/>
          <p:cNvSpPr/>
          <p:nvPr/>
        </p:nvSpPr>
        <p:spPr>
          <a:xfrm>
            <a:off x="10186560" y="5056560"/>
            <a:ext cx="1298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14293f"/>
                </a:solidFill>
                <a:latin typeface="Consolas"/>
              </a:rPr>
              <a:t>6,364,488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08" name="Rectangle 131"/>
          <p:cNvSpPr/>
          <p:nvPr/>
        </p:nvSpPr>
        <p:spPr>
          <a:xfrm>
            <a:off x="8238600" y="524412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TextBox 132"/>
          <p:cNvSpPr/>
          <p:nvPr/>
        </p:nvSpPr>
        <p:spPr>
          <a:xfrm>
            <a:off x="8238600" y="5271480"/>
            <a:ext cx="1947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5a6b7d"/>
                </a:solidFill>
                <a:latin typeface="Calibri"/>
              </a:rPr>
              <a:t>Distinct codes used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0" name="TextBox 133"/>
          <p:cNvSpPr/>
          <p:nvPr/>
        </p:nvSpPr>
        <p:spPr>
          <a:xfrm>
            <a:off x="10186560" y="5271480"/>
            <a:ext cx="1298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900" spc="-1" strike="noStrike">
                <a:solidFill>
                  <a:srgbClr val="0f2a4a"/>
                </a:solidFill>
                <a:latin typeface="Consolas"/>
              </a:rPr>
              <a:t>28,562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1" name="Rectangle 134"/>
          <p:cNvSpPr/>
          <p:nvPr/>
        </p:nvSpPr>
        <p:spPr>
          <a:xfrm>
            <a:off x="8238600" y="545904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Box 135"/>
          <p:cNvSpPr/>
          <p:nvPr/>
        </p:nvSpPr>
        <p:spPr>
          <a:xfrm>
            <a:off x="8238600" y="5486400"/>
            <a:ext cx="1947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5a6b7d"/>
                </a:solidFill>
                <a:latin typeface="Calibri"/>
              </a:rPr>
              <a:t>Codes used on exactly one stay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3" name="TextBox 136"/>
          <p:cNvSpPr/>
          <p:nvPr/>
        </p:nvSpPr>
        <p:spPr>
          <a:xfrm>
            <a:off x="10186560" y="5486400"/>
            <a:ext cx="1298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14293f"/>
                </a:solidFill>
                <a:latin typeface="Consolas"/>
              </a:rPr>
              <a:t>6,160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4" name="Rectangle 137"/>
          <p:cNvSpPr/>
          <p:nvPr/>
        </p:nvSpPr>
        <p:spPr>
          <a:xfrm>
            <a:off x="8238600" y="567396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Box 138"/>
          <p:cNvSpPr/>
          <p:nvPr/>
        </p:nvSpPr>
        <p:spPr>
          <a:xfrm>
            <a:off x="8238600" y="5701320"/>
            <a:ext cx="194724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900" spc="-1" strike="noStrike">
                <a:solidFill>
                  <a:srgbClr val="5a6b7d"/>
                </a:solidFill>
                <a:latin typeface="Calibri"/>
              </a:rPr>
              <a:t>Codes covering half of records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6" name="TextBox 139"/>
          <p:cNvSpPr/>
          <p:nvPr/>
        </p:nvSpPr>
        <p:spPr>
          <a:xfrm>
            <a:off x="10186560" y="5701320"/>
            <a:ext cx="129816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5000"/>
              </a:lnSpc>
              <a:buNone/>
            </a:pPr>
            <a:r>
              <a:rPr b="1" lang="en-US" sz="900" spc="-1" strike="noStrike">
                <a:solidFill>
                  <a:srgbClr val="0f2a4a"/>
                </a:solidFill>
                <a:latin typeface="Consolas"/>
              </a:rPr>
              <a:t>250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7" name="Rectangle 140"/>
          <p:cNvSpPr/>
          <p:nvPr/>
        </p:nvSpPr>
        <p:spPr>
          <a:xfrm>
            <a:off x="8238600" y="5906880"/>
            <a:ext cx="3245760" cy="6840"/>
          </a:xfrm>
          <a:prstGeom prst="rect">
            <a:avLst/>
          </a:prstGeom>
          <a:solidFill>
            <a:srgbClr val="dee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Box 141"/>
          <p:cNvSpPr/>
          <p:nvPr/>
        </p:nvSpPr>
        <p:spPr>
          <a:xfrm>
            <a:off x="8238600" y="5998320"/>
            <a:ext cx="324576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850" spc="-1" strike="noStrike">
                <a:solidFill>
                  <a:srgbClr val="8494a3"/>
                </a:solidFill>
                <a:latin typeface="Calibri"/>
              </a:rPr>
              <a:t>Under 1% of the codes account for half of every diagnosis ever recorded; a fifth of them appear on a single stay.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Preventra</dc:creator>
  <dc:description>generated using python-pptx</dc:description>
  <dc:language>en-US</dc:language>
  <cp:lastModifiedBy/>
  <dcterms:modified xsi:type="dcterms:W3CDTF">2026-09-10T14:08:08Z</dcterms:modified>
  <cp:revision>4</cp:revision>
  <dc:subject>Preventra — readmission risk programme</dc:subject>
  <dc:title>From CMS to MIMIC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