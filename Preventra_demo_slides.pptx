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one minute: a single repository holds three folders - GLP1, Readmission and the sign-in Portal. Their servers run on Railway and talk to one Mongo cluster; their screens run on Vercel. The Auth Service issues the sign-in that both products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Super Admin (our team) creates hospitals and their administrators, and can approve any request. Each hospital is walled off: its admin approves its own doctors, nurses, case managers and patients. Doctors and nurses see only the patients assigned to them, case managers see all patients in the hospital, patients see only themselves. Insurers sit outside any hospital and see only their own members. Hospital admins and insurers get an overview and must give a logged reason to open clinical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compressed version of the progress update: one platform with one sign-in, role-based access with hospitals kept apart, hospital dashboards in both apps, and rising-risk alerts plus the chatbot in Readmission.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algn="l" indent="0" marL="0">
              <a:buNone/>
            </a:pPr>
            <a:r>
              <a:rPr lang="en-US" sz="3200" b="1" dirty="0">
                <a:solidFill>
                  <a:srgbClr val="1F3A5F"/>
                </a:solidFill>
                <a:latin typeface="Calibri" pitchFamily="34" charset="0"/>
                <a:ea typeface="Calibri" pitchFamily="34" charset="-122"/>
                <a:cs typeface="Calibri" pitchFamily="34" charset="-120"/>
              </a:rPr>
              <a:t>One platform, two products, one sign-in</a:t>
            </a:r>
            <a:endParaRPr lang="en-US" sz="3200" dirty="0"/>
          </a:p>
        </p:txBody>
      </p:sp>
      <p:sp>
        <p:nvSpPr>
          <p:cNvPr id="3" name="Text 1"/>
          <p:cNvSpPr txBox="1"/>
          <p:nvPr/>
        </p:nvSpPr>
        <p:spPr>
          <a:xfrm>
            <a:off x="457200" y="841248"/>
            <a:ext cx="11247120" cy="365760"/>
          </a:xfrm>
          <a:prstGeom prst="rect">
            <a:avLst/>
          </a:prstGeom>
          <a:noFill/>
          <a:ln/>
        </p:spPr>
        <p:txBody>
          <a:bodyPr wrap="square" lIns="0" tIns="0" rIns="0" bIns="0" rtlCol="0" anchor="t"/>
          <a:lstStyle/>
          <a:p>
            <a:pPr algn="l" indent="0" marL="0">
              <a:buNone/>
            </a:pPr>
            <a:r>
              <a:rPr lang="en-US" sz="1500" dirty="0">
                <a:solidFill>
                  <a:srgbClr val="5B6472"/>
                </a:solidFill>
                <a:latin typeface="Calibri" pitchFamily="34" charset="0"/>
                <a:ea typeface="Calibri" pitchFamily="34" charset="-122"/>
                <a:cs typeface="Calibri" pitchFamily="34" charset="-120"/>
              </a:rPr>
              <a:t>How the project is built and where each part runs</a:t>
            </a:r>
            <a:endParaRPr lang="en-US" sz="1500" dirty="0"/>
          </a:p>
        </p:txBody>
      </p:sp>
      <p:sp>
        <p:nvSpPr>
          <p:cNvPr id="4" name="Text 2"/>
          <p:cNvSpPr txBox="1"/>
          <p:nvPr/>
        </p:nvSpPr>
        <p:spPr>
          <a:xfrm>
            <a:off x="457200" y="2286000"/>
            <a:ext cx="1737360" cy="822960"/>
          </a:xfrm>
          <a:prstGeom prst="roundRect">
            <a:avLst>
              <a:gd name="adj" fmla="val 13333"/>
            </a:avLst>
          </a:prstGeom>
          <a:solidFill>
            <a:srgbClr val="40E0D0"/>
          </a:solidFill>
          <a:ln w="19050">
            <a:solidFill>
              <a:srgbClr val="1F2937"/>
            </a:solidFill>
            <a:prstDash val="solid"/>
          </a:ln>
        </p:spPr>
        <p:txBody>
          <a:bodyPr wrap="square" lIns="762" tIns="762" rIns="762" bIns="762"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Preventra</a:t>
            </a:r>
            <a:endParaRPr lang="en-US" sz="1800" dirty="0"/>
          </a:p>
          <a:p>
            <a:pPr algn="ctr" indent="0" marL="0">
              <a:buNone/>
            </a:pPr>
            <a:r>
              <a:rPr lang="en-US" sz="1100" dirty="0">
                <a:solidFill>
                  <a:srgbClr val="1F2937"/>
                </a:solidFill>
                <a:latin typeface="Calibri" pitchFamily="34" charset="0"/>
                <a:ea typeface="Calibri" pitchFamily="34" charset="-122"/>
                <a:cs typeface="Calibri" pitchFamily="34" charset="-120"/>
              </a:rPr>
              <a:t>one repository</a:t>
            </a:r>
            <a:endParaRPr lang="en-US" sz="1800" dirty="0"/>
          </a:p>
        </p:txBody>
      </p:sp>
      <p:sp>
        <p:nvSpPr>
          <p:cNvPr id="5" name="Text 3"/>
          <p:cNvSpPr txBox="1"/>
          <p:nvPr/>
        </p:nvSpPr>
        <p:spPr>
          <a:xfrm>
            <a:off x="2606040" y="1783080"/>
            <a:ext cx="1600200" cy="548640"/>
          </a:xfrm>
          <a:prstGeom prst="roundRect">
            <a:avLst>
              <a:gd name="adj" fmla="val 20000"/>
            </a:avLst>
          </a:prstGeom>
          <a:solidFill>
            <a:srgbClr val="B2F2BB"/>
          </a:solidFill>
          <a:ln w="19050">
            <a:solidFill>
              <a:srgbClr val="1F2937"/>
            </a:solidFill>
            <a:prstDash val="solid"/>
          </a:ln>
        </p:spPr>
        <p:txBody>
          <a:bodyPr wrap="square" lIns="762" tIns="762" rIns="762" bIns="762"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GLP1</a:t>
            </a:r>
            <a:endParaRPr lang="en-US" sz="1400" dirty="0"/>
          </a:p>
        </p:txBody>
      </p:sp>
      <p:sp>
        <p:nvSpPr>
          <p:cNvPr id="6" name="Shape 4"/>
          <p:cNvSpPr/>
          <p:nvPr/>
        </p:nvSpPr>
        <p:spPr>
          <a:xfrm flipV="1">
            <a:off x="2194560" y="2057400"/>
            <a:ext cx="411480" cy="640080"/>
          </a:xfrm>
          <a:prstGeom prst="line">
            <a:avLst/>
          </a:prstGeom>
          <a:noFill/>
          <a:ln w="25400">
            <a:solidFill>
              <a:srgbClr val="1F2937"/>
            </a:solidFill>
            <a:prstDash val="solid"/>
            <a:tailEnd type="triangle"/>
          </a:ln>
        </p:spPr>
      </p:sp>
      <p:sp>
        <p:nvSpPr>
          <p:cNvPr id="7" name="Text 5"/>
          <p:cNvSpPr txBox="1"/>
          <p:nvPr/>
        </p:nvSpPr>
        <p:spPr>
          <a:xfrm>
            <a:off x="2606040" y="2514600"/>
            <a:ext cx="1600200" cy="548640"/>
          </a:xfrm>
          <a:prstGeom prst="roundRect">
            <a:avLst>
              <a:gd name="adj" fmla="val 20000"/>
            </a:avLst>
          </a:prstGeom>
          <a:solidFill>
            <a:srgbClr val="A5D8FF"/>
          </a:solidFill>
          <a:ln w="19050">
            <a:solidFill>
              <a:srgbClr val="1F2937"/>
            </a:solidFill>
            <a:prstDash val="solid"/>
          </a:ln>
        </p:spPr>
        <p:txBody>
          <a:bodyPr wrap="square" lIns="762" tIns="762" rIns="762" bIns="762"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Readmission</a:t>
            </a:r>
            <a:endParaRPr lang="en-US" sz="1400" dirty="0"/>
          </a:p>
        </p:txBody>
      </p:sp>
      <p:sp>
        <p:nvSpPr>
          <p:cNvPr id="8" name="Shape 6"/>
          <p:cNvSpPr/>
          <p:nvPr/>
        </p:nvSpPr>
        <p:spPr>
          <a:xfrm>
            <a:off x="2194560" y="2697480"/>
            <a:ext cx="411480" cy="91440"/>
          </a:xfrm>
          <a:prstGeom prst="line">
            <a:avLst/>
          </a:prstGeom>
          <a:noFill/>
          <a:ln w="25400">
            <a:solidFill>
              <a:srgbClr val="1F2937"/>
            </a:solidFill>
            <a:prstDash val="solid"/>
            <a:tailEnd type="triangle"/>
          </a:ln>
        </p:spPr>
      </p:sp>
      <p:sp>
        <p:nvSpPr>
          <p:cNvPr id="9" name="Text 7"/>
          <p:cNvSpPr txBox="1"/>
          <p:nvPr/>
        </p:nvSpPr>
        <p:spPr>
          <a:xfrm>
            <a:off x="2606040" y="3246120"/>
            <a:ext cx="1600200" cy="548640"/>
          </a:xfrm>
          <a:prstGeom prst="roundRect">
            <a:avLst>
              <a:gd name="adj" fmla="val 20000"/>
            </a:avLst>
          </a:prstGeom>
          <a:solidFill>
            <a:srgbClr val="FFEC99"/>
          </a:solidFill>
          <a:ln w="19050">
            <a:solidFill>
              <a:srgbClr val="1F2937"/>
            </a:solidFill>
            <a:prstDash val="solid"/>
          </a:ln>
        </p:spPr>
        <p:txBody>
          <a:bodyPr wrap="square" lIns="762" tIns="762" rIns="762" bIns="762"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Portal</a:t>
            </a:r>
            <a:endParaRPr lang="en-US" sz="1400" dirty="0"/>
          </a:p>
        </p:txBody>
      </p:sp>
      <p:sp>
        <p:nvSpPr>
          <p:cNvPr id="10" name="Shape 8"/>
          <p:cNvSpPr/>
          <p:nvPr/>
        </p:nvSpPr>
        <p:spPr>
          <a:xfrm>
            <a:off x="2194560" y="2697480"/>
            <a:ext cx="411480" cy="822960"/>
          </a:xfrm>
          <a:prstGeom prst="line">
            <a:avLst/>
          </a:prstGeom>
          <a:noFill/>
          <a:ln w="25400">
            <a:solidFill>
              <a:srgbClr val="1F2937"/>
            </a:solidFill>
            <a:prstDash val="solid"/>
            <a:tailEnd type="triangle"/>
          </a:ln>
        </p:spPr>
      </p:sp>
      <p:sp>
        <p:nvSpPr>
          <p:cNvPr id="11" name="Shape 9"/>
          <p:cNvSpPr/>
          <p:nvPr/>
        </p:nvSpPr>
        <p:spPr>
          <a:xfrm>
            <a:off x="4754880" y="1371600"/>
            <a:ext cx="4023360" cy="2606040"/>
          </a:xfrm>
          <a:prstGeom prst="roundRect">
            <a:avLst>
              <a:gd name="adj" fmla="val 5263"/>
            </a:avLst>
          </a:prstGeom>
          <a:solidFill>
            <a:srgbClr val="F8F9FA"/>
          </a:solidFill>
          <a:ln w="19050">
            <a:solidFill>
              <a:srgbClr val="9CA3AF"/>
            </a:solidFill>
            <a:prstDash val="dash"/>
          </a:ln>
        </p:spPr>
      </p:sp>
      <p:sp>
        <p:nvSpPr>
          <p:cNvPr id="12" name="Text 10"/>
          <p:cNvSpPr txBox="1"/>
          <p:nvPr/>
        </p:nvSpPr>
        <p:spPr>
          <a:xfrm>
            <a:off x="4892040" y="1426464"/>
            <a:ext cx="3749040" cy="32004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Railway - the servers (APIs)</a:t>
            </a:r>
            <a:endParaRPr lang="en-US" sz="1300" dirty="0"/>
          </a:p>
        </p:txBody>
      </p:sp>
      <p:sp>
        <p:nvSpPr>
          <p:cNvPr id="13" name="Text 11"/>
          <p:cNvSpPr txBox="1"/>
          <p:nvPr/>
        </p:nvSpPr>
        <p:spPr>
          <a:xfrm>
            <a:off x="4983480" y="1783080"/>
            <a:ext cx="3566160" cy="548640"/>
          </a:xfrm>
          <a:prstGeom prst="roundRect">
            <a:avLst>
              <a:gd name="adj" fmla="val 20000"/>
            </a:avLst>
          </a:prstGeom>
          <a:solidFill>
            <a:srgbClr val="B2F2BB"/>
          </a:solidFill>
          <a:ln w="19050">
            <a:solidFill>
              <a:srgbClr val="1F2937"/>
            </a:solidFill>
            <a:prstDash val="solid"/>
          </a:ln>
        </p:spPr>
        <p:txBody>
          <a:bodyPr wrap="square" lIns="762" tIns="762" rIns="762" bIns="762"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GLP1 Backend</a:t>
            </a:r>
            <a:endParaRPr lang="en-US" sz="1600" dirty="0"/>
          </a:p>
        </p:txBody>
      </p:sp>
      <p:sp>
        <p:nvSpPr>
          <p:cNvPr id="14" name="Shape 12"/>
          <p:cNvSpPr/>
          <p:nvPr/>
        </p:nvSpPr>
        <p:spPr>
          <a:xfrm>
            <a:off x="4206240" y="2057400"/>
            <a:ext cx="777240" cy="0"/>
          </a:xfrm>
          <a:prstGeom prst="line">
            <a:avLst/>
          </a:prstGeom>
          <a:noFill/>
          <a:ln w="25400">
            <a:solidFill>
              <a:srgbClr val="1F2937"/>
            </a:solidFill>
            <a:prstDash val="solid"/>
            <a:tailEnd type="triangle"/>
          </a:ln>
        </p:spPr>
      </p:sp>
      <p:sp>
        <p:nvSpPr>
          <p:cNvPr id="15" name="Text 13"/>
          <p:cNvSpPr txBox="1"/>
          <p:nvPr/>
        </p:nvSpPr>
        <p:spPr>
          <a:xfrm>
            <a:off x="4983480" y="2514600"/>
            <a:ext cx="3566160" cy="548640"/>
          </a:xfrm>
          <a:prstGeom prst="roundRect">
            <a:avLst>
              <a:gd name="adj" fmla="val 20000"/>
            </a:avLst>
          </a:prstGeom>
          <a:solidFill>
            <a:srgbClr val="A5D8FF"/>
          </a:solidFill>
          <a:ln w="19050">
            <a:solidFill>
              <a:srgbClr val="1F2937"/>
            </a:solidFill>
            <a:prstDash val="solid"/>
          </a:ln>
        </p:spPr>
        <p:txBody>
          <a:bodyPr wrap="square" lIns="762" tIns="762" rIns="762" bIns="762"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Readmission Backend</a:t>
            </a:r>
            <a:endParaRPr lang="en-US" sz="1600" dirty="0"/>
          </a:p>
        </p:txBody>
      </p:sp>
      <p:sp>
        <p:nvSpPr>
          <p:cNvPr id="16" name="Shape 14"/>
          <p:cNvSpPr/>
          <p:nvPr/>
        </p:nvSpPr>
        <p:spPr>
          <a:xfrm>
            <a:off x="4206240" y="2788920"/>
            <a:ext cx="777240" cy="0"/>
          </a:xfrm>
          <a:prstGeom prst="line">
            <a:avLst/>
          </a:prstGeom>
          <a:noFill/>
          <a:ln w="25400">
            <a:solidFill>
              <a:srgbClr val="1F2937"/>
            </a:solidFill>
            <a:prstDash val="solid"/>
            <a:tailEnd type="triangle"/>
          </a:ln>
        </p:spPr>
      </p:sp>
      <p:sp>
        <p:nvSpPr>
          <p:cNvPr id="17" name="Text 15"/>
          <p:cNvSpPr txBox="1"/>
          <p:nvPr/>
        </p:nvSpPr>
        <p:spPr>
          <a:xfrm>
            <a:off x="4983480" y="3246120"/>
            <a:ext cx="3566160" cy="548640"/>
          </a:xfrm>
          <a:prstGeom prst="roundRect">
            <a:avLst>
              <a:gd name="adj" fmla="val 20000"/>
            </a:avLst>
          </a:prstGeom>
          <a:solidFill>
            <a:srgbClr val="FFEC99"/>
          </a:solidFill>
          <a:ln w="19050">
            <a:solidFill>
              <a:srgbClr val="1F2937"/>
            </a:solidFill>
            <a:prstDash val="solid"/>
          </a:ln>
        </p:spPr>
        <p:txBody>
          <a:bodyPr wrap="square" lIns="762" tIns="762" rIns="762" bIns="762"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Auth Service</a:t>
            </a:r>
            <a:endParaRPr lang="en-US" sz="1600" dirty="0"/>
          </a:p>
        </p:txBody>
      </p:sp>
      <p:sp>
        <p:nvSpPr>
          <p:cNvPr id="18" name="Shape 16"/>
          <p:cNvSpPr/>
          <p:nvPr/>
        </p:nvSpPr>
        <p:spPr>
          <a:xfrm>
            <a:off x="4206240" y="3520440"/>
            <a:ext cx="777240" cy="0"/>
          </a:xfrm>
          <a:prstGeom prst="line">
            <a:avLst/>
          </a:prstGeom>
          <a:noFill/>
          <a:ln w="25400">
            <a:solidFill>
              <a:srgbClr val="1F2937"/>
            </a:solidFill>
            <a:prstDash val="solid"/>
            <a:tailEnd type="triangle"/>
          </a:ln>
        </p:spPr>
      </p:sp>
      <p:sp>
        <p:nvSpPr>
          <p:cNvPr id="19" name="Text 17"/>
          <p:cNvSpPr txBox="1"/>
          <p:nvPr/>
        </p:nvSpPr>
        <p:spPr>
          <a:xfrm>
            <a:off x="9601200" y="2331720"/>
            <a:ext cx="2103120" cy="822960"/>
          </a:xfrm>
          <a:prstGeom prst="roundRect">
            <a:avLst>
              <a:gd name="adj" fmla="val 13333"/>
            </a:avLst>
          </a:prstGeom>
          <a:solidFill>
            <a:srgbClr val="FCC2D7"/>
          </a:solidFill>
          <a:ln w="19050">
            <a:solidFill>
              <a:srgbClr val="1F2937"/>
            </a:solidFill>
            <a:prstDash val="solid"/>
          </a:ln>
        </p:spPr>
        <p:txBody>
          <a:bodyPr wrap="square" lIns="762" tIns="762" rIns="762" bIns="762"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Mongo cluster</a:t>
            </a:r>
            <a:endParaRPr lang="en-US" sz="1600" dirty="0"/>
          </a:p>
          <a:p>
            <a:pPr algn="ctr" indent="0" marL="0">
              <a:buNone/>
            </a:pPr>
            <a:r>
              <a:rPr lang="en-US" sz="1100" dirty="0">
                <a:solidFill>
                  <a:srgbClr val="1F2937"/>
                </a:solidFill>
                <a:latin typeface="Calibri" pitchFamily="34" charset="0"/>
                <a:ea typeface="Calibri" pitchFamily="34" charset="-122"/>
                <a:cs typeface="Calibri" pitchFamily="34" charset="-120"/>
              </a:rPr>
              <a:t>one database service</a:t>
            </a:r>
            <a:endParaRPr lang="en-US" sz="1600" dirty="0"/>
          </a:p>
        </p:txBody>
      </p:sp>
      <p:sp>
        <p:nvSpPr>
          <p:cNvPr id="20" name="Shape 18"/>
          <p:cNvSpPr/>
          <p:nvPr/>
        </p:nvSpPr>
        <p:spPr>
          <a:xfrm>
            <a:off x="8549640" y="2057400"/>
            <a:ext cx="1051560" cy="685800"/>
          </a:xfrm>
          <a:prstGeom prst="line">
            <a:avLst/>
          </a:prstGeom>
          <a:noFill/>
          <a:ln w="19050">
            <a:solidFill>
              <a:srgbClr val="1F2937"/>
            </a:solidFill>
            <a:prstDash val="solid"/>
            <a:tailEnd type="triangle"/>
          </a:ln>
        </p:spPr>
      </p:sp>
      <p:sp>
        <p:nvSpPr>
          <p:cNvPr id="21" name="Shape 19"/>
          <p:cNvSpPr/>
          <p:nvPr/>
        </p:nvSpPr>
        <p:spPr>
          <a:xfrm flipV="1">
            <a:off x="8549640" y="2743200"/>
            <a:ext cx="1051560" cy="45720"/>
          </a:xfrm>
          <a:prstGeom prst="line">
            <a:avLst/>
          </a:prstGeom>
          <a:noFill/>
          <a:ln w="19050">
            <a:solidFill>
              <a:srgbClr val="1F2937"/>
            </a:solidFill>
            <a:prstDash val="solid"/>
            <a:tailEnd type="triangle"/>
          </a:ln>
        </p:spPr>
      </p:sp>
      <p:sp>
        <p:nvSpPr>
          <p:cNvPr id="22" name="Shape 20"/>
          <p:cNvSpPr/>
          <p:nvPr/>
        </p:nvSpPr>
        <p:spPr>
          <a:xfrm flipV="1">
            <a:off x="8549640" y="2743200"/>
            <a:ext cx="1051560" cy="777240"/>
          </a:xfrm>
          <a:prstGeom prst="line">
            <a:avLst/>
          </a:prstGeom>
          <a:noFill/>
          <a:ln w="19050">
            <a:solidFill>
              <a:srgbClr val="1F2937"/>
            </a:solidFill>
            <a:prstDash val="solid"/>
            <a:tailEnd type="triangle"/>
          </a:ln>
        </p:spPr>
      </p:sp>
      <p:sp>
        <p:nvSpPr>
          <p:cNvPr id="23" name="Shape 21"/>
          <p:cNvSpPr/>
          <p:nvPr/>
        </p:nvSpPr>
        <p:spPr>
          <a:xfrm>
            <a:off x="4754880" y="4526280"/>
            <a:ext cx="6949440" cy="1645920"/>
          </a:xfrm>
          <a:prstGeom prst="roundRect">
            <a:avLst>
              <a:gd name="adj" fmla="val 8333"/>
            </a:avLst>
          </a:prstGeom>
          <a:solidFill>
            <a:srgbClr val="F8F9FA"/>
          </a:solidFill>
          <a:ln w="19050">
            <a:solidFill>
              <a:srgbClr val="9CA3AF"/>
            </a:solidFill>
            <a:prstDash val="dash"/>
          </a:ln>
        </p:spPr>
      </p:sp>
      <p:sp>
        <p:nvSpPr>
          <p:cNvPr id="24" name="Text 22"/>
          <p:cNvSpPr txBox="1"/>
          <p:nvPr/>
        </p:nvSpPr>
        <p:spPr>
          <a:xfrm>
            <a:off x="4892040" y="4581144"/>
            <a:ext cx="6675120" cy="32004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Vercel - the screens people use</a:t>
            </a:r>
            <a:endParaRPr lang="en-US" sz="1300" dirty="0"/>
          </a:p>
        </p:txBody>
      </p:sp>
      <p:sp>
        <p:nvSpPr>
          <p:cNvPr id="25" name="Text 23"/>
          <p:cNvSpPr txBox="1"/>
          <p:nvPr/>
        </p:nvSpPr>
        <p:spPr>
          <a:xfrm>
            <a:off x="4983480" y="5074920"/>
            <a:ext cx="2011680" cy="777240"/>
          </a:xfrm>
          <a:prstGeom prst="roundRect">
            <a:avLst>
              <a:gd name="adj" fmla="val 14118"/>
            </a:avLst>
          </a:prstGeom>
          <a:solidFill>
            <a:srgbClr val="B2F2BB"/>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GLP1 Frontend</a:t>
            </a:r>
            <a:endParaRPr lang="en-US" sz="1500" dirty="0"/>
          </a:p>
        </p:txBody>
      </p:sp>
      <p:sp>
        <p:nvSpPr>
          <p:cNvPr id="26" name="Text 24"/>
          <p:cNvSpPr txBox="1"/>
          <p:nvPr/>
        </p:nvSpPr>
        <p:spPr>
          <a:xfrm>
            <a:off x="7269480" y="5074920"/>
            <a:ext cx="2011680" cy="777240"/>
          </a:xfrm>
          <a:prstGeom prst="roundRect">
            <a:avLst>
              <a:gd name="adj" fmla="val 14118"/>
            </a:avLst>
          </a:prstGeom>
          <a:solidFill>
            <a:srgbClr val="A5D8FF"/>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Readmission Frontend</a:t>
            </a:r>
            <a:endParaRPr lang="en-US" sz="1500" dirty="0"/>
          </a:p>
        </p:txBody>
      </p:sp>
      <p:sp>
        <p:nvSpPr>
          <p:cNvPr id="27" name="Text 25"/>
          <p:cNvSpPr txBox="1"/>
          <p:nvPr/>
        </p:nvSpPr>
        <p:spPr>
          <a:xfrm>
            <a:off x="9555480" y="5074920"/>
            <a:ext cx="2011680" cy="777240"/>
          </a:xfrm>
          <a:prstGeom prst="roundRect">
            <a:avLst>
              <a:gd name="adj" fmla="val 14118"/>
            </a:avLst>
          </a:prstGeom>
          <a:solidFill>
            <a:srgbClr val="FFEC99"/>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Sign In / Up Portal</a:t>
            </a:r>
            <a:endParaRPr lang="en-US" sz="1500" dirty="0"/>
          </a:p>
        </p:txBody>
      </p:sp>
      <p:sp>
        <p:nvSpPr>
          <p:cNvPr id="28" name="Shape 26"/>
          <p:cNvSpPr/>
          <p:nvPr/>
        </p:nvSpPr>
        <p:spPr>
          <a:xfrm flipV="1">
            <a:off x="6766560" y="3977640"/>
            <a:ext cx="0" cy="548640"/>
          </a:xfrm>
          <a:prstGeom prst="line">
            <a:avLst/>
          </a:prstGeom>
          <a:noFill/>
          <a:ln w="25400">
            <a:solidFill>
              <a:srgbClr val="1F2937"/>
            </a:solidFill>
            <a:prstDash val="solid"/>
            <a:tailEnd type="triangle"/>
          </a:ln>
        </p:spPr>
      </p:sp>
      <p:sp>
        <p:nvSpPr>
          <p:cNvPr id="29" name="Text 27"/>
          <p:cNvSpPr txBox="1"/>
          <p:nvPr/>
        </p:nvSpPr>
        <p:spPr>
          <a:xfrm>
            <a:off x="6903720" y="4114800"/>
            <a:ext cx="2286000" cy="27432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call the APIs</a:t>
            </a:r>
            <a:endParaRPr lang="en-US" sz="1200" dirty="0"/>
          </a:p>
        </p:txBody>
      </p:sp>
      <p:sp>
        <p:nvSpPr>
          <p:cNvPr id="30" name="Text 28"/>
          <p:cNvSpPr txBox="1"/>
          <p:nvPr/>
        </p:nvSpPr>
        <p:spPr>
          <a:xfrm>
            <a:off x="8778240" y="4069080"/>
            <a:ext cx="2926080" cy="457200"/>
          </a:xfrm>
          <a:prstGeom prst="rect">
            <a:avLst/>
          </a:prstGeom>
          <a:noFill/>
          <a:ln/>
        </p:spPr>
        <p:txBody>
          <a:bodyPr wrap="square" lIns="0" tIns="0" rIns="0" bIns="0" rtlCol="0" anchor="t"/>
          <a:lstStyle/>
          <a:p>
            <a:pPr algn="l" indent="0" marL="0">
              <a:buNone/>
            </a:pPr>
            <a:r>
              <a:rPr lang="en-US" sz="1100" i="1" dirty="0">
                <a:solidFill>
                  <a:srgbClr val="5B6472"/>
                </a:solidFill>
                <a:latin typeface="Calibri" pitchFamily="34" charset="0"/>
                <a:ea typeface="Calibri" pitchFamily="34" charset="-122"/>
                <a:cs typeface="Calibri" pitchFamily="34" charset="-120"/>
              </a:rPr>
              <a:t>Sign-in lives in the Portal; both apps send signed-out users there.</a:t>
            </a:r>
            <a:endParaRPr lang="en-US" sz="1100" dirty="0"/>
          </a:p>
        </p:txBody>
      </p:sp>
      <p:sp>
        <p:nvSpPr>
          <p:cNvPr id="31" name="Text 29"/>
          <p:cNvSpPr txBox="1"/>
          <p:nvPr/>
        </p:nvSpPr>
        <p:spPr>
          <a:xfrm>
            <a:off x="457200" y="4526280"/>
            <a:ext cx="4023360" cy="1645920"/>
          </a:xfrm>
          <a:prstGeom prst="rect">
            <a:avLst/>
          </a:prstGeom>
          <a:noFill/>
          <a:ln/>
        </p:spPr>
        <p:txBody>
          <a:bodyPr wrap="square" lIns="0" tIns="0" rIns="0" bIns="0" rtlCol="0" anchor="t"/>
          <a:lstStyle/>
          <a:p>
            <a:pPr indent="0" marL="0">
              <a:spcAft>
                <a:spcPts val="600"/>
              </a:spcAft>
              <a:buNone/>
            </a:pPr>
            <a:r>
              <a:rPr lang="en-US" sz="1600" b="1" dirty="0">
                <a:solidFill>
                  <a:srgbClr val="1F3A5F"/>
                </a:solidFill>
                <a:latin typeface="Calibri" pitchFamily="34" charset="0"/>
                <a:ea typeface="Calibri" pitchFamily="34" charset="-122"/>
                <a:cs typeface="Calibri" pitchFamily="34" charset="-120"/>
              </a:rPr>
              <a:t>What this gives you</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code repository with a folder per product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Servers on Railway, screens on Vercel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shared login (Auth Service) checked by both products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algn="l" indent="0" marL="0">
              <a:buNone/>
            </a:pPr>
            <a:r>
              <a:rPr lang="en-US" sz="3200" b="1" dirty="0">
                <a:solidFill>
                  <a:srgbClr val="1F3A5F"/>
                </a:solidFill>
                <a:latin typeface="Calibri" pitchFamily="34" charset="0"/>
                <a:ea typeface="Calibri" pitchFamily="34" charset="-122"/>
                <a:cs typeface="Calibri" pitchFamily="34" charset="-120"/>
              </a:rPr>
              <a:t>Who can see what</a:t>
            </a:r>
            <a:endParaRPr lang="en-US" sz="3200" dirty="0"/>
          </a:p>
        </p:txBody>
      </p:sp>
      <p:sp>
        <p:nvSpPr>
          <p:cNvPr id="3" name="Shape 1"/>
          <p:cNvSpPr/>
          <p:nvPr/>
        </p:nvSpPr>
        <p:spPr>
          <a:xfrm>
            <a:off x="9052560" y="457200"/>
            <a:ext cx="548640" cy="0"/>
          </a:xfrm>
          <a:prstGeom prst="line">
            <a:avLst/>
          </a:prstGeom>
          <a:noFill/>
          <a:ln w="25400">
            <a:solidFill>
              <a:srgbClr val="1F2937"/>
            </a:solidFill>
            <a:prstDash val="solid"/>
          </a:ln>
        </p:spPr>
      </p:sp>
      <p:sp>
        <p:nvSpPr>
          <p:cNvPr id="4" name="Text 2"/>
          <p:cNvSpPr txBox="1"/>
          <p:nvPr/>
        </p:nvSpPr>
        <p:spPr>
          <a:xfrm>
            <a:off x="9738360" y="347472"/>
            <a:ext cx="2103120" cy="237744"/>
          </a:xfrm>
          <a:prstGeom prst="rect">
            <a:avLst/>
          </a:prstGeom>
          <a:noFill/>
          <a:ln/>
        </p:spPr>
        <p:txBody>
          <a:bodyPr wrap="square" lIns="0" tIns="0" rIns="0" bIns="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manages accounts</a:t>
            </a:r>
            <a:endParaRPr lang="en-US" sz="1200" dirty="0"/>
          </a:p>
        </p:txBody>
      </p:sp>
      <p:sp>
        <p:nvSpPr>
          <p:cNvPr id="5" name="Shape 3"/>
          <p:cNvSpPr/>
          <p:nvPr/>
        </p:nvSpPr>
        <p:spPr>
          <a:xfrm>
            <a:off x="9052560" y="731520"/>
            <a:ext cx="548640" cy="0"/>
          </a:xfrm>
          <a:prstGeom prst="line">
            <a:avLst/>
          </a:prstGeom>
          <a:noFill/>
          <a:ln w="25400">
            <a:solidFill>
              <a:srgbClr val="1F2937"/>
            </a:solidFill>
            <a:prstDash val="dash"/>
          </a:ln>
        </p:spPr>
      </p:sp>
      <p:sp>
        <p:nvSpPr>
          <p:cNvPr id="6" name="Text 4"/>
          <p:cNvSpPr txBox="1"/>
          <p:nvPr/>
        </p:nvSpPr>
        <p:spPr>
          <a:xfrm>
            <a:off x="9738360" y="621792"/>
            <a:ext cx="2103120" cy="237744"/>
          </a:xfrm>
          <a:prstGeom prst="rect">
            <a:avLst/>
          </a:prstGeom>
          <a:noFill/>
          <a:ln/>
        </p:spPr>
        <p:txBody>
          <a:bodyPr wrap="square" lIns="0" tIns="0" rIns="0" bIns="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can see patient data</a:t>
            </a:r>
            <a:endParaRPr lang="en-US" sz="1200" dirty="0"/>
          </a:p>
        </p:txBody>
      </p:sp>
      <p:sp>
        <p:nvSpPr>
          <p:cNvPr id="7" name="Shape 5"/>
          <p:cNvSpPr/>
          <p:nvPr/>
        </p:nvSpPr>
        <p:spPr>
          <a:xfrm>
            <a:off x="9052560" y="1005840"/>
            <a:ext cx="548640" cy="0"/>
          </a:xfrm>
          <a:prstGeom prst="line">
            <a:avLst/>
          </a:prstGeom>
          <a:noFill/>
          <a:ln w="25400">
            <a:solidFill>
              <a:srgbClr val="1F2937"/>
            </a:solidFill>
            <a:prstDash val="sysDot"/>
          </a:ln>
        </p:spPr>
      </p:sp>
      <p:sp>
        <p:nvSpPr>
          <p:cNvPr id="8" name="Text 6"/>
          <p:cNvSpPr txBox="1"/>
          <p:nvPr/>
        </p:nvSpPr>
        <p:spPr>
          <a:xfrm>
            <a:off x="9738360" y="896112"/>
            <a:ext cx="2103120" cy="237744"/>
          </a:xfrm>
          <a:prstGeom prst="rect">
            <a:avLst/>
          </a:prstGeom>
          <a:noFill/>
          <a:ln/>
        </p:spPr>
        <p:txBody>
          <a:bodyPr wrap="square" lIns="0" tIns="0" rIns="0" bIns="0" rtlCol="0" anchor="ctr"/>
          <a:lstStyle/>
          <a:p>
            <a:pPr algn="l" indent="0" marL="0">
              <a:buNone/>
            </a:pPr>
            <a:r>
              <a:rPr lang="en-US" sz="1200" dirty="0">
                <a:solidFill>
                  <a:srgbClr val="1F2937"/>
                </a:solidFill>
                <a:latin typeface="Calibri" pitchFamily="34" charset="0"/>
                <a:ea typeface="Calibri" pitchFamily="34" charset="-122"/>
                <a:cs typeface="Calibri" pitchFamily="34" charset="-120"/>
              </a:rPr>
              <a:t>assigns care</a:t>
            </a:r>
            <a:endParaRPr lang="en-US" sz="1200" dirty="0"/>
          </a:p>
        </p:txBody>
      </p:sp>
      <p:sp>
        <p:nvSpPr>
          <p:cNvPr id="9" name="Text 7"/>
          <p:cNvSpPr txBox="1"/>
          <p:nvPr/>
        </p:nvSpPr>
        <p:spPr>
          <a:xfrm>
            <a:off x="3749040" y="960120"/>
            <a:ext cx="2194560" cy="594360"/>
          </a:xfrm>
          <a:prstGeom prst="roundRect">
            <a:avLst>
              <a:gd name="adj" fmla="val 18462"/>
            </a:avLst>
          </a:prstGeom>
          <a:solidFill>
            <a:srgbClr val="2E5A88"/>
          </a:solidFill>
          <a:ln w="19050">
            <a:solidFill>
              <a:srgbClr val="1F2937"/>
            </a:solidFill>
            <a:prstDash val="solid"/>
          </a:ln>
        </p:spPr>
        <p:txBody>
          <a:bodyPr wrap="square" lIns="762" tIns="762" rIns="762" bIns="762"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Super Admin</a:t>
            </a:r>
            <a:endParaRPr lang="en-US" sz="1700" dirty="0"/>
          </a:p>
        </p:txBody>
      </p:sp>
      <p:sp>
        <p:nvSpPr>
          <p:cNvPr id="10" name="Shape 8"/>
          <p:cNvSpPr/>
          <p:nvPr/>
        </p:nvSpPr>
        <p:spPr>
          <a:xfrm>
            <a:off x="457200" y="1874520"/>
            <a:ext cx="8595360" cy="3383280"/>
          </a:xfrm>
          <a:prstGeom prst="roundRect">
            <a:avLst>
              <a:gd name="adj" fmla="val 4054"/>
            </a:avLst>
          </a:prstGeom>
          <a:solidFill>
            <a:srgbClr val="F8F9FA"/>
          </a:solidFill>
          <a:ln w="19050">
            <a:solidFill>
              <a:srgbClr val="9CA3AF"/>
            </a:solidFill>
            <a:prstDash val="dash"/>
          </a:ln>
        </p:spPr>
      </p:sp>
      <p:sp>
        <p:nvSpPr>
          <p:cNvPr id="11" name="Text 9"/>
          <p:cNvSpPr txBox="1"/>
          <p:nvPr/>
        </p:nvSpPr>
        <p:spPr>
          <a:xfrm>
            <a:off x="594360" y="1929384"/>
            <a:ext cx="8321040" cy="32004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One hospital - data never crosses this line</a:t>
            </a:r>
            <a:endParaRPr lang="en-US" sz="1300" dirty="0"/>
          </a:p>
        </p:txBody>
      </p:sp>
      <p:sp>
        <p:nvSpPr>
          <p:cNvPr id="12" name="Shape 10"/>
          <p:cNvSpPr/>
          <p:nvPr/>
        </p:nvSpPr>
        <p:spPr>
          <a:xfrm>
            <a:off x="4846320" y="1554480"/>
            <a:ext cx="0" cy="320040"/>
          </a:xfrm>
          <a:prstGeom prst="line">
            <a:avLst/>
          </a:prstGeom>
          <a:noFill/>
          <a:ln w="25400">
            <a:solidFill>
              <a:srgbClr val="1F2937"/>
            </a:solidFill>
            <a:prstDash val="solid"/>
            <a:tailEnd type="triangle"/>
          </a:ln>
        </p:spPr>
      </p:sp>
      <p:sp>
        <p:nvSpPr>
          <p:cNvPr id="13" name="Text 11"/>
          <p:cNvSpPr txBox="1"/>
          <p:nvPr/>
        </p:nvSpPr>
        <p:spPr>
          <a:xfrm>
            <a:off x="4937760" y="1600200"/>
            <a:ext cx="2011680" cy="256032"/>
          </a:xfrm>
          <a:prstGeom prst="rect">
            <a:avLst/>
          </a:prstGeom>
          <a:noFill/>
          <a:ln/>
        </p:spPr>
        <p:txBody>
          <a:bodyPr wrap="square" lIns="0" tIns="0" rIns="0" bIns="0" rtlCol="0" anchor="t"/>
          <a:lstStyle/>
          <a:p>
            <a:pPr algn="l" indent="0" marL="0">
              <a:buNone/>
            </a:pPr>
            <a:r>
              <a:rPr lang="en-US" sz="1100" dirty="0">
                <a:solidFill>
                  <a:srgbClr val="5B6472"/>
                </a:solidFill>
                <a:latin typeface="Calibri" pitchFamily="34" charset="0"/>
                <a:ea typeface="Calibri" pitchFamily="34" charset="-122"/>
                <a:cs typeface="Calibri" pitchFamily="34" charset="-120"/>
              </a:rPr>
              <a:t>creates and approves</a:t>
            </a:r>
            <a:endParaRPr lang="en-US" sz="1100" dirty="0"/>
          </a:p>
        </p:txBody>
      </p:sp>
      <p:sp>
        <p:nvSpPr>
          <p:cNvPr id="14" name="Text 12"/>
          <p:cNvSpPr txBox="1"/>
          <p:nvPr/>
        </p:nvSpPr>
        <p:spPr>
          <a:xfrm>
            <a:off x="3749040" y="2286000"/>
            <a:ext cx="2194560" cy="685800"/>
          </a:xfrm>
          <a:prstGeom prst="roundRect">
            <a:avLst>
              <a:gd name="adj" fmla="val 16000"/>
            </a:avLst>
          </a:prstGeom>
          <a:solidFill>
            <a:srgbClr val="A5D8FF"/>
          </a:solidFill>
          <a:ln w="19050">
            <a:solidFill>
              <a:srgbClr val="1F2937"/>
            </a:solidFill>
            <a:prstDash val="solid"/>
          </a:ln>
        </p:spPr>
        <p:txBody>
          <a:bodyPr wrap="square" lIns="762" tIns="762" rIns="762" bIns="762" rtlCol="0" anchor="ctr"/>
          <a:lstStyle/>
          <a:p>
            <a:pPr algn="ctr" indent="0" marL="0">
              <a:buNone/>
            </a:pPr>
            <a:r>
              <a:rPr lang="en-US" sz="1700" b="1" dirty="0">
                <a:solidFill>
                  <a:srgbClr val="1F2937"/>
                </a:solidFill>
                <a:latin typeface="Calibri" pitchFamily="34" charset="0"/>
                <a:ea typeface="Calibri" pitchFamily="34" charset="-122"/>
                <a:cs typeface="Calibri" pitchFamily="34" charset="-120"/>
              </a:rPr>
              <a:t>Hospital Admin</a:t>
            </a:r>
            <a:endParaRPr lang="en-US" sz="1700" dirty="0"/>
          </a:p>
        </p:txBody>
      </p:sp>
      <p:sp>
        <p:nvSpPr>
          <p:cNvPr id="15" name="Text 13"/>
          <p:cNvSpPr txBox="1"/>
          <p:nvPr/>
        </p:nvSpPr>
        <p:spPr>
          <a:xfrm>
            <a:off x="822960" y="3337560"/>
            <a:ext cx="1737360" cy="868680"/>
          </a:xfrm>
          <a:prstGeom prst="roundRect">
            <a:avLst>
              <a:gd name="adj" fmla="val 12632"/>
            </a:avLst>
          </a:prstGeom>
          <a:solidFill>
            <a:srgbClr val="B2F2BB"/>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Doctors</a:t>
            </a:r>
            <a:endParaRPr lang="en-US" sz="1500" dirty="0"/>
          </a:p>
          <a:p>
            <a:pPr algn="ctr" indent="0" marL="0">
              <a:buNone/>
            </a:pPr>
            <a:r>
              <a:rPr lang="en-US" sz="1100" dirty="0">
                <a:solidFill>
                  <a:srgbClr val="1F2937"/>
                </a:solidFill>
                <a:latin typeface="Calibri" pitchFamily="34" charset="0"/>
                <a:ea typeface="Calibri" pitchFamily="34" charset="-122"/>
                <a:cs typeface="Calibri" pitchFamily="34" charset="-120"/>
              </a:rPr>
              <a:t>treat assigned patients only</a:t>
            </a:r>
            <a:endParaRPr lang="en-US" sz="1500" dirty="0"/>
          </a:p>
        </p:txBody>
      </p:sp>
      <p:sp>
        <p:nvSpPr>
          <p:cNvPr id="16" name="Shape 14"/>
          <p:cNvSpPr/>
          <p:nvPr/>
        </p:nvSpPr>
        <p:spPr>
          <a:xfrm>
            <a:off x="4846320" y="2971800"/>
            <a:ext cx="0" cy="182880"/>
          </a:xfrm>
          <a:prstGeom prst="line">
            <a:avLst/>
          </a:prstGeom>
          <a:noFill/>
          <a:ln w="19050">
            <a:solidFill>
              <a:srgbClr val="1F2937"/>
            </a:solidFill>
            <a:prstDash val="solid"/>
          </a:ln>
        </p:spPr>
      </p:sp>
      <p:sp>
        <p:nvSpPr>
          <p:cNvPr id="17" name="Shape 15"/>
          <p:cNvSpPr/>
          <p:nvPr/>
        </p:nvSpPr>
        <p:spPr>
          <a:xfrm flipH="1">
            <a:off x="1691640" y="3154680"/>
            <a:ext cx="3154680" cy="0"/>
          </a:xfrm>
          <a:prstGeom prst="line">
            <a:avLst/>
          </a:prstGeom>
          <a:noFill/>
          <a:ln w="19050">
            <a:solidFill>
              <a:srgbClr val="1F2937"/>
            </a:solidFill>
            <a:prstDash val="solid"/>
          </a:ln>
        </p:spPr>
      </p:sp>
      <p:sp>
        <p:nvSpPr>
          <p:cNvPr id="18" name="Shape 16"/>
          <p:cNvSpPr/>
          <p:nvPr/>
        </p:nvSpPr>
        <p:spPr>
          <a:xfrm>
            <a:off x="1691640" y="3154680"/>
            <a:ext cx="0" cy="182880"/>
          </a:xfrm>
          <a:prstGeom prst="line">
            <a:avLst/>
          </a:prstGeom>
          <a:noFill/>
          <a:ln w="19050">
            <a:solidFill>
              <a:srgbClr val="1F2937"/>
            </a:solidFill>
            <a:prstDash val="solid"/>
            <a:tailEnd type="triangle"/>
          </a:ln>
        </p:spPr>
      </p:sp>
      <p:sp>
        <p:nvSpPr>
          <p:cNvPr id="19" name="Text 17"/>
          <p:cNvSpPr txBox="1"/>
          <p:nvPr/>
        </p:nvSpPr>
        <p:spPr>
          <a:xfrm>
            <a:off x="2926080" y="3337560"/>
            <a:ext cx="1737360" cy="868680"/>
          </a:xfrm>
          <a:prstGeom prst="roundRect">
            <a:avLst>
              <a:gd name="adj" fmla="val 12632"/>
            </a:avLst>
          </a:prstGeom>
          <a:solidFill>
            <a:srgbClr val="B2F2BB"/>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Nurses</a:t>
            </a:r>
            <a:endParaRPr lang="en-US" sz="1500" dirty="0"/>
          </a:p>
          <a:p>
            <a:pPr algn="ctr" indent="0" marL="0">
              <a:buNone/>
            </a:pPr>
            <a:r>
              <a:rPr lang="en-US" sz="1100" dirty="0">
                <a:solidFill>
                  <a:srgbClr val="1F2937"/>
                </a:solidFill>
                <a:latin typeface="Calibri" pitchFamily="34" charset="0"/>
                <a:ea typeface="Calibri" pitchFamily="34" charset="-122"/>
                <a:cs typeface="Calibri" pitchFamily="34" charset="-120"/>
              </a:rPr>
              <a:t>follow up assigned patients only</a:t>
            </a:r>
            <a:endParaRPr lang="en-US" sz="1500" dirty="0"/>
          </a:p>
        </p:txBody>
      </p:sp>
      <p:sp>
        <p:nvSpPr>
          <p:cNvPr id="20" name="Shape 18"/>
          <p:cNvSpPr/>
          <p:nvPr/>
        </p:nvSpPr>
        <p:spPr>
          <a:xfrm>
            <a:off x="4846320" y="2971800"/>
            <a:ext cx="0" cy="182880"/>
          </a:xfrm>
          <a:prstGeom prst="line">
            <a:avLst/>
          </a:prstGeom>
          <a:noFill/>
          <a:ln w="19050">
            <a:solidFill>
              <a:srgbClr val="1F2937"/>
            </a:solidFill>
            <a:prstDash val="solid"/>
          </a:ln>
        </p:spPr>
      </p:sp>
      <p:sp>
        <p:nvSpPr>
          <p:cNvPr id="21" name="Shape 19"/>
          <p:cNvSpPr/>
          <p:nvPr/>
        </p:nvSpPr>
        <p:spPr>
          <a:xfrm flipH="1">
            <a:off x="3794760" y="3154680"/>
            <a:ext cx="1051560" cy="0"/>
          </a:xfrm>
          <a:prstGeom prst="line">
            <a:avLst/>
          </a:prstGeom>
          <a:noFill/>
          <a:ln w="19050">
            <a:solidFill>
              <a:srgbClr val="1F2937"/>
            </a:solidFill>
            <a:prstDash val="solid"/>
          </a:ln>
        </p:spPr>
      </p:sp>
      <p:sp>
        <p:nvSpPr>
          <p:cNvPr id="22" name="Shape 20"/>
          <p:cNvSpPr/>
          <p:nvPr/>
        </p:nvSpPr>
        <p:spPr>
          <a:xfrm>
            <a:off x="3794760" y="3154680"/>
            <a:ext cx="0" cy="182880"/>
          </a:xfrm>
          <a:prstGeom prst="line">
            <a:avLst/>
          </a:prstGeom>
          <a:noFill/>
          <a:ln w="19050">
            <a:solidFill>
              <a:srgbClr val="1F2937"/>
            </a:solidFill>
            <a:prstDash val="solid"/>
            <a:tailEnd type="triangle"/>
          </a:ln>
        </p:spPr>
      </p:sp>
      <p:sp>
        <p:nvSpPr>
          <p:cNvPr id="23" name="Text 21"/>
          <p:cNvSpPr txBox="1"/>
          <p:nvPr/>
        </p:nvSpPr>
        <p:spPr>
          <a:xfrm>
            <a:off x="5029200" y="3337560"/>
            <a:ext cx="1737360" cy="868680"/>
          </a:xfrm>
          <a:prstGeom prst="roundRect">
            <a:avLst>
              <a:gd name="adj" fmla="val 12632"/>
            </a:avLst>
          </a:prstGeom>
          <a:solidFill>
            <a:srgbClr val="B2F2BB"/>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Case Managers</a:t>
            </a:r>
            <a:endParaRPr lang="en-US" sz="1500" dirty="0"/>
          </a:p>
          <a:p>
            <a:pPr algn="ctr" indent="0" marL="0">
              <a:buNone/>
            </a:pPr>
            <a:r>
              <a:rPr lang="en-US" sz="1100" dirty="0">
                <a:solidFill>
                  <a:srgbClr val="1F2937"/>
                </a:solidFill>
                <a:latin typeface="Calibri" pitchFamily="34" charset="0"/>
                <a:ea typeface="Calibri" pitchFamily="34" charset="-122"/>
                <a:cs typeface="Calibri" pitchFamily="34" charset="-120"/>
              </a:rPr>
              <a:t>see all hospital patients, coordinate care</a:t>
            </a:r>
            <a:endParaRPr lang="en-US" sz="1500" dirty="0"/>
          </a:p>
        </p:txBody>
      </p:sp>
      <p:sp>
        <p:nvSpPr>
          <p:cNvPr id="24" name="Shape 22"/>
          <p:cNvSpPr/>
          <p:nvPr/>
        </p:nvSpPr>
        <p:spPr>
          <a:xfrm>
            <a:off x="4846320" y="2971800"/>
            <a:ext cx="0" cy="182880"/>
          </a:xfrm>
          <a:prstGeom prst="line">
            <a:avLst/>
          </a:prstGeom>
          <a:noFill/>
          <a:ln w="19050">
            <a:solidFill>
              <a:srgbClr val="1F2937"/>
            </a:solidFill>
            <a:prstDash val="solid"/>
          </a:ln>
        </p:spPr>
      </p:sp>
      <p:sp>
        <p:nvSpPr>
          <p:cNvPr id="25" name="Shape 23"/>
          <p:cNvSpPr/>
          <p:nvPr/>
        </p:nvSpPr>
        <p:spPr>
          <a:xfrm>
            <a:off x="4846320" y="3154680"/>
            <a:ext cx="1051560" cy="0"/>
          </a:xfrm>
          <a:prstGeom prst="line">
            <a:avLst/>
          </a:prstGeom>
          <a:noFill/>
          <a:ln w="19050">
            <a:solidFill>
              <a:srgbClr val="1F2937"/>
            </a:solidFill>
            <a:prstDash val="solid"/>
          </a:ln>
        </p:spPr>
      </p:sp>
      <p:sp>
        <p:nvSpPr>
          <p:cNvPr id="26" name="Shape 24"/>
          <p:cNvSpPr/>
          <p:nvPr/>
        </p:nvSpPr>
        <p:spPr>
          <a:xfrm>
            <a:off x="5897880" y="3154680"/>
            <a:ext cx="0" cy="182880"/>
          </a:xfrm>
          <a:prstGeom prst="line">
            <a:avLst/>
          </a:prstGeom>
          <a:noFill/>
          <a:ln w="19050">
            <a:solidFill>
              <a:srgbClr val="1F2937"/>
            </a:solidFill>
            <a:prstDash val="solid"/>
            <a:tailEnd type="triangle"/>
          </a:ln>
        </p:spPr>
      </p:sp>
      <p:sp>
        <p:nvSpPr>
          <p:cNvPr id="27" name="Text 25"/>
          <p:cNvSpPr txBox="1"/>
          <p:nvPr/>
        </p:nvSpPr>
        <p:spPr>
          <a:xfrm>
            <a:off x="914400" y="2926080"/>
            <a:ext cx="1097280" cy="228600"/>
          </a:xfrm>
          <a:prstGeom prst="rect">
            <a:avLst/>
          </a:prstGeom>
          <a:noFill/>
          <a:ln/>
        </p:spPr>
        <p:txBody>
          <a:bodyPr wrap="square" lIns="0" tIns="0" rIns="0" bIns="0" rtlCol="0" anchor="t"/>
          <a:lstStyle/>
          <a:p>
            <a:pPr algn="l" indent="0" marL="0">
              <a:buNone/>
            </a:pPr>
            <a:r>
              <a:rPr lang="en-US" sz="1100" dirty="0">
                <a:solidFill>
                  <a:srgbClr val="5B6472"/>
                </a:solidFill>
                <a:latin typeface="Calibri" pitchFamily="34" charset="0"/>
                <a:ea typeface="Calibri" pitchFamily="34" charset="-122"/>
                <a:cs typeface="Calibri" pitchFamily="34" charset="-120"/>
              </a:rPr>
              <a:t>approves</a:t>
            </a:r>
            <a:endParaRPr lang="en-US" sz="1100" dirty="0"/>
          </a:p>
        </p:txBody>
      </p:sp>
      <p:sp>
        <p:nvSpPr>
          <p:cNvPr id="28" name="Shape 26"/>
          <p:cNvSpPr/>
          <p:nvPr/>
        </p:nvSpPr>
        <p:spPr>
          <a:xfrm flipH="1">
            <a:off x="4663440" y="3767328"/>
            <a:ext cx="365760" cy="0"/>
          </a:xfrm>
          <a:prstGeom prst="line">
            <a:avLst/>
          </a:prstGeom>
          <a:noFill/>
          <a:ln w="19050">
            <a:solidFill>
              <a:srgbClr val="1F2937"/>
            </a:solidFill>
            <a:prstDash val="sysDot"/>
            <a:tailEnd type="triangle"/>
          </a:ln>
        </p:spPr>
      </p:sp>
      <p:sp>
        <p:nvSpPr>
          <p:cNvPr id="29" name="Text 27"/>
          <p:cNvSpPr txBox="1"/>
          <p:nvPr/>
        </p:nvSpPr>
        <p:spPr>
          <a:xfrm>
            <a:off x="3291840" y="4572000"/>
            <a:ext cx="2743200" cy="566928"/>
          </a:xfrm>
          <a:prstGeom prst="roundRect">
            <a:avLst>
              <a:gd name="adj" fmla="val 19355"/>
            </a:avLst>
          </a:prstGeom>
          <a:solidFill>
            <a:srgbClr val="E9ECEF"/>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Patients</a:t>
            </a:r>
            <a:endParaRPr lang="en-US" sz="1500" dirty="0"/>
          </a:p>
          <a:p>
            <a:pPr algn="ctr" indent="0" marL="0">
              <a:buNone/>
            </a:pPr>
            <a:r>
              <a:rPr lang="en-US" sz="1100" dirty="0">
                <a:solidFill>
                  <a:srgbClr val="1F2937"/>
                </a:solidFill>
                <a:latin typeface="Calibri" pitchFamily="34" charset="0"/>
                <a:ea typeface="Calibri" pitchFamily="34" charset="-122"/>
                <a:cs typeface="Calibri" pitchFamily="34" charset="-120"/>
              </a:rPr>
              <a:t>see only their own record</a:t>
            </a:r>
            <a:endParaRPr lang="en-US" sz="1500" dirty="0"/>
          </a:p>
        </p:txBody>
      </p:sp>
      <p:sp>
        <p:nvSpPr>
          <p:cNvPr id="30" name="Shape 28"/>
          <p:cNvSpPr/>
          <p:nvPr/>
        </p:nvSpPr>
        <p:spPr>
          <a:xfrm>
            <a:off x="1691640" y="4206240"/>
            <a:ext cx="2148840" cy="365760"/>
          </a:xfrm>
          <a:prstGeom prst="line">
            <a:avLst/>
          </a:prstGeom>
          <a:noFill/>
          <a:ln w="19050">
            <a:solidFill>
              <a:srgbClr val="1F2937"/>
            </a:solidFill>
            <a:prstDash val="dash"/>
            <a:tailEnd type="triangle"/>
          </a:ln>
        </p:spPr>
      </p:sp>
      <p:sp>
        <p:nvSpPr>
          <p:cNvPr id="31" name="Shape 29"/>
          <p:cNvSpPr/>
          <p:nvPr/>
        </p:nvSpPr>
        <p:spPr>
          <a:xfrm>
            <a:off x="3794760" y="4206240"/>
            <a:ext cx="868680" cy="365760"/>
          </a:xfrm>
          <a:prstGeom prst="line">
            <a:avLst/>
          </a:prstGeom>
          <a:noFill/>
          <a:ln w="19050">
            <a:solidFill>
              <a:srgbClr val="1F2937"/>
            </a:solidFill>
            <a:prstDash val="dash"/>
            <a:tailEnd type="triangle"/>
          </a:ln>
        </p:spPr>
      </p:sp>
      <p:sp>
        <p:nvSpPr>
          <p:cNvPr id="32" name="Shape 30"/>
          <p:cNvSpPr/>
          <p:nvPr/>
        </p:nvSpPr>
        <p:spPr>
          <a:xfrm flipH="1">
            <a:off x="5486400" y="4206240"/>
            <a:ext cx="411480" cy="365760"/>
          </a:xfrm>
          <a:prstGeom prst="line">
            <a:avLst/>
          </a:prstGeom>
          <a:noFill/>
          <a:ln w="19050">
            <a:solidFill>
              <a:srgbClr val="1F2937"/>
            </a:solidFill>
            <a:prstDash val="dash"/>
            <a:tailEnd type="triangle"/>
          </a:ln>
        </p:spPr>
      </p:sp>
      <p:sp>
        <p:nvSpPr>
          <p:cNvPr id="33" name="Shape 31"/>
          <p:cNvSpPr/>
          <p:nvPr/>
        </p:nvSpPr>
        <p:spPr>
          <a:xfrm>
            <a:off x="5943600" y="2624328"/>
            <a:ext cx="1280160" cy="0"/>
          </a:xfrm>
          <a:prstGeom prst="line">
            <a:avLst/>
          </a:prstGeom>
          <a:noFill/>
          <a:ln w="19050">
            <a:solidFill>
              <a:srgbClr val="1F2937"/>
            </a:solidFill>
            <a:prstDash val="solid"/>
          </a:ln>
        </p:spPr>
      </p:sp>
      <p:sp>
        <p:nvSpPr>
          <p:cNvPr id="34" name="Shape 32"/>
          <p:cNvSpPr/>
          <p:nvPr/>
        </p:nvSpPr>
        <p:spPr>
          <a:xfrm>
            <a:off x="7223760" y="2624328"/>
            <a:ext cx="0" cy="2084832"/>
          </a:xfrm>
          <a:prstGeom prst="line">
            <a:avLst/>
          </a:prstGeom>
          <a:noFill/>
          <a:ln w="19050">
            <a:solidFill>
              <a:srgbClr val="1F2937"/>
            </a:solidFill>
            <a:prstDash val="solid"/>
          </a:ln>
        </p:spPr>
      </p:sp>
      <p:sp>
        <p:nvSpPr>
          <p:cNvPr id="35" name="Shape 33"/>
          <p:cNvSpPr/>
          <p:nvPr/>
        </p:nvSpPr>
        <p:spPr>
          <a:xfrm flipH="1">
            <a:off x="6035040" y="4709160"/>
            <a:ext cx="1188720" cy="0"/>
          </a:xfrm>
          <a:prstGeom prst="line">
            <a:avLst/>
          </a:prstGeom>
          <a:noFill/>
          <a:ln w="19050">
            <a:solidFill>
              <a:srgbClr val="1F2937"/>
            </a:solidFill>
            <a:prstDash val="solid"/>
            <a:tailEnd type="triangle"/>
          </a:ln>
        </p:spPr>
      </p:sp>
      <p:sp>
        <p:nvSpPr>
          <p:cNvPr id="36" name="Text 34"/>
          <p:cNvSpPr txBox="1"/>
          <p:nvPr/>
        </p:nvSpPr>
        <p:spPr>
          <a:xfrm>
            <a:off x="7360920" y="3200400"/>
            <a:ext cx="1600200" cy="1371600"/>
          </a:xfrm>
          <a:prstGeom prst="rect">
            <a:avLst/>
          </a:prstGeom>
          <a:noFill/>
          <a:ln/>
        </p:spPr>
        <p:txBody>
          <a:bodyPr wrap="square" lIns="0" tIns="0" rIns="0" bIns="0" rtlCol="0" anchor="t"/>
          <a:lstStyle/>
          <a:p>
            <a:pPr algn="l" indent="0" marL="0">
              <a:buNone/>
            </a:pPr>
            <a:r>
              <a:rPr lang="en-US" sz="1100" dirty="0">
                <a:solidFill>
                  <a:srgbClr val="5B6472"/>
                </a:solidFill>
                <a:latin typeface="Calibri" pitchFamily="34" charset="0"/>
                <a:ea typeface="Calibri" pitchFamily="34" charset="-122"/>
                <a:cs typeface="Calibri" pitchFamily="34" charset="-120"/>
              </a:rPr>
              <a:t>Sees the overview of all patients. Clinical details need a reason, which is logged.</a:t>
            </a:r>
            <a:endParaRPr lang="en-US" sz="1100" dirty="0"/>
          </a:p>
        </p:txBody>
      </p:sp>
      <p:sp>
        <p:nvSpPr>
          <p:cNvPr id="37" name="Text 35"/>
          <p:cNvSpPr txBox="1"/>
          <p:nvPr/>
        </p:nvSpPr>
        <p:spPr>
          <a:xfrm>
            <a:off x="9692640" y="3246120"/>
            <a:ext cx="2011680" cy="914400"/>
          </a:xfrm>
          <a:prstGeom prst="roundRect">
            <a:avLst>
              <a:gd name="adj" fmla="val 12000"/>
            </a:avLst>
          </a:prstGeom>
          <a:solidFill>
            <a:srgbClr val="FFD8A8"/>
          </a:solidFill>
          <a:ln w="19050">
            <a:solidFill>
              <a:srgbClr val="1F2937"/>
            </a:solidFill>
            <a:prstDash val="solid"/>
          </a:ln>
        </p:spPr>
        <p:txBody>
          <a:bodyPr wrap="square" lIns="762" tIns="762" rIns="762" bIns="762"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Insurers</a:t>
            </a:r>
            <a:endParaRPr lang="en-US" sz="1600" dirty="0"/>
          </a:p>
          <a:p>
            <a:pPr algn="ctr" indent="0" marL="0">
              <a:buNone/>
            </a:pPr>
            <a:r>
              <a:rPr lang="en-US" sz="1100" dirty="0">
                <a:solidFill>
                  <a:srgbClr val="1F2937"/>
                </a:solidFill>
                <a:latin typeface="Calibri" pitchFamily="34" charset="0"/>
                <a:ea typeface="Calibri" pitchFamily="34" charset="-122"/>
                <a:cs typeface="Calibri" pitchFamily="34" charset="-120"/>
              </a:rPr>
              <a:t>see their own members only</a:t>
            </a:r>
            <a:endParaRPr lang="en-US" sz="1600" dirty="0"/>
          </a:p>
        </p:txBody>
      </p:sp>
      <p:sp>
        <p:nvSpPr>
          <p:cNvPr id="38" name="Shape 36"/>
          <p:cNvSpPr/>
          <p:nvPr/>
        </p:nvSpPr>
        <p:spPr>
          <a:xfrm>
            <a:off x="5943600" y="1261872"/>
            <a:ext cx="4754880" cy="0"/>
          </a:xfrm>
          <a:prstGeom prst="line">
            <a:avLst/>
          </a:prstGeom>
          <a:noFill/>
          <a:ln w="19050">
            <a:solidFill>
              <a:srgbClr val="1F2937"/>
            </a:solidFill>
            <a:prstDash val="solid"/>
          </a:ln>
        </p:spPr>
      </p:sp>
      <p:sp>
        <p:nvSpPr>
          <p:cNvPr id="39" name="Shape 37"/>
          <p:cNvSpPr/>
          <p:nvPr/>
        </p:nvSpPr>
        <p:spPr>
          <a:xfrm>
            <a:off x="10698480" y="1261872"/>
            <a:ext cx="0" cy="1984248"/>
          </a:xfrm>
          <a:prstGeom prst="line">
            <a:avLst/>
          </a:prstGeom>
          <a:noFill/>
          <a:ln w="19050">
            <a:solidFill>
              <a:srgbClr val="1F2937"/>
            </a:solidFill>
            <a:prstDash val="solid"/>
            <a:tailEnd type="triangle"/>
          </a:ln>
        </p:spPr>
      </p:sp>
      <p:sp>
        <p:nvSpPr>
          <p:cNvPr id="40" name="Text 38"/>
          <p:cNvSpPr txBox="1"/>
          <p:nvPr/>
        </p:nvSpPr>
        <p:spPr>
          <a:xfrm>
            <a:off x="10789920" y="1325880"/>
            <a:ext cx="914400" cy="256032"/>
          </a:xfrm>
          <a:prstGeom prst="rect">
            <a:avLst/>
          </a:prstGeom>
          <a:noFill/>
          <a:ln/>
        </p:spPr>
        <p:txBody>
          <a:bodyPr wrap="square" lIns="0" tIns="0" rIns="0" bIns="0" rtlCol="0" anchor="t"/>
          <a:lstStyle/>
          <a:p>
            <a:pPr algn="l" indent="0" marL="0">
              <a:buNone/>
            </a:pPr>
            <a:r>
              <a:rPr lang="en-US" sz="1100" dirty="0">
                <a:solidFill>
                  <a:srgbClr val="5B6472"/>
                </a:solidFill>
                <a:latin typeface="Calibri" pitchFamily="34" charset="0"/>
                <a:ea typeface="Calibri" pitchFamily="34" charset="-122"/>
                <a:cs typeface="Calibri" pitchFamily="34" charset="-120"/>
              </a:rPr>
              <a:t>creates</a:t>
            </a:r>
            <a:endParaRPr lang="en-US" sz="1100" dirty="0"/>
          </a:p>
        </p:txBody>
      </p:sp>
      <p:sp>
        <p:nvSpPr>
          <p:cNvPr id="41" name="Shape 39"/>
          <p:cNvSpPr/>
          <p:nvPr/>
        </p:nvSpPr>
        <p:spPr>
          <a:xfrm>
            <a:off x="10698480" y="4160520"/>
            <a:ext cx="0" cy="777240"/>
          </a:xfrm>
          <a:prstGeom prst="line">
            <a:avLst/>
          </a:prstGeom>
          <a:noFill/>
          <a:ln w="19050">
            <a:solidFill>
              <a:srgbClr val="1F2937"/>
            </a:solidFill>
            <a:prstDash val="dash"/>
          </a:ln>
        </p:spPr>
      </p:sp>
      <p:sp>
        <p:nvSpPr>
          <p:cNvPr id="42" name="Shape 40"/>
          <p:cNvSpPr/>
          <p:nvPr/>
        </p:nvSpPr>
        <p:spPr>
          <a:xfrm flipH="1">
            <a:off x="6035040" y="4937760"/>
            <a:ext cx="4663440" cy="0"/>
          </a:xfrm>
          <a:prstGeom prst="line">
            <a:avLst/>
          </a:prstGeom>
          <a:noFill/>
          <a:ln w="19050">
            <a:solidFill>
              <a:srgbClr val="1F2937"/>
            </a:solidFill>
            <a:prstDash val="dash"/>
            <a:tailEnd type="triangle"/>
          </a:ln>
        </p:spPr>
      </p:sp>
      <p:sp>
        <p:nvSpPr>
          <p:cNvPr id="43" name="Shape 41"/>
          <p:cNvSpPr/>
          <p:nvPr/>
        </p:nvSpPr>
        <p:spPr>
          <a:xfrm>
            <a:off x="3566160" y="5257800"/>
            <a:ext cx="0" cy="502920"/>
          </a:xfrm>
          <a:prstGeom prst="line">
            <a:avLst/>
          </a:prstGeom>
          <a:noFill/>
          <a:ln w="25400">
            <a:solidFill>
              <a:srgbClr val="1F2937"/>
            </a:solidFill>
            <a:prstDash val="solid"/>
            <a:tailEnd type="triangle"/>
          </a:ln>
        </p:spPr>
      </p:sp>
      <p:sp>
        <p:nvSpPr>
          <p:cNvPr id="44" name="Shape 42"/>
          <p:cNvSpPr/>
          <p:nvPr/>
        </p:nvSpPr>
        <p:spPr>
          <a:xfrm>
            <a:off x="6035040" y="5257800"/>
            <a:ext cx="0" cy="502920"/>
          </a:xfrm>
          <a:prstGeom prst="line">
            <a:avLst/>
          </a:prstGeom>
          <a:noFill/>
          <a:ln w="25400">
            <a:solidFill>
              <a:srgbClr val="1F2937"/>
            </a:solidFill>
            <a:prstDash val="solid"/>
            <a:tailEnd type="triangle"/>
          </a:ln>
        </p:spPr>
      </p:sp>
      <p:sp>
        <p:nvSpPr>
          <p:cNvPr id="45" name="Text 43"/>
          <p:cNvSpPr txBox="1"/>
          <p:nvPr/>
        </p:nvSpPr>
        <p:spPr>
          <a:xfrm>
            <a:off x="2377440" y="5760720"/>
            <a:ext cx="2377440" cy="640080"/>
          </a:xfrm>
          <a:prstGeom prst="roundRect">
            <a:avLst>
              <a:gd name="adj" fmla="val 17143"/>
            </a:avLst>
          </a:prstGeom>
          <a:solidFill>
            <a:srgbClr val="A5D8FF"/>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Readmission app</a:t>
            </a:r>
            <a:endParaRPr lang="en-US" sz="1500" dirty="0"/>
          </a:p>
        </p:txBody>
      </p:sp>
      <p:sp>
        <p:nvSpPr>
          <p:cNvPr id="46" name="Text 44"/>
          <p:cNvSpPr txBox="1"/>
          <p:nvPr/>
        </p:nvSpPr>
        <p:spPr>
          <a:xfrm>
            <a:off x="4846320" y="5760720"/>
            <a:ext cx="2377440" cy="640080"/>
          </a:xfrm>
          <a:prstGeom prst="roundRect">
            <a:avLst>
              <a:gd name="adj" fmla="val 17143"/>
            </a:avLst>
          </a:prstGeom>
          <a:solidFill>
            <a:srgbClr val="B2F2BB"/>
          </a:solidFill>
          <a:ln w="19050">
            <a:solidFill>
              <a:srgbClr val="1F2937"/>
            </a:solidFill>
            <a:prstDash val="solid"/>
          </a:ln>
        </p:spPr>
        <p:txBody>
          <a:bodyPr wrap="square" lIns="762" tIns="762" rIns="762" bIns="762"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GLP1 app</a:t>
            </a:r>
            <a:endParaRPr lang="en-US" sz="1500" dirty="0"/>
          </a:p>
        </p:txBody>
      </p:sp>
      <p:sp>
        <p:nvSpPr>
          <p:cNvPr id="47" name="Text 45"/>
          <p:cNvSpPr txBox="1"/>
          <p:nvPr/>
        </p:nvSpPr>
        <p:spPr>
          <a:xfrm>
            <a:off x="7498080" y="5943600"/>
            <a:ext cx="4206240" cy="274320"/>
          </a:xfrm>
          <a:prstGeom prst="rect">
            <a:avLst/>
          </a:prstGeom>
          <a:noFill/>
          <a:ln/>
        </p:spPr>
        <p:txBody>
          <a:bodyPr wrap="square" lIns="0" tIns="0" rIns="0" bIns="0" rtlCol="0" anchor="t"/>
          <a:lstStyle/>
          <a:p>
            <a:pPr algn="l" indent="0" marL="0">
              <a:buNone/>
            </a:pPr>
            <a:r>
              <a:rPr lang="en-US" sz="1300" dirty="0">
                <a:solidFill>
                  <a:srgbClr val="1F2937"/>
                </a:solidFill>
                <a:latin typeface="Calibri" pitchFamily="34" charset="0"/>
                <a:ea typeface="Calibri" pitchFamily="34" charset="-122"/>
                <a:cs typeface="Calibri" pitchFamily="34" charset="-120"/>
              </a:rPr>
              <a:t>The same rules apply in both apps.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algn="l" indent="0" marL="0">
              <a:buNone/>
            </a:pPr>
            <a:r>
              <a:rPr lang="en-US" sz="3200" b="1" dirty="0">
                <a:solidFill>
                  <a:srgbClr val="1F3A5F"/>
                </a:solidFill>
                <a:latin typeface="Calibri" pitchFamily="34" charset="0"/>
                <a:ea typeface="Calibri" pitchFamily="34" charset="-122"/>
                <a:cs typeface="Calibri" pitchFamily="34" charset="-120"/>
              </a:rPr>
              <a:t>What's new</a:t>
            </a:r>
            <a:endParaRPr lang="en-US" sz="3200" dirty="0"/>
          </a:p>
        </p:txBody>
      </p:sp>
      <p:sp>
        <p:nvSpPr>
          <p:cNvPr id="3" name="Text 1"/>
          <p:cNvSpPr txBox="1"/>
          <p:nvPr/>
        </p:nvSpPr>
        <p:spPr>
          <a:xfrm>
            <a:off x="457200" y="841248"/>
            <a:ext cx="11247120" cy="365760"/>
          </a:xfrm>
          <a:prstGeom prst="rect">
            <a:avLst/>
          </a:prstGeom>
          <a:noFill/>
          <a:ln/>
        </p:spPr>
        <p:txBody>
          <a:bodyPr wrap="square" lIns="0" tIns="0" rIns="0" bIns="0" rtlCol="0" anchor="t"/>
          <a:lstStyle/>
          <a:p>
            <a:pPr algn="l" indent="0" marL="0">
              <a:buNone/>
            </a:pPr>
            <a:r>
              <a:rPr lang="en-US" sz="1500" dirty="0">
                <a:solidFill>
                  <a:srgbClr val="5B6472"/>
                </a:solidFill>
                <a:latin typeface="Calibri" pitchFamily="34" charset="0"/>
                <a:ea typeface="Calibri" pitchFamily="34" charset="-122"/>
                <a:cs typeface="Calibri" pitchFamily="34" charset="-120"/>
              </a:rPr>
              <a:t>One sign-in, the right access for each role, and alerts when patients get worse</a:t>
            </a:r>
            <a:endParaRPr lang="en-US" sz="1500" dirty="0"/>
          </a:p>
        </p:txBody>
      </p:sp>
      <p:sp>
        <p:nvSpPr>
          <p:cNvPr id="4" name="Shape 2"/>
          <p:cNvSpPr/>
          <p:nvPr/>
        </p:nvSpPr>
        <p:spPr>
          <a:xfrm>
            <a:off x="457200" y="1417320"/>
            <a:ext cx="5440680" cy="2377440"/>
          </a:xfrm>
          <a:prstGeom prst="roundRect">
            <a:avLst>
              <a:gd name="adj" fmla="val 4615"/>
            </a:avLst>
          </a:prstGeom>
          <a:solidFill>
            <a:srgbClr val="F8F9FA"/>
          </a:solidFill>
          <a:ln w="12700">
            <a:solidFill>
              <a:srgbClr val="D1D5DB"/>
            </a:solidFill>
            <a:prstDash val="solid"/>
          </a:ln>
        </p:spPr>
      </p:sp>
      <p:sp>
        <p:nvSpPr>
          <p:cNvPr id="5" name="Text 3"/>
          <p:cNvSpPr txBox="1"/>
          <p:nvPr/>
        </p:nvSpPr>
        <p:spPr>
          <a:xfrm>
            <a:off x="685800" y="1618488"/>
            <a:ext cx="2743200" cy="411480"/>
          </a:xfrm>
          <a:prstGeom prst="roundRect">
            <a:avLst>
              <a:gd name="adj" fmla="val 17778"/>
            </a:avLst>
          </a:prstGeom>
          <a:solidFill>
            <a:srgbClr val="FFEC99"/>
          </a:solidFill>
          <a:ln w="12700">
            <a:solidFill>
              <a:srgbClr val="1F2937"/>
            </a:solidFill>
          </a:ln>
        </p:spPr>
        <p:txBody>
          <a:bodyPr wrap="square" lIns="0" tIns="0" rIns="0" bIns="0"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One platform</a:t>
            </a:r>
            <a:endParaRPr lang="en-US" sz="1500" dirty="0"/>
          </a:p>
        </p:txBody>
      </p:sp>
      <p:sp>
        <p:nvSpPr>
          <p:cNvPr id="6" name="Text 4"/>
          <p:cNvSpPr txBox="1"/>
          <p:nvPr/>
        </p:nvSpPr>
        <p:spPr>
          <a:xfrm>
            <a:off x="731520" y="2194560"/>
            <a:ext cx="489204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One sign-in for GLP-1 and Readmission</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Sign-out fixed across both apps</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Chrome's safety warning cleared by Google</a:t>
            </a:r>
            <a:endParaRPr lang="en-US" sz="1350" dirty="0"/>
          </a:p>
        </p:txBody>
      </p:sp>
      <p:sp>
        <p:nvSpPr>
          <p:cNvPr id="7" name="Shape 5"/>
          <p:cNvSpPr/>
          <p:nvPr/>
        </p:nvSpPr>
        <p:spPr>
          <a:xfrm>
            <a:off x="6291072" y="1417320"/>
            <a:ext cx="5440680" cy="2377440"/>
          </a:xfrm>
          <a:prstGeom prst="roundRect">
            <a:avLst>
              <a:gd name="adj" fmla="val 4615"/>
            </a:avLst>
          </a:prstGeom>
          <a:solidFill>
            <a:srgbClr val="F8F9FA"/>
          </a:solidFill>
          <a:ln w="12700">
            <a:solidFill>
              <a:srgbClr val="D1D5DB"/>
            </a:solidFill>
            <a:prstDash val="solid"/>
          </a:ln>
        </p:spPr>
      </p:sp>
      <p:sp>
        <p:nvSpPr>
          <p:cNvPr id="8" name="Text 6"/>
          <p:cNvSpPr txBox="1"/>
          <p:nvPr/>
        </p:nvSpPr>
        <p:spPr>
          <a:xfrm>
            <a:off x="6519672" y="1618488"/>
            <a:ext cx="2743200" cy="411480"/>
          </a:xfrm>
          <a:prstGeom prst="roundRect">
            <a:avLst>
              <a:gd name="adj" fmla="val 17778"/>
            </a:avLst>
          </a:prstGeom>
          <a:solidFill>
            <a:srgbClr val="A5D8FF"/>
          </a:solidFill>
          <a:ln w="12700">
            <a:solidFill>
              <a:srgbClr val="1F2937"/>
            </a:solidFill>
          </a:ln>
        </p:spPr>
        <p:txBody>
          <a:bodyPr wrap="square" lIns="0" tIns="0" rIns="0" bIns="0"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The right access</a:t>
            </a:r>
            <a:endParaRPr lang="en-US" sz="1500" dirty="0"/>
          </a:p>
        </p:txBody>
      </p:sp>
      <p:sp>
        <p:nvSpPr>
          <p:cNvPr id="9" name="Text 7"/>
          <p:cNvSpPr txBox="1"/>
          <p:nvPr/>
        </p:nvSpPr>
        <p:spPr>
          <a:xfrm>
            <a:off x="6565392" y="2194560"/>
            <a:ext cx="489204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Seven roles; hospitals kept apart</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Doctors and nurses see their own patients, patients their own record</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Clinical details need a logged reason</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Sign up with role and hospital; that hospital approves</a:t>
            </a:r>
            <a:endParaRPr lang="en-US" sz="1350" dirty="0"/>
          </a:p>
        </p:txBody>
      </p:sp>
      <p:sp>
        <p:nvSpPr>
          <p:cNvPr id="10" name="Shape 8"/>
          <p:cNvSpPr/>
          <p:nvPr/>
        </p:nvSpPr>
        <p:spPr>
          <a:xfrm>
            <a:off x="457200" y="4023360"/>
            <a:ext cx="5440680" cy="2377440"/>
          </a:xfrm>
          <a:prstGeom prst="roundRect">
            <a:avLst>
              <a:gd name="adj" fmla="val 4615"/>
            </a:avLst>
          </a:prstGeom>
          <a:solidFill>
            <a:srgbClr val="F8F9FA"/>
          </a:solidFill>
          <a:ln w="12700">
            <a:solidFill>
              <a:srgbClr val="D1D5DB"/>
            </a:solidFill>
            <a:prstDash val="solid"/>
          </a:ln>
        </p:spPr>
      </p:sp>
      <p:sp>
        <p:nvSpPr>
          <p:cNvPr id="11" name="Text 9"/>
          <p:cNvSpPr txBox="1"/>
          <p:nvPr/>
        </p:nvSpPr>
        <p:spPr>
          <a:xfrm>
            <a:off x="685800" y="4224528"/>
            <a:ext cx="2743200" cy="411480"/>
          </a:xfrm>
          <a:prstGeom prst="roundRect">
            <a:avLst>
              <a:gd name="adj" fmla="val 17778"/>
            </a:avLst>
          </a:prstGeom>
          <a:solidFill>
            <a:srgbClr val="B2F2BB"/>
          </a:solidFill>
          <a:ln w="12700">
            <a:solidFill>
              <a:srgbClr val="1F2937"/>
            </a:solidFill>
          </a:ln>
        </p:spPr>
        <p:txBody>
          <a:bodyPr wrap="square" lIns="0" tIns="0" rIns="0" bIns="0"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Hospital dashboards</a:t>
            </a:r>
            <a:endParaRPr lang="en-US" sz="1500" dirty="0"/>
          </a:p>
        </p:txBody>
      </p:sp>
      <p:sp>
        <p:nvSpPr>
          <p:cNvPr id="12" name="Text 10"/>
          <p:cNvSpPr txBox="1"/>
          <p:nvPr/>
        </p:nvSpPr>
        <p:spPr>
          <a:xfrm>
            <a:off x="731520" y="4800600"/>
            <a:ext cx="489204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Overview, Patients and Staff in both apps</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Several doctors and nurses per GLP-1 patient</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Staff search and clearer staffing tiles</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GLP-1: top dropout drivers, wasted spend by segment</a:t>
            </a:r>
            <a:endParaRPr lang="en-US" sz="1350" dirty="0"/>
          </a:p>
        </p:txBody>
      </p:sp>
      <p:sp>
        <p:nvSpPr>
          <p:cNvPr id="13" name="Shape 11"/>
          <p:cNvSpPr/>
          <p:nvPr/>
        </p:nvSpPr>
        <p:spPr>
          <a:xfrm>
            <a:off x="6291072" y="4023360"/>
            <a:ext cx="5440680" cy="2377440"/>
          </a:xfrm>
          <a:prstGeom prst="roundRect">
            <a:avLst>
              <a:gd name="adj" fmla="val 4615"/>
            </a:avLst>
          </a:prstGeom>
          <a:solidFill>
            <a:srgbClr val="F8F9FA"/>
          </a:solidFill>
          <a:ln w="12700">
            <a:solidFill>
              <a:srgbClr val="D1D5DB"/>
            </a:solidFill>
            <a:prstDash val="solid"/>
          </a:ln>
        </p:spPr>
      </p:sp>
      <p:sp>
        <p:nvSpPr>
          <p:cNvPr id="14" name="Text 12"/>
          <p:cNvSpPr txBox="1"/>
          <p:nvPr/>
        </p:nvSpPr>
        <p:spPr>
          <a:xfrm>
            <a:off x="6519672" y="4224528"/>
            <a:ext cx="2743200" cy="411480"/>
          </a:xfrm>
          <a:prstGeom prst="roundRect">
            <a:avLst>
              <a:gd name="adj" fmla="val 17778"/>
            </a:avLst>
          </a:prstGeom>
          <a:solidFill>
            <a:srgbClr val="FCC2D7"/>
          </a:solidFill>
          <a:ln w="12700">
            <a:solidFill>
              <a:srgbClr val="1F2937"/>
            </a:solidFill>
          </a:ln>
        </p:spPr>
        <p:txBody>
          <a:bodyPr wrap="square" lIns="0" tIns="0" rIns="0" bIns="0"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Readmission</a:t>
            </a:r>
            <a:endParaRPr lang="en-US" sz="1500" dirty="0"/>
          </a:p>
        </p:txBody>
      </p:sp>
      <p:sp>
        <p:nvSpPr>
          <p:cNvPr id="15" name="Text 13"/>
          <p:cNvSpPr txBox="1"/>
          <p:nvPr/>
        </p:nvSpPr>
        <p:spPr>
          <a:xfrm>
            <a:off x="6565392" y="4800600"/>
            <a:ext cx="4892040" cy="14630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Doctors alerted when their patients get worse</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Chatbot answers within each user's access</a:t>
            </a:r>
            <a:endParaRPr lang="en-US" sz="1350" dirty="0"/>
          </a:p>
          <a:p>
            <a:pPr marL="342900" indent="-342900">
              <a:spcAft>
                <a:spcPts val="500"/>
              </a:spcAft>
              <a:buSzPct val="100000"/>
              <a:buChar char="•"/>
            </a:pPr>
            <a:r>
              <a:rPr lang="en-US" sz="1350" dirty="0">
                <a:solidFill>
                  <a:srgbClr val="1F2937"/>
                </a:solidFill>
                <a:latin typeface="Calibri" pitchFamily="34" charset="0"/>
                <a:ea typeface="Calibri" pitchFamily="34" charset="-122"/>
                <a:cs typeface="Calibri" pitchFamily="34" charset="-120"/>
              </a:rPr>
              <a:t>Same opening screen as GLP-1</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Preventra - platform and access control</dc:title>
  <dc:subject>PptxGenJS Presentation</dc:subject>
  <dc:creator>PptxGenJS</dc:creator>
  <cp:lastModifiedBy>PptxGenJS</cp:lastModifiedBy>
  <cp:revision>1</cp:revision>
  <dcterms:created xsi:type="dcterms:W3CDTF">2026-10-01T01:01:19Z</dcterms:created>
  <dcterms:modified xsi:type="dcterms:W3CDTF">2026-10-01T01:01:19Z</dcterms:modified>
</cp:coreProperties>
</file>